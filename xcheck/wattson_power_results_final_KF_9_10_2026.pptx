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70" r:id="rId22"/>
    <p:sldId id="261" r:id="rId7"/>
    <p:sldId id="262" r:id="rId8"/>
    <p:sldId id="263" r:id="rId9"/>
    <p:sldId id="264" r:id="rId10"/>
    <p:sldId id="265" r:id="rId11"/>
    <p:sldId id="266" r:id="rId12"/>
    <p:sldId id="268" r:id="rId20"/>
    <p:sldId id="269" r:id="rId21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FDF1DF6-5A9E-445A-A3B5-9CE24525FDE4}" v="2" dt="2026-09-10T05:56:52.57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microsoft.com/office/2016/11/relationships/changesInfo" Target="changesInfos/changesInfo1.xml"/><Relationship Id="rId19" Type="http://schemas.microsoft.com/office/2015/10/relationships/revisionInfo" Target="revisionInfo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seph fox" userId="50d7a54022179216" providerId="LiveId" clId="{2E41928C-797B-41AC-B2AF-BCC060D18E9C}"/>
    <pc:docChg chg="modSld">
      <pc:chgData name="joseph fox" userId="50d7a54022179216" providerId="LiveId" clId="{2E41928C-797B-41AC-B2AF-BCC060D18E9C}" dt="2026-09-10T06:10:24.214" v="18" actId="6549"/>
      <pc:docMkLst>
        <pc:docMk/>
      </pc:docMkLst>
      <pc:sldChg chg="modSp mod">
        <pc:chgData name="joseph fox" userId="50d7a54022179216" providerId="LiveId" clId="{2E41928C-797B-41AC-B2AF-BCC060D18E9C}" dt="2026-09-10T06:10:24.214" v="18" actId="6549"/>
        <pc:sldMkLst>
          <pc:docMk/>
          <pc:sldMk cId="0" sldId="257"/>
        </pc:sldMkLst>
        <pc:spChg chg="mod">
          <ac:chgData name="joseph fox" userId="50d7a54022179216" providerId="LiveId" clId="{2E41928C-797B-41AC-B2AF-BCC060D18E9C}" dt="2026-09-10T06:10:04.585" v="1" actId="403"/>
          <ac:spMkLst>
            <pc:docMk/>
            <pc:sldMk cId="0" sldId="257"/>
            <ac:spMk id="13" creationId="{00000000-0000-0000-0000-000000000000}"/>
          </ac:spMkLst>
        </pc:spChg>
        <pc:spChg chg="mod">
          <ac:chgData name="joseph fox" userId="50d7a54022179216" providerId="LiveId" clId="{2E41928C-797B-41AC-B2AF-BCC060D18E9C}" dt="2026-09-10T06:10:24.214" v="18" actId="6549"/>
          <ac:spMkLst>
            <pc:docMk/>
            <pc:sldMk cId="0" sldId="257"/>
            <ac:spMk id="20" creationId="{00000000-0000-0000-0000-000000000000}"/>
          </ac:spMkLst>
        </pc:sp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From activity counts to measured silicon watts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72768"/>
            <a:ext cx="107899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dirty="0" err="1">
                <a:solidFill>
                  <a:srgbClr val="C8D4E8"/>
                </a:solidFill>
                <a:latin typeface="Calibri"/>
              </a:rPr>
              <a:t>wattson</a:t>
            </a:r>
            <a:r>
              <a:rPr sz="2000" b="0" dirty="0">
                <a:solidFill>
                  <a:srgbClr val="C8D4E8"/>
                </a:solidFill>
                <a:latin typeface="Calibri"/>
              </a:rPr>
              <a:t> power calibration · i.MX 95 · per-rail models driven by QEMU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31531"/>
            <a:ext cx="1078992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dirty="0">
                <a:solidFill>
                  <a:srgbClr val="202124"/>
                </a:solidFill>
                <a:latin typeface="Calibri"/>
              </a:rPr>
              <a:t>Thesis under test: a functional emulator's activity counts, regressed against measured per-rail silicon power, </a:t>
            </a:r>
            <a:r>
              <a:rPr sz="2000" b="1" dirty="0">
                <a:solidFill>
                  <a:srgbClr val="202124"/>
                </a:solidFill>
                <a:latin typeface="Calibri"/>
              </a:rPr>
              <a:t>can predict </a:t>
            </a:r>
            <a:r>
              <a:rPr sz="2000" b="0" dirty="0">
                <a:solidFill>
                  <a:srgbClr val="202124"/>
                </a:solidFill>
                <a:latin typeface="Calibri"/>
              </a:rPr>
              <a:t>the power</a:t>
            </a:r>
            <a:r>
              <a:rPr lang="en-US" sz="2000" b="0" dirty="0">
                <a:solidFill>
                  <a:srgbClr val="202124"/>
                </a:solidFill>
                <a:latin typeface="Calibri"/>
              </a:rPr>
              <a:t> consumption</a:t>
            </a:r>
            <a:r>
              <a:rPr sz="2000" b="0" dirty="0">
                <a:solidFill>
                  <a:srgbClr val="202124"/>
                </a:solidFill>
                <a:latin typeface="Calibri"/>
              </a:rPr>
              <a:t> of applications the model has never seen.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474720"/>
            <a:ext cx="10131213" cy="1371600"/>
          </a:xfrm>
          <a:prstGeom prst="roundRect">
            <a:avLst/>
          </a:prstGeom>
          <a:solidFill>
            <a:srgbClr val="EFF3FA"/>
          </a:solidFill>
          <a:ln w="25400">
            <a:solidFill>
              <a:srgbClr val="187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3639312"/>
            <a:ext cx="102412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dirty="0">
                <a:solidFill>
                  <a:srgbClr val="187A33"/>
                </a:solidFill>
                <a:latin typeface="Calibri"/>
              </a:rPr>
              <a:t>RESULT: 6.4% mean error on total power, 50 real applications, predicted BLIND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133087"/>
            <a:ext cx="102412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dirty="0">
                <a:solidFill>
                  <a:srgbClr val="202124"/>
                </a:solidFill>
                <a:latin typeface="Calibri"/>
              </a:rPr>
              <a:t>Predictions were committed to git before a single power sample was taken on these applications. </a:t>
            </a:r>
            <a:endParaRPr lang="en-US" b="0" dirty="0">
              <a:solidFill>
                <a:srgbClr val="202124"/>
              </a:solidFill>
              <a:latin typeface="Calibri"/>
            </a:endParaRPr>
          </a:p>
          <a:p>
            <a:pPr algn="ctr"/>
            <a:r>
              <a:rPr lang="en-US" dirty="0">
                <a:solidFill>
                  <a:srgbClr val="202124"/>
                </a:solidFill>
                <a:latin typeface="Calibri"/>
              </a:rPr>
              <a:t>I started with the prediction first, then measured to see if it worked within a small delta %</a:t>
            </a:r>
            <a:r>
              <a:rPr lang="en-US" b="0" dirty="0">
                <a:solidFill>
                  <a:srgbClr val="202124"/>
                </a:solidFill>
                <a:latin typeface="Calibri"/>
              </a:rPr>
              <a:t> </a:t>
            </a:r>
            <a:endParaRPr b="0" dirty="0">
              <a:solidFill>
                <a:srgbClr val="202124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31520" y="512064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Kyle Fox · IMX95LPD5EVK-19 + NXP BCU per-rail shunts · qemu-aarch64 TCG plugins · 2026-09-10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11556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Two questions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dirty="0">
                <a:solidFill>
                  <a:srgbClr val="5F6368"/>
                </a:solidFill>
                <a:latin typeface="Calibri"/>
              </a:rPr>
              <a:t>The second one is the one people ask for. The first one is the one that has to be true first.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power · rails MEASURED on IMX95LPD5EVK-19 (NXP BCU) · A55 die 40–41 °C under load · activity DERIVED from QEMU TCG · 2026-09-10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81328"/>
            <a:ext cx="11064240" cy="1947672"/>
          </a:xfrm>
          <a:prstGeom prst="roundRect">
            <a:avLst/>
          </a:prstGeom>
          <a:solidFill>
            <a:srgbClr val="F4F7FB"/>
          </a:solidFill>
          <a:ln>
            <a:solidFill>
              <a:srgbClr val="1A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868680" y="1755648"/>
            <a:ext cx="566928" cy="566928"/>
          </a:xfrm>
          <a:prstGeom prst="ellipse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5669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7632" y="1682496"/>
            <a:ext cx="9692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02124"/>
                </a:solidFill>
                <a:latin typeface="Calibri"/>
              </a:rPr>
              <a:t>Can QEMU predict the ACTIVITY a workload generates on silicon?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27632" y="2194560"/>
            <a:ext cx="9692640" cy="566928"/>
          </a:xfrm>
          <a:prstGeom prst="rect">
            <a:avLst/>
          </a:prstGeom>
          <a:solidFill>
            <a:srgbClr val="187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792224" y="2267712"/>
            <a:ext cx="94183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dirty="0">
                <a:solidFill>
                  <a:srgbClr val="FFFFFF"/>
                </a:solidFill>
                <a:latin typeface="Calibri"/>
              </a:rPr>
              <a:t>YES for instruction activity — 1.7% mean error over 50 applications, 41 of 50 within 2%.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7631" y="2834640"/>
            <a:ext cx="103273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dirty="0">
                <a:solidFill>
                  <a:srgbClr val="5F6368"/>
                </a:solidFill>
                <a:latin typeface="Calibri"/>
              </a:rPr>
              <a:t>Memory </a:t>
            </a:r>
            <a:r>
              <a:rPr lang="en-US" b="0" dirty="0">
                <a:solidFill>
                  <a:srgbClr val="5F6368"/>
                </a:solidFill>
                <a:latin typeface="Calibri"/>
              </a:rPr>
              <a:t>b/w</a:t>
            </a:r>
            <a:r>
              <a:rPr b="0" dirty="0">
                <a:solidFill>
                  <a:srgbClr val="5F6368"/>
                </a:solidFill>
                <a:latin typeface="Calibri"/>
              </a:rPr>
              <a:t> is over-reported by roughly 2x. Bounded, understood, and localized to streaming workloads.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803904"/>
            <a:ext cx="11064240" cy="2103120"/>
          </a:xfrm>
          <a:prstGeom prst="roundRect">
            <a:avLst/>
          </a:prstGeom>
          <a:solidFill>
            <a:srgbClr val="F4F7FB"/>
          </a:solidFill>
          <a:ln>
            <a:solidFill>
              <a:srgbClr val="1A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868680" y="4078224"/>
            <a:ext cx="566928" cy="566928"/>
          </a:xfrm>
          <a:prstGeom prst="ellipse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4151376"/>
            <a:ext cx="5669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27632" y="4005072"/>
            <a:ext cx="9692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02124"/>
                </a:solidFill>
                <a:latin typeface="Calibri"/>
              </a:rPr>
              <a:t>Can that activity be turned into a POWER number?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27632" y="4517136"/>
            <a:ext cx="9692640" cy="566928"/>
          </a:xfrm>
          <a:prstGeom prst="rect">
            <a:avLst/>
          </a:prstGeom>
          <a:solidFill>
            <a:srgbClr val="187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792224" y="4590288"/>
            <a:ext cx="96377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dirty="0">
                <a:solidFill>
                  <a:srgbClr val="FFFFFF"/>
                </a:solidFill>
                <a:latin typeface="Calibri"/>
              </a:rPr>
              <a:t>YES — 6.4% mean error on total power on 50 applications</a:t>
            </a:r>
            <a:r>
              <a:rPr lang="en-US" b="1" dirty="0">
                <a:solidFill>
                  <a:srgbClr val="FFFFFF"/>
                </a:solidFill>
                <a:latin typeface="Calibri"/>
              </a:rPr>
              <a:t> the model never ran prior</a:t>
            </a:r>
            <a:endParaRPr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627632" y="5157216"/>
            <a:ext cx="96926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dirty="0">
                <a:solidFill>
                  <a:srgbClr val="5F6368"/>
                </a:solidFill>
                <a:latin typeface="Calibri"/>
              </a:rPr>
              <a:t>And 3.6% on concurrent multi-application mixes. In both cases QEMU supplies the ACTIVITY; the mW-per-unit-activity always comes from measured silicon.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053328"/>
            <a:ext cx="110642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dirty="0">
                <a:solidFill>
                  <a:srgbClr val="1A53A0"/>
                </a:solidFill>
                <a:latin typeface="Calibri"/>
              </a:rPr>
              <a:t>Every number on this page is measured on silicon and predicted from a QEMU emulator</a:t>
            </a:r>
            <a:r>
              <a:rPr lang="en-US" sz="1600" b="1" dirty="0">
                <a:solidFill>
                  <a:srgbClr val="1A53A0"/>
                </a:solidFill>
                <a:latin typeface="Calibri"/>
              </a:rPr>
              <a:t/>
            </a:r>
            <a:r>
              <a:rPr sz="1600" b="1" dirty="0">
                <a:solidFill>
                  <a:srgbClr val="1A53A0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11556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What we did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5F6368"/>
                </a:solidFill>
                <a:latin typeface="Calibri"/>
              </a:rPr>
              <a:t>Eight steps, in order. Each one had to work before the next was meaningful.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power · rails MEASURED on IMX95LPD5EVK-19 (NXP BCU) · A55 die 40–41 °C under load · activity DERIVED from QEMU TCG · 2026-09-10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3606159"/>
              </p:ext>
            </p:extLst>
          </p:nvPr>
        </p:nvGraphicFramePr>
        <p:xfrm>
          <a:off x="548640" y="1463040"/>
          <a:ext cx="11064239" cy="4831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980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what came out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latin typeface="Calibri"/>
                        </a:rPr>
                        <a:t>Get the instrument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IMX95LPD5EVK-19 — the only i.MX 95 board with per-rail shunts. Flashed to match the FRDM's BSP first: the idle floor moves 29% between kernels.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latin typeface="Calibri"/>
                        </a:rPr>
                        <a:t>Measure the idle floor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n=5, spreads ≤1.7%. 1139.5 mW total; vdd_soc is 72% of it, vdd_arm only 13%.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latin typeface="Calibri"/>
                        </a:rPr>
                        <a:t>Ask what predicts core power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Instruction count — the activity vector's core term — explains R²=0.031. THREE PERCENT.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latin typeface="Calibri"/>
                        </a:rPr>
                        <a:t>Find what does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A 2-D grid varying ALU rate and bandwidth INDEPENDENTLY. Both together: R²=0.990.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latin typeface="Calibri"/>
                        </a:rPr>
                        <a:t>Add the missing term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598 Mops/s on 2 cores = 656 mW; 599 on 1 core = 465 mW. Active cores matter on their own.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latin typeface="Calibri"/>
                        </a:rPr>
                        <a:t>Validate QEMU's counters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Same static binary under perf and under QEMU: instructions 0.1%, misses 0.01% in steady state.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latin typeface="Calibri"/>
                        </a:rPr>
                        <a:t>Freeze predictions for 50 apps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dirty="0">
                          <a:latin typeface="Calibri"/>
                        </a:rPr>
                        <a:t>Committed to git BEFORE any power measurement of those apps.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latin typeface="Calibri"/>
                        </a:rPr>
                        <a:t>Measure and compare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dirty="0">
                          <a:latin typeface="Calibri"/>
                        </a:rPr>
                        <a:t>6.4% mean error on total power.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11556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Part 1 — Does QEMU see the work the silicon does?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39" y="969264"/>
            <a:ext cx="115332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dirty="0">
                <a:solidFill>
                  <a:srgbClr val="5F6368"/>
                </a:solidFill>
                <a:latin typeface="Calibri"/>
              </a:rPr>
              <a:t>Instruction activity: QEMU's count against the A55's own </a:t>
            </a:r>
            <a:r>
              <a:rPr b="0" dirty="0" err="1">
                <a:solidFill>
                  <a:srgbClr val="5F6368"/>
                </a:solidFill>
                <a:latin typeface="Calibri"/>
              </a:rPr>
              <a:t>inst_retired</a:t>
            </a:r>
            <a:r>
              <a:rPr b="0" dirty="0">
                <a:solidFill>
                  <a:srgbClr val="5F6368"/>
                </a:solidFill>
                <a:latin typeface="Calibri"/>
              </a:rPr>
              <a:t> counter, same binary, same input, 50 applications.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activity · QEMU counts DERIVED from TCG plugins · silicon counts MEASURED via ARM PMU on i.MX95 (A55 core 0, pinned 1.8 GHz) · 2026-09-10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81328"/>
            <a:ext cx="11064240" cy="566928"/>
          </a:xfrm>
          <a:prstGeom prst="rect">
            <a:avLst/>
          </a:prstGeom>
          <a:solidFill>
            <a:srgbClr val="187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1554480"/>
            <a:ext cx="10607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1.75% mean error, 0.65% median. QEMU counts the work.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249424"/>
            <a:ext cx="2121408" cy="1060704"/>
          </a:xfrm>
          <a:prstGeom prst="roundRect">
            <a:avLst/>
          </a:prstGeom>
          <a:solidFill>
            <a:srgbClr val="F4F7FB"/>
          </a:solidFill>
          <a:ln>
            <a:solidFill>
              <a:srgbClr val="187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2377440"/>
            <a:ext cx="212140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87A33"/>
                </a:solidFill>
                <a:latin typeface="Calibri"/>
              </a:rPr>
              <a:t>23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26080"/>
            <a:ext cx="21214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F6368"/>
                </a:solidFill>
                <a:latin typeface="Calibri"/>
              </a:rPr>
              <a:t>of 50 within 0.5%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88920" y="2249424"/>
            <a:ext cx="2121408" cy="1060704"/>
          </a:xfrm>
          <a:prstGeom prst="roundRect">
            <a:avLst/>
          </a:prstGeom>
          <a:solidFill>
            <a:srgbClr val="F4F7FB"/>
          </a:solidFill>
          <a:ln>
            <a:solidFill>
              <a:srgbClr val="187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788920" y="2377440"/>
            <a:ext cx="212140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87A33"/>
                </a:solidFill>
                <a:latin typeface="Calibri"/>
              </a:rPr>
              <a:t>28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926080"/>
            <a:ext cx="21214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F6368"/>
                </a:solidFill>
                <a:latin typeface="Calibri"/>
              </a:rPr>
              <a:t>of 50 within 1%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0" y="2249424"/>
            <a:ext cx="2121408" cy="1060704"/>
          </a:xfrm>
          <a:prstGeom prst="roundRect">
            <a:avLst/>
          </a:prstGeom>
          <a:solidFill>
            <a:srgbClr val="F4F7FB"/>
          </a:solidFill>
          <a:ln>
            <a:solidFill>
              <a:srgbClr val="187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29200" y="2377440"/>
            <a:ext cx="212140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87A33"/>
                </a:solidFill>
                <a:latin typeface="Calibri"/>
              </a:rPr>
              <a:t>41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926080"/>
            <a:ext cx="21214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F6368"/>
                </a:solidFill>
                <a:latin typeface="Calibri"/>
              </a:rPr>
              <a:t>of 50 within 2%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69480" y="2249424"/>
            <a:ext cx="2121408" cy="1060704"/>
          </a:xfrm>
          <a:prstGeom prst="roundRect">
            <a:avLst/>
          </a:prstGeom>
          <a:solidFill>
            <a:srgbClr val="F4F7FB"/>
          </a:solidFill>
          <a:ln>
            <a:solidFill>
              <a:srgbClr val="187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269480" y="2377440"/>
            <a:ext cx="212140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87A33"/>
                </a:solidFill>
                <a:latin typeface="Calibri"/>
              </a:rPr>
              <a:t>45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2926080"/>
            <a:ext cx="21214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F6368"/>
                </a:solidFill>
                <a:latin typeface="Calibri"/>
              </a:rPr>
              <a:t>of 50 within 5%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09760" y="2249424"/>
            <a:ext cx="2121408" cy="1060704"/>
          </a:xfrm>
          <a:prstGeom prst="roundRect">
            <a:avLst/>
          </a:prstGeom>
          <a:solidFill>
            <a:srgbClr val="F4F7FB"/>
          </a:solidFill>
          <a:ln>
            <a:solidFill>
              <a:srgbClr val="B06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509760" y="2377440"/>
            <a:ext cx="212140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B06000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760" y="2926080"/>
            <a:ext cx="21214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F6368"/>
                </a:solidFill>
                <a:latin typeface="Calibri"/>
              </a:rPr>
              <a:t>of 50 above 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3493008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02124"/>
                </a:solidFill>
                <a:latin typeface="Calibri"/>
              </a:rPr>
              <a:t>The ten applications that agree least well — the whole tail, nothing hidden: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48640" y="3840480"/>
          <a:ext cx="539496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application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QEMU G-insn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silicon G-insn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error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bb-cksum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0.27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0.32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31412"/>
                          </a:solidFill>
                          <a:latin typeface="Calibri"/>
                        </a:rPr>
                        <a:t>-15.4%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bb-b64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31412"/>
                          </a:solidFill>
                          <a:latin typeface="Calibri"/>
                        </a:rPr>
                        <a:t>-12.6%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lz4-fast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0.28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0.30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06000"/>
                          </a:solidFill>
                          <a:latin typeface="Calibri"/>
                        </a:rPr>
                        <a:t>-7.5%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parson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1.90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06000"/>
                          </a:solidFill>
                          <a:latin typeface="Calibri"/>
                        </a:rPr>
                        <a:t>-5.2%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chase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0.21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0.20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06000"/>
                          </a:solidFill>
                          <a:latin typeface="Calibri"/>
                        </a:rPr>
                        <a:t>+5.1%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6217920" y="3840480"/>
          <a:ext cx="539496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application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QEMU G-insn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silicon G-insn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error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bb-md5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0.42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0.44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06000"/>
                          </a:solidFill>
                          <a:latin typeface="Calibri"/>
                        </a:rPr>
                        <a:t>-4.3%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chase-big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06000"/>
                          </a:solidFill>
                          <a:latin typeface="Calibri"/>
                        </a:rPr>
                        <a:t>-3.6%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bb-awk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2.59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2.67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06000"/>
                          </a:solidFill>
                          <a:latin typeface="Calibri"/>
                        </a:rPr>
                        <a:t>-2.9%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bb-sortn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16.43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16.78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06000"/>
                          </a:solidFill>
                          <a:latin typeface="Calibri"/>
                        </a:rPr>
                        <a:t>-2.1%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mem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0.54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0.55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87A33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548640" y="5989320"/>
            <a:ext cx="110642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dirty="0">
                <a:solidFill>
                  <a:srgbClr val="1A53A0"/>
                </a:solidFill>
                <a:latin typeface="Calibri"/>
              </a:rPr>
              <a:t>This is the activity factor a power model consumes. It is also, on its own, the thing you want when you are reading code flows and usage — how much work a workload does, where it does it, and how that changes when the code changes.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11556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Part 1 — Where QEMU does not see the same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dirty="0">
                <a:solidFill>
                  <a:srgbClr val="5F6368"/>
                </a:solidFill>
                <a:latin typeface="Calibri"/>
              </a:rPr>
              <a:t>Memory bandwidth. QEMU's DRAM proxy against the A55's l3d_cache_refill counter.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activity · QEMU counts DERIVED from TCG plugins · silicon counts MEASURED via ARM PMU on i.MX95 (A55 core 0, pinned 1.8 GHz) · 2026-09-10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81328"/>
            <a:ext cx="11064240" cy="566928"/>
          </a:xfrm>
          <a:prstGeom prst="rect">
            <a:avLst/>
          </a:prstGeom>
          <a:solidFill>
            <a:srgbClr val="B06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48640" y="5358384"/>
            <a:ext cx="11064240" cy="969264"/>
          </a:xfrm>
          <a:prstGeom prst="roundRect">
            <a:avLst/>
          </a:prstGeom>
          <a:solidFill>
            <a:srgbClr val="F4F7FB"/>
          </a:solidFill>
          <a:ln>
            <a:solidFill>
              <a:srgbClr val="1A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48640" y="1481328"/>
            <a:ext cx="11064240" cy="548640"/>
          </a:xfrm>
          <a:prstGeom prst="rect">
            <a:avLst/>
          </a:prstGeom>
          <a:solidFill>
            <a:srgbClr val="187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554480"/>
            <a:ext cx="106070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Verdana"/>
              </a:rPr>
              <a:t>Compared like for like, QEMU's DRAM read traffic tracks the silicon.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48640" y="2194560"/>
          <a:ext cx="60350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463040"/>
                <a:gridCol w="1463040"/>
                <a:gridCol w="1371600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application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QEMU reads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silicon reads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error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mem-w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2.33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2.62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87A33"/>
                          </a:solidFill>
                          <a:latin typeface="Calibri"/>
                        </a:rPr>
                        <a:t>-11%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mem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2.47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2.53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87A33"/>
                          </a:solidFill>
                          <a:latin typeface="Calibri"/>
                        </a:rPr>
                        <a:t>-2%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mm-big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1.49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0.60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31412"/>
                          </a:solidFill>
                          <a:latin typeface="Calibri"/>
                        </a:rPr>
                        <a:t>+149%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chase-big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87A33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chase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0.45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0.45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87A33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06000"/>
                          </a:solidFill>
                          <a:latin typeface="Calibri"/>
                        </a:rPr>
                        <a:t>-37%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parson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0.35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0.32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87A33"/>
                          </a:solidFill>
                          <a:latin typeface="Calibri"/>
                        </a:rPr>
                        <a:t>+11%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lz4-fast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87A33"/>
                          </a:solidFill>
                          <a:latin typeface="Calibri"/>
                        </a:rPr>
                        <a:t>+22%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rd-life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0.57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0.31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31412"/>
                          </a:solidFill>
                          <a:latin typeface="Calibri"/>
                        </a:rPr>
                        <a:t>+84%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548640" y="5230368"/>
            <a:ext cx="6035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F6368"/>
                </a:solidFill>
                <a:latin typeface="Verdana"/>
              </a:rPr>
              <a:t>the 9 applications above 0.25 GB/s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12280" y="2194560"/>
            <a:ext cx="4800600" cy="1572768"/>
          </a:xfrm>
          <a:prstGeom prst="roundRect">
            <a:avLst/>
          </a:prstGeom>
          <a:solidFill>
            <a:srgbClr val="FDF6EC"/>
          </a:solidFill>
          <a:ln>
            <a:solidFill>
              <a:srgbClr val="B06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59168" y="2304288"/>
            <a:ext cx="4343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124"/>
                </a:solidFill>
                <a:latin typeface="Verdana"/>
              </a:rPr>
              <a:t>A correction. An earlier version of this slide reported a 2x over-report and blamed write streaming. That compared QEMU's read+write TRANSACTION count against l3d_cache_refill, which is a REFILL counter and sees reads only. The gap was the unit, not the emulator.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3895344"/>
            <a:ext cx="4800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02124"/>
                </a:solidFill>
                <a:latin typeface="Verdana"/>
              </a:rPr>
              <a:t>What is genuinely off: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4206240"/>
            <a:ext cx="4800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F6368"/>
                </a:solidFill>
                <a:latin typeface="Verdana"/>
              </a:rPr>
              <a:t>Two compute-bound workloads where QEMU's cache model misses too often — mm-big (+149%) and rd-life (+84%). Both are small-footprint and reuse-heavy, exactly where a modelled cache and a real one diverge most. The streaming workloads, where absolute bandwidth is largest, agree to within 11%.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632704"/>
            <a:ext cx="1106424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F5CA8"/>
                </a:solidFill>
                <a:latin typeface="Verdana"/>
              </a:rPr>
              <a:t>Both directions matter and neither is large in mW. QEMU also reports 0.000 GB/s for the whole busybox family where silicon measures real traffic (bb-md5 0.148 GB/s), because QEMU linux-user models only the application's own accesses while the PMU counts everything on the core, kernel included. Worth under 9 mW.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11556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Part 2 — The power 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dirty="0">
                <a:solidFill>
                  <a:srgbClr val="5F6368"/>
                </a:solidFill>
                <a:latin typeface="Calibri"/>
              </a:rPr>
              <a:t>Measured on silicon, driven by QEMU activity. Valid at the stated OPP — the frequency is part of the claim.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power · rails MEASURED on IMX95LPD5EVK-19 (NXP BCU) · A55 die 40–41 °C under load · activity DERIVED from QEMU TCG · 2026-09-10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11064240" cy="1828800"/>
          </a:xfrm>
          <a:prstGeom prst="roundRect">
            <a:avLst/>
          </a:prstGeom>
          <a:solidFill>
            <a:srgbClr val="EFF3FA"/>
          </a:solidFill>
          <a:ln w="19050">
            <a:solidFill>
              <a:srgbClr val="1A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1600200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53A0"/>
                </a:solidFill>
                <a:latin typeface="Consolas"/>
              </a:rPr>
              <a:t>vdd_arm  =  243.8  +  0.1266·ALU Mops/s  +  60.62·GB/s  +  169.3·active_cores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993392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53A0"/>
                </a:solidFill>
                <a:latin typeface="Consolas"/>
              </a:rPr>
              <a:t>vdd_soc  =  851.0  +  0.0043·ALU Mops/s  +  20.40·GB/s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386584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53A0"/>
                </a:solidFill>
                <a:latin typeface="Consolas"/>
              </a:rPr>
              <a:t>DRAM     =   45.7  +  160.06·√(GB/s)                        R² = 0.994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834640"/>
            <a:ext cx="105156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 err="1">
                <a:solidFill>
                  <a:srgbClr val="202124"/>
                </a:solidFill>
                <a:latin typeface="Calibri"/>
              </a:rPr>
              <a:t>mW</a:t>
            </a:r>
            <a:r>
              <a:rPr sz="1600" b="0" dirty="0">
                <a:solidFill>
                  <a:srgbClr val="202124"/>
                </a:solidFill>
                <a:latin typeface="Calibri"/>
              </a:rPr>
              <a:t>, at 1800 </a:t>
            </a:r>
            <a:r>
              <a:rPr sz="1600" b="0" dirty="0" err="1">
                <a:solidFill>
                  <a:srgbClr val="202124"/>
                </a:solidFill>
                <a:latin typeface="Calibri"/>
              </a:rPr>
              <a:t>MHz.</a:t>
            </a:r>
            <a:r>
              <a:rPr sz="1600" b="0" dirty="0">
                <a:solidFill>
                  <a:srgbClr val="202124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202124"/>
                </a:solidFill>
                <a:latin typeface="Calibri"/>
              </a:rPr>
              <a:t>vdd_soc</a:t>
            </a:r>
            <a:r>
              <a:rPr sz="1600" b="0" dirty="0">
                <a:solidFill>
                  <a:srgbClr val="202124"/>
                </a:solidFill>
                <a:latin typeface="Calibri"/>
              </a:rPr>
              <a:t> holds at 900 MHz unchanged (2.5% MAPE). </a:t>
            </a:r>
            <a:r>
              <a:rPr sz="1600" b="0" dirty="0" err="1">
                <a:solidFill>
                  <a:srgbClr val="202124"/>
                </a:solidFill>
                <a:latin typeface="Calibri"/>
              </a:rPr>
              <a:t>vdd_arm</a:t>
            </a:r>
            <a:r>
              <a:rPr sz="1600" b="0" dirty="0">
                <a:solidFill>
                  <a:srgbClr val="202124"/>
                </a:solidFill>
                <a:latin typeface="Calibri"/>
              </a:rPr>
              <a:t> needs its own per-OPP set.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3520440"/>
          <a:ext cx="11064240" cy="16093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rail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form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vdd_soc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bandwidth only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2.5–7%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transfers across OPPs unchanged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vdd_arm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alu + bandwidth + cores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4–5%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per-OPP coefficient sets; halving the clock roughly halves this rail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DRAM group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saturating in bandwidth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R²=0.994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intercept PINNED to the measured idle floor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48640" y="5120640"/>
            <a:ext cx="110642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dirty="0">
                <a:solidFill>
                  <a:srgbClr val="B06000"/>
                </a:solidFill>
                <a:latin typeface="Calibri"/>
              </a:rPr>
              <a:t>⚠ The DRAM fit with the HIGHER R² is the more dangerous one: a quadratic scores 0.9984 but its negative BW² term predicts FALLING power above ~17 GB/s. The √ form costs 0.004 of R² and stays physical.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11556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Part 2 — The finding that changes the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>
                <a:solidFill>
                  <a:srgbClr val="5F6368"/>
                </a:solidFill>
                <a:latin typeface="Calibri"/>
              </a:rPr>
              <a:t>We expected instruction count to drive core power. It does not.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power · rails MEASURED on IMX95LPD5EVK-19 (NXP BCU) · A55 die 40–41 °C under load · activity DERIVED from QEMU TCG · 2026-09-10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234440"/>
          </a:xfrm>
          <a:prstGeom prst="roundRect">
            <a:avLst/>
          </a:prstGeom>
          <a:solidFill>
            <a:srgbClr val="EFF3FA"/>
          </a:solidFill>
          <a:ln w="19050">
            <a:solidFill>
              <a:srgbClr val="B314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1536192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B31412"/>
                </a:solidFill>
                <a:latin typeface="Consolas"/>
              </a:rPr>
              <a:t>instructions alone:  R² = 0.031        mean error 48%,  worst 149%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975104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53A0"/>
                </a:solidFill>
                <a:latin typeface="Consolas"/>
              </a:rPr>
              <a:t>bandwidth alone: R² = 0.784          both + active cores: R² = 0.990,  mean error 3.6%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340864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02124"/>
                </a:solidFill>
                <a:latin typeface="Calibri"/>
              </a:rPr>
              <a:t>An instructions-only model predicts 1197 mW where the board draws 481.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5418396"/>
              </p:ext>
            </p:extLst>
          </p:nvPr>
        </p:nvGraphicFramePr>
        <p:xfrm>
          <a:off x="548640" y="2834640"/>
          <a:ext cx="11064240" cy="2346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52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400" b="1" dirty="0">
                          <a:solidFill>
                            <a:srgbClr val="FFFFFF"/>
                          </a:solidFill>
                          <a:latin typeface="Calibri"/>
                        </a:rPr>
                        <a:t>aspect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detail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latin typeface="Calibri"/>
                        </a:rPr>
                        <a:t>the observation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dirty="0">
                          <a:latin typeface="Calibri"/>
                        </a:rPr>
                        <a:t>a memory-stalling workload drew 760 </a:t>
                      </a:r>
                      <a:r>
                        <a:rPr sz="1400" b="0" dirty="0" err="1">
                          <a:latin typeface="Calibri"/>
                        </a:rPr>
                        <a:t>mW</a:t>
                      </a:r>
                      <a:r>
                        <a:rPr sz="1400" b="0" dirty="0">
                          <a:latin typeface="Calibri"/>
                        </a:rPr>
                        <a:t> on the core rail; a compute workload retiring MORE instructions drew 474 </a:t>
                      </a:r>
                      <a:r>
                        <a:rPr sz="1400" b="0" dirty="0" err="1">
                          <a:latin typeface="Calibri"/>
                        </a:rPr>
                        <a:t>mW</a:t>
                      </a:r>
                      <a:endParaRPr sz="1400" b="0" dirty="0">
                        <a:latin typeface="Calibri"/>
                      </a:endParaRP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latin typeface="Calibri"/>
                        </a:rPr>
                        <a:t>why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dirty="0">
                          <a:latin typeface="Calibri"/>
                        </a:rPr>
                        <a:t>a stalled core still burns clock trees, speculation, replayed loads, prefetchers and the L2/bus interface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latin typeface="Calibri"/>
                        </a:rPr>
                        <a:t>confirmed twice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real Dhrystone vs real STREAM: vdd_arm ratio 1.02 — same core power, utterly different instruction mix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latin typeface="Calibri"/>
                        </a:rPr>
                        <a:t>independent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dirty="0">
                          <a:latin typeface="Calibri"/>
                        </a:rPr>
                        <a:t>Walker et al. (TCAD 2017) regressed PMCs against ODROID-XU3 per-cluster rails. Retired instruction count is NOT in their model either.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40080" y="5257800"/>
            <a:ext cx="110642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dirty="0">
                <a:solidFill>
                  <a:srgbClr val="187A33"/>
                </a:solidFill>
                <a:latin typeface="Calibri"/>
              </a:rPr>
              <a:t>Consequence: an activity factor built on instruction count alone MIS-RANKS exactly the memory-bound workloads that dominate a real power budget.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1249"/>
            <a:ext cx="1115568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dirty="0">
                <a:solidFill>
                  <a:srgbClr val="FFFFFF"/>
                </a:solidFill>
                <a:latin typeface="Calibri"/>
              </a:rPr>
              <a:t>Part 2 — The blind test, 50 applications</a:t>
            </a:r>
            <a:r>
              <a:rPr lang="en-US" sz="2600" b="1" dirty="0">
                <a:solidFill>
                  <a:srgbClr val="FFFFFF"/>
                </a:solidFill>
                <a:latin typeface="Calibri"/>
              </a:rPr>
              <a:t> – </a:t>
            </a:r>
            <a:br>
              <a:rPr lang="en-US" sz="2600" b="1" dirty="0">
                <a:solidFill>
                  <a:srgbClr val="FFFFFF"/>
                </a:solidFill>
                <a:latin typeface="Calibri"/>
              </a:rPr>
            </a:br>
            <a:r>
              <a:rPr lang="en-US" sz="2600" b="1" dirty="0">
                <a:solidFill>
                  <a:srgbClr val="FFFFFF"/>
                </a:solidFill>
                <a:latin typeface="Calibri"/>
              </a:rPr>
              <a:t>did QEMU accurately predict power run apps one at a time?</a:t>
            </a:r>
            <a:endParaRPr sz="26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dirty="0">
                <a:solidFill>
                  <a:srgbClr val="5F6368"/>
                </a:solidFill>
                <a:latin typeface="Calibri"/>
              </a:rPr>
              <a:t>Predictions committed to git before the board was touched. This is the headline result.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power · rails MEASURED on IMX95LPD5EVK-19 (NXP BCU) · A55 die 40–41 °C under load · activity DERIVED from QEMU TCG · 2026-09-10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110642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dirty="0">
                <a:solidFill>
                  <a:srgbClr val="202124"/>
                </a:solidFill>
                <a:latin typeface="Calibri"/>
              </a:rPr>
              <a:t>Coefficients fitted on an 11-point synthetic alu/mem grid. None of these 50 applications appear in it.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2473220"/>
              </p:ext>
            </p:extLst>
          </p:nvPr>
        </p:nvGraphicFramePr>
        <p:xfrm>
          <a:off x="548640" y="1828800"/>
          <a:ext cx="54864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application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pred mW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meas mW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err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r>
                        <a:rPr sz="1800" b="1">
                          <a:latin typeface="Calibri"/>
                        </a:rPr>
                        <a:t>mem-w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latin typeface="Calibri"/>
                        </a:rPr>
                        <a:t>1744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latin typeface="Calibri"/>
                        </a:rPr>
                        <a:t>1795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7A33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r>
                        <a:rPr sz="1800" b="1" dirty="0">
                          <a:latin typeface="Calibri"/>
                        </a:rPr>
                        <a:t>mem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latin typeface="Calibri"/>
                        </a:rPr>
                        <a:t>1771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latin typeface="Calibri"/>
                        </a:rPr>
                        <a:t>1767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7A33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r>
                        <a:rPr sz="1800" b="1">
                          <a:latin typeface="Calibri"/>
                        </a:rPr>
                        <a:t>sgm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latin typeface="Calibri"/>
                        </a:rPr>
                        <a:t>1375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latin typeface="Calibri"/>
                        </a:rPr>
                        <a:t>1614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B31412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r>
                        <a:rPr sz="1800" b="1">
                          <a:latin typeface="Calibri"/>
                        </a:rPr>
                        <a:t>lz4-fast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latin typeface="Calibri"/>
                        </a:rPr>
                        <a:t>1359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latin typeface="Calibri"/>
                        </a:rPr>
                        <a:t>1565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B31412"/>
                          </a:solidFill>
                          <a:latin typeface="Calibri"/>
                        </a:rPr>
                        <a:t>13%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r>
                        <a:rPr sz="1800" b="1">
                          <a:latin typeface="Calibri"/>
                        </a:rPr>
                        <a:t>mm-big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latin typeface="Calibri"/>
                        </a:rPr>
                        <a:t>1449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latin typeface="Calibri"/>
                        </a:rPr>
                        <a:t>1558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B06000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r>
                        <a:rPr sz="1800" b="1">
                          <a:latin typeface="Calibri"/>
                        </a:rPr>
                        <a:t>lz4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latin typeface="Calibri"/>
                        </a:rPr>
                        <a:t>1342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latin typeface="Calibri"/>
                        </a:rPr>
                        <a:t>1529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B31412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r>
                        <a:rPr sz="1800" b="1">
                          <a:latin typeface="Calibri"/>
                        </a:rPr>
                        <a:t>chase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latin typeface="Calibri"/>
                        </a:rPr>
                        <a:t>1304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latin typeface="Calibri"/>
                        </a:rPr>
                        <a:t>1295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7A33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r>
                        <a:rPr sz="1800" b="1">
                          <a:latin typeface="Calibri"/>
                        </a:rPr>
                        <a:t>chase-big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latin typeface="Calibri"/>
                        </a:rPr>
                        <a:t>1306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latin typeface="Calibri"/>
                        </a:rPr>
                        <a:t>1314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7A33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r>
                        <a:rPr sz="1800" b="1">
                          <a:latin typeface="Calibri"/>
                        </a:rPr>
                        <a:t>alu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latin typeface="Calibri"/>
                        </a:rPr>
                        <a:t>1342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latin typeface="Calibri"/>
                        </a:rPr>
                        <a:t>1355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7A33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r>
                        <a:rPr sz="1800" b="1">
                          <a:latin typeface="Calibri"/>
                        </a:rPr>
                        <a:t>rd-ray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latin typeface="Calibri"/>
                        </a:rPr>
                        <a:t>1289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latin typeface="Calibri"/>
                        </a:rPr>
                        <a:t>1367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dirty="0">
                          <a:solidFill>
                            <a:srgbClr val="B06000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1436279"/>
              </p:ext>
            </p:extLst>
          </p:nvPr>
        </p:nvGraphicFramePr>
        <p:xfrm>
          <a:off x="6400800" y="1828800"/>
          <a:ext cx="521208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800" b="1" dirty="0">
                          <a:solidFill>
                            <a:srgbClr val="FFFFFF"/>
                          </a:solidFill>
                          <a:latin typeface="Calibri"/>
                        </a:rPr>
                        <a:t>prediction error</a:t>
                      </a: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sz="18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800" b="1" dirty="0">
                          <a:latin typeface="Calibri"/>
                        </a:rPr>
                        <a:t>MAPE, total power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Calibri"/>
                        </a:rPr>
                        <a:t>6.4%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800" b="1">
                          <a:latin typeface="Calibri"/>
                        </a:rPr>
                        <a:t>median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Calibri"/>
                        </a:rPr>
                        <a:t>6.5%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800" b="1" dirty="0">
                          <a:latin typeface="Calibri"/>
                        </a:rPr>
                        <a:t>p90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Calibri"/>
                        </a:rPr>
                        <a:t>10.2%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800" b="1" dirty="0">
                          <a:latin typeface="Calibri"/>
                        </a:rPr>
                        <a:t>worst, any single app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 dirty="0">
                          <a:latin typeface="Calibri"/>
                        </a:rPr>
                        <a:t>15%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800" b="1">
                          <a:latin typeface="Calibri"/>
                        </a:rPr>
                        <a:t>bias (signed)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 dirty="0">
                          <a:latin typeface="Calibri"/>
                        </a:rPr>
                        <a:t>-6.4%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0" y="4069080"/>
            <a:ext cx="5212080" cy="269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dirty="0">
                <a:solidFill>
                  <a:srgbClr val="1A53A0"/>
                </a:solidFill>
                <a:latin typeface="Calibri"/>
              </a:rPr>
              <a:t>Every number above is a PREDICTION ERROR.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0" y="4434840"/>
          <a:ext cx="521208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workload power range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mW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what the 50 apps actually draw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1295 – 1795 mW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what the model predicted they draw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1289 – 1771 mW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477002" y="5571607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dirty="0">
                <a:solidFill>
                  <a:srgbClr val="5F6368"/>
                </a:solidFill>
                <a:latin typeface="Calibri"/>
              </a:rPr>
              <a:t>Stated in </a:t>
            </a:r>
            <a:r>
              <a:rPr sz="1050" b="0" dirty="0" err="1">
                <a:solidFill>
                  <a:srgbClr val="5F6368"/>
                </a:solidFill>
                <a:latin typeface="Calibri"/>
              </a:rPr>
              <a:t>mW</a:t>
            </a:r>
            <a:r>
              <a:rPr sz="1050" b="0" dirty="0">
                <a:solidFill>
                  <a:srgbClr val="5F6368"/>
                </a:solidFill>
                <a:latin typeface="Calibri"/>
              </a:rPr>
              <a:t>, not as a ratio: the model must reproduce the RANGE, not just the average. A model predicting every app near the mean would still score a good MAPE.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4842" y="5983087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124"/>
                </a:solidFill>
                <a:latin typeface="Calibri"/>
              </a:rPr>
              <a:t>Predictions run 6.4% low on average — a systematic offset, not scatter, and therefore correctable if a future revision wants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1001"/>
            <a:ext cx="1115568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dirty="0">
                <a:solidFill>
                  <a:srgbClr val="FFFFFF"/>
                </a:solidFill>
                <a:latin typeface="Calibri"/>
              </a:rPr>
              <a:t>Part 2 — All fifty applications</a:t>
            </a:r>
            <a:r>
              <a:rPr lang="en-US" sz="2600" b="1" dirty="0">
                <a:solidFill>
                  <a:srgbClr val="FFFFFF"/>
                </a:solidFill>
                <a:latin typeface="Calibri"/>
              </a:rPr>
              <a:t> – Power Prediction vs Measured</a:t>
            </a:r>
          </a:p>
          <a:p>
            <a:pPr algn="l"/>
            <a:r>
              <a:rPr lang="en-US" sz="2600" b="1" dirty="0">
                <a:solidFill>
                  <a:srgbClr val="FFFFFF"/>
                </a:solidFill>
                <a:latin typeface="Calibri"/>
              </a:rPr>
              <a:t>Single App, Single Prediction, Single Run Measured</a:t>
            </a:r>
            <a:endParaRPr sz="26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dirty="0">
                <a:solidFill>
                  <a:srgbClr val="5F6368"/>
                </a:solidFill>
                <a:latin typeface="Calibri"/>
              </a:rPr>
              <a:t>Every prediction, every measurement. Nothing selected, nothing dropped.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616785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power · rails MEASURED on IMX95LPD5EVK-19 (NXP BCU) · A55 die 40–41 °C under load · activity DERIVED from QEMU TCG · 2026-09-10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16736"/>
            <a:ext cx="110642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5F6368"/>
                </a:solidFill>
                <a:latin typeface="Calibri"/>
              </a:rPr>
              <a:t>GREEN ≤ 8%  ·  AMBER 8–12%  ·  RED &gt; 12%   (8% = the published bar for a good per-rail model)   ·   GB/s = DDR read bandwidth, MEASURED on silicon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17332" y="6153692"/>
            <a:ext cx="6112935" cy="566928"/>
          </a:xfrm>
          <a:prstGeom prst="roundRect">
            <a:avLst/>
          </a:prstGeom>
          <a:solidFill>
            <a:srgbClr val="EFF3FA"/>
          </a:solidFill>
          <a:ln w="19050">
            <a:solidFill>
              <a:srgbClr val="187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281131" y="6120604"/>
            <a:ext cx="801073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dirty="0">
                <a:solidFill>
                  <a:srgbClr val="187A33"/>
                </a:solidFill>
                <a:latin typeface="Calibri"/>
              </a:rPr>
              <a:t>36 of 50 within 8%   ·   11 between 8 </a:t>
            </a:r>
            <a:r>
              <a:rPr lang="en-US" sz="1600" b="1" dirty="0">
                <a:solidFill>
                  <a:srgbClr val="187A33"/>
                </a:solidFill>
                <a:latin typeface="Calibri"/>
              </a:rPr>
              <a:t>and </a:t>
            </a:r>
            <a:r>
              <a:rPr sz="1600" b="1" dirty="0">
                <a:solidFill>
                  <a:srgbClr val="187A33"/>
                </a:solidFill>
                <a:latin typeface="Calibri"/>
              </a:rPr>
              <a:t>12%   ·   3 above 12%   —   </a:t>
            </a:r>
            <a:endParaRPr lang="en-US" sz="1600" b="1" dirty="0">
              <a:solidFill>
                <a:srgbClr val="187A33"/>
              </a:solidFill>
              <a:latin typeface="Calibri"/>
            </a:endParaRPr>
          </a:p>
          <a:p>
            <a:pPr algn="ctr"/>
            <a:r>
              <a:rPr sz="1600" b="1" dirty="0" err="1">
                <a:solidFill>
                  <a:srgbClr val="187A33"/>
                </a:solidFill>
                <a:latin typeface="Calibri"/>
              </a:rPr>
              <a:t>mW</a:t>
            </a:r>
            <a:r>
              <a:rPr sz="1600" b="1" dirty="0">
                <a:solidFill>
                  <a:srgbClr val="187A33"/>
                </a:solidFill>
                <a:latin typeface="Calibri"/>
              </a:rPr>
              <a:t> pred</a:t>
            </a:r>
            <a:r>
              <a:rPr lang="en-US" sz="1600" b="1" dirty="0">
                <a:solidFill>
                  <a:srgbClr val="187A33"/>
                </a:solidFill>
                <a:latin typeface="Calibri"/>
              </a:rPr>
              <a:t> </a:t>
            </a:r>
            <a:r>
              <a:rPr sz="1600" b="1" dirty="0">
                <a:solidFill>
                  <a:srgbClr val="187A33"/>
                </a:solidFill>
                <a:latin typeface="Calibri"/>
              </a:rPr>
              <a:t>vs </a:t>
            </a:r>
            <a:r>
              <a:rPr sz="1600" b="1" dirty="0" err="1">
                <a:solidFill>
                  <a:srgbClr val="187A33"/>
                </a:solidFill>
                <a:latin typeface="Calibri"/>
              </a:rPr>
              <a:t>mW</a:t>
            </a:r>
            <a:r>
              <a:rPr sz="1600" b="1" dirty="0">
                <a:solidFill>
                  <a:srgbClr val="187A33"/>
                </a:solidFill>
                <a:latin typeface="Calibri"/>
              </a:rPr>
              <a:t> measured, on silicon the model never trained on.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48640" y="1664208"/>
          <a:ext cx="3703320" cy="4032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640080"/>
                <a:gridCol w="640080"/>
                <a:gridCol w="603504"/>
                <a:gridCol w="630936"/>
              </a:tblGrid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app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pred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meas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err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GB/s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mem-w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1744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1795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F5CA8"/>
                          </a:solidFill>
                          <a:latin typeface="Calibri"/>
                        </a:rPr>
                        <a:t>2.62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mem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1771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1767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F5CA8"/>
                          </a:solidFill>
                          <a:latin typeface="Calibri"/>
                        </a:rPr>
                        <a:t>2.53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sgm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1375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1614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B31412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0.08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lz4-fast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1565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B31412"/>
                          </a:solidFill>
                          <a:latin typeface="Calibri"/>
                        </a:rPr>
                        <a:t>13%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F5CA8"/>
                          </a:solidFill>
                          <a:latin typeface="Calibri"/>
                        </a:rPr>
                        <a:t>0.31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mm-big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1449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1558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F5CA8"/>
                          </a:solidFill>
                          <a:latin typeface="Calibri"/>
                        </a:rPr>
                        <a:t>0.60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lz4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1529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B06000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rd-life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1425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1525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F5CA8"/>
                          </a:solidFill>
                          <a:latin typeface="Calibri"/>
                        </a:rPr>
                        <a:t>0.31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qoi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1524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cr-blowfish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1374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1517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B06000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1515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B06000"/>
                          </a:solidFill>
                          <a:latin typeface="Calibri"/>
                        </a:rPr>
                        <a:t>11%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F5CA8"/>
                          </a:solidFill>
                          <a:latin typeface="Calibri"/>
                        </a:rPr>
                        <a:t>0.32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sgm-a55-1t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1357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1512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B06000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0.20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cr-b64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1506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B06000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bb-md5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1358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1484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8%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0.15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sort-big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bb-gunzip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1342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1478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B06000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0.01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cr-md5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cr-rc4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1336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1477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B06000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0.10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434840" y="1664208"/>
          <a:ext cx="3703320" cy="4032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640080"/>
                <a:gridCol w="640080"/>
                <a:gridCol w="603504"/>
                <a:gridCol w="630936"/>
              </a:tblGrid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app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pred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meas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err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GB/s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sha256-big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1397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1476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bb-b64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B06000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sort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1378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1473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0.09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bb-sha512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bzip2-fast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1349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1469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8%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0.05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bb-wc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sha256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1398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1458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lua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cr-aes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1378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1445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bzip2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heatshrink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1346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1440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0.01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bb-sortn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bb-cksum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1316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1437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8%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0.09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rd-plasma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sqlite-heavy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1350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1434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0.02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bb-gzip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sqlite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1351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1432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0.01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8321040" y="1664208"/>
          <a:ext cx="3703320" cy="38084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640080"/>
                <a:gridCol w="640080"/>
                <a:gridCol w="603504"/>
                <a:gridCol w="630936"/>
              </a:tblGrid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app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pred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meas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err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GB/s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parson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1339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1432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F5CA8"/>
                          </a:solidFill>
                          <a:latin typeface="Calibri"/>
                        </a:rPr>
                        <a:t>0.32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bb-awk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bb-sed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1343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1425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0.01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bb-sha1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cjson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1339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1420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0.23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pcg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rd-mandel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1317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1418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0.01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bb-grep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httpp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1360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1391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pacman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pacman-big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1343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1382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tommath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rd-ray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1289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1367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0.04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alu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chase-big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1306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1314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F5CA8"/>
                          </a:solidFill>
                          <a:latin typeface="Calibri"/>
                        </a:rPr>
                        <a:t>0.45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chase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1295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F5CA8"/>
                          </a:solidFill>
                          <a:latin typeface="Calibri"/>
                        </a:rPr>
                        <a:t>0.45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115568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dirty="0">
                <a:solidFill>
                  <a:srgbClr val="FFFFFF"/>
                </a:solidFill>
                <a:latin typeface="Calibri"/>
              </a:rPr>
              <a:t>Part 2 — Several apps at once  Can QEMU predict mixed apps power? </a:t>
            </a:r>
            <a:r>
              <a:rPr lang="en-US" sz="2200" b="1" dirty="0">
                <a:solidFill>
                  <a:srgbClr val="FFFFFF"/>
                </a:solidFill>
                <a:latin typeface="Calibri"/>
              </a:rPr>
              <a:t/>
            </a:r>
            <a:r>
              <a:rPr sz="2200" b="1" dirty="0">
                <a:solidFill>
                  <a:srgbClr val="FFFFFF"/>
                </a:solidFill>
                <a:latin typeface="Calibri"/>
              </a:rPr>
              <a:t/>
            </a:r>
            <a:r>
              <a:rPr lang="en-US" sz="2200" b="1" dirty="0">
                <a:solidFill>
                  <a:srgbClr val="FFFFFF"/>
                </a:solidFill>
                <a:latin typeface="Calibri"/>
              </a:rPr>
              <a:t/>
            </a:r>
            <a:r>
              <a:rPr lang="en-US" sz="2200" b="1" dirty="0">
                <a:solidFill>
                  <a:srgbClr val="FFFFFF"/>
                </a:solidFill>
                <a:latin typeface="Calibri"/>
                <a:sym typeface="Wingdings" panose="05000000000000000000" pitchFamily="2" charset="2"/>
              </a:rPr>
              <a:t/>
            </a:r>
            <a:r>
              <a:rPr lang="en-US" sz="2200" b="1" dirty="0">
                <a:solidFill>
                  <a:srgbClr val="FFFFFF"/>
                </a:solidFill>
                <a:latin typeface="Calibri"/>
              </a:rPr>
              <a:t/>
            </a:r>
            <a:endParaRPr sz="22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dirty="0">
                <a:solidFill>
                  <a:srgbClr val="5F6368"/>
                </a:solidFill>
                <a:latin typeface="Calibri"/>
              </a:rPr>
              <a:t>Game, stereo disparity, storage, networking, imaging and rendering, all at once. No silicon ACTIVITY counter feeds these predictions — the activity is QEMU's.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power · rails MEASURED on IMX95LPD5EVK-19 (NXP BCU) · A55 die 40–41 °C · activity DERIVED from QEMU TCG; PMU column MEASURED on silicon · 2026-09-10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572768"/>
            <a:ext cx="11064240" cy="548640"/>
          </a:xfrm>
          <a:prstGeom prst="rect">
            <a:avLst/>
          </a:prstGeom>
          <a:solidFill>
            <a:srgbClr val="187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1645920"/>
            <a:ext cx="10607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3.6% mean error, 5.8% worst, across two to six concurrent applications.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3589235"/>
              </p:ext>
            </p:extLst>
          </p:nvPr>
        </p:nvGraphicFramePr>
        <p:xfrm>
          <a:off x="548640" y="2267712"/>
          <a:ext cx="11082528" cy="1780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11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r>
                        <a:rPr sz="1400" b="1" dirty="0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applications running concurrently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cores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pred mW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meas mW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err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err (PMU)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game + disparity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dirty="0" err="1">
                          <a:latin typeface="Calibri"/>
                        </a:rPr>
                        <a:t>pacman</a:t>
                      </a:r>
                      <a:r>
                        <a:rPr sz="1400" b="0" dirty="0">
                          <a:latin typeface="Calibri"/>
                        </a:rPr>
                        <a:t>  +  </a:t>
                      </a:r>
                      <a:r>
                        <a:rPr sz="1400" b="0" dirty="0" err="1">
                          <a:latin typeface="Calibri"/>
                        </a:rPr>
                        <a:t>sgm</a:t>
                      </a:r>
                      <a:r>
                        <a:rPr sz="1400" b="0" dirty="0">
                          <a:latin typeface="Calibri"/>
                        </a:rPr>
                        <a:t> stereo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1605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1704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87A33"/>
                          </a:solidFill>
                          <a:latin typeface="Calibri"/>
                        </a:rPr>
                        <a:t>5.8%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87A33"/>
                          </a:solidFill>
                          <a:latin typeface="Calibri"/>
                        </a:rPr>
                        <a:t>6.0%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game + disparity + DB + 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pacman  +  sgm  +  sqlite  +  httpp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2123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2189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87A33"/>
                          </a:solidFill>
                          <a:latin typeface="Calibri"/>
                        </a:rPr>
                        <a:t>3.0%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87A33"/>
                          </a:solidFill>
                          <a:latin typeface="Calibri"/>
                        </a:rPr>
                        <a:t>3.1%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six workloads, every core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dirty="0" err="1">
                          <a:latin typeface="Calibri"/>
                        </a:rPr>
                        <a:t>pacman</a:t>
                      </a:r>
                      <a:r>
                        <a:rPr sz="1400" b="0" dirty="0">
                          <a:latin typeface="Calibri"/>
                        </a:rPr>
                        <a:t>  +  </a:t>
                      </a:r>
                      <a:r>
                        <a:rPr sz="1400" b="0" dirty="0" err="1">
                          <a:latin typeface="Calibri"/>
                        </a:rPr>
                        <a:t>sgm</a:t>
                      </a:r>
                      <a:r>
                        <a:rPr sz="1400" b="0" dirty="0">
                          <a:latin typeface="Calibri"/>
                        </a:rPr>
                        <a:t>  +  </a:t>
                      </a:r>
                      <a:r>
                        <a:rPr sz="1400" b="0" dirty="0" err="1">
                          <a:latin typeface="Calibri"/>
                        </a:rPr>
                        <a:t>sqlite</a:t>
                      </a:r>
                      <a:r>
                        <a:rPr sz="1400" b="0" dirty="0">
                          <a:latin typeface="Calibri"/>
                        </a:rPr>
                        <a:t>  +  </a:t>
                      </a:r>
                      <a:r>
                        <a:rPr sz="1400" b="0" dirty="0" err="1">
                          <a:latin typeface="Calibri"/>
                        </a:rPr>
                        <a:t>httpp</a:t>
                      </a:r>
                      <a:r>
                        <a:rPr sz="1400" b="0" dirty="0">
                          <a:latin typeface="Calibri"/>
                        </a:rPr>
                        <a:t>  +  </a:t>
                      </a:r>
                      <a:r>
                        <a:rPr sz="1400" b="0" dirty="0" err="1">
                          <a:latin typeface="Calibri"/>
                        </a:rPr>
                        <a:t>qoi</a:t>
                      </a:r>
                      <a:r>
                        <a:rPr sz="1400" b="0" dirty="0">
                          <a:latin typeface="Calibri"/>
                        </a:rPr>
                        <a:t>  +  ray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dirty="0"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dirty="0">
                          <a:latin typeface="Calibri"/>
                        </a:rPr>
                        <a:t>2612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dirty="0">
                          <a:latin typeface="Calibri"/>
                        </a:rPr>
                        <a:t>2561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87A33"/>
                          </a:solidFill>
                          <a:latin typeface="Calibri"/>
                        </a:rPr>
                        <a:t>2.0%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dirty="0">
                          <a:solidFill>
                            <a:srgbClr val="187A33"/>
                          </a:solidFill>
                          <a:latin typeface="Calibri"/>
                        </a:rPr>
                        <a:t>0.7%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66928" y="4044696"/>
            <a:ext cx="11064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dirty="0" err="1">
                <a:solidFill>
                  <a:srgbClr val="5F6368"/>
                </a:solidFill>
                <a:latin typeface="Calibri"/>
              </a:rPr>
              <a:t>pacman = game agent trained by genetic algorithm  ·  sgm = semi-global stereo disparity on real imagery  ·  sqlite = in-memory OLTP  ·  httpp = HTTP parsing  ·  qoi = image codec  ·  ray = ray tracer</a:t>
            </a:r>
            <a:r>
              <a:rPr sz="1050" b="0" dirty="0">
                <a:solidFill>
                  <a:srgbClr val="5F6368"/>
                </a:solidFill>
                <a:latin typeface="Calibri"/>
              </a:rPr>
              <a:t/>
            </a:r>
            <a:r>
              <a:rPr sz="1050" b="0" dirty="0" err="1">
                <a:solidFill>
                  <a:srgbClr val="5F6368"/>
                </a:solidFill>
                <a:latin typeface="Calibri"/>
              </a:rPr>
              <a:t/>
            </a:r>
            <a:r>
              <a:rPr sz="1050" b="0" dirty="0">
                <a:solidFill>
                  <a:srgbClr val="5F6368"/>
                </a:solidFill>
                <a:latin typeface="Calibri"/>
              </a:rPr>
              <a:t/>
            </a:r>
            <a:r>
              <a:rPr sz="1050" b="0" dirty="0" err="1">
                <a:solidFill>
                  <a:srgbClr val="5F6368"/>
                </a:solidFill>
                <a:latin typeface="Calibri"/>
              </a:rPr>
              <a:t/>
            </a:r>
            <a:r>
              <a:rPr sz="1050" b="0" dirty="0">
                <a:solidFill>
                  <a:srgbClr val="5F6368"/>
                </a:solidFill>
                <a:latin typeface="Calibri"/>
              </a:rPr>
              <a:t/>
            </a:r>
            <a:r>
              <a:rPr sz="1050" b="0" dirty="0" err="1">
                <a:solidFill>
                  <a:srgbClr val="5F6368"/>
                </a:solidFill>
                <a:latin typeface="Calibri"/>
              </a:rPr>
              <a:t/>
            </a:r>
            <a:r>
              <a:rPr sz="1050" b="0" dirty="0">
                <a:solidFill>
                  <a:srgbClr val="5F6368"/>
                </a:solidFill>
                <a:latin typeface="Calibri"/>
              </a:rPr>
              <a:t/>
            </a:r>
            <a:r>
              <a:rPr sz="1050" b="0" dirty="0" err="1">
                <a:solidFill>
                  <a:srgbClr val="5F6368"/>
                </a:solidFill>
                <a:latin typeface="Calibri"/>
              </a:rPr>
              <a:t/>
            </a:r>
            <a:r>
              <a:rPr sz="1050" b="0" dirty="0">
                <a:solidFill>
                  <a:srgbClr val="5F6368"/>
                </a:solidFill>
                <a:latin typeface="Calibr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389120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02124"/>
                </a:solidFill>
                <a:latin typeface="Calibri"/>
              </a:rPr>
              <a:t>Controls — synthetic and benchmark mixes over the same core counts: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4006932"/>
              </p:ext>
            </p:extLst>
          </p:nvPr>
        </p:nvGraphicFramePr>
        <p:xfrm>
          <a:off x="548640" y="4700016"/>
          <a:ext cx="11082528" cy="1042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11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applications running concurrently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cores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pred mW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meas mW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err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err (PMU)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200" b="1">
                          <a:latin typeface="Calibri"/>
                        </a:rPr>
                        <a:t>compute-bound control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dirty="0">
                          <a:latin typeface="Calibri"/>
                        </a:rPr>
                        <a:t>4 x sha256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Calibri"/>
                        </a:rPr>
                        <a:t>2304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Calibri"/>
                        </a:rPr>
                        <a:t>2163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7A33"/>
                          </a:solidFill>
                          <a:latin typeface="Calibri"/>
                        </a:rPr>
                        <a:t>6.5%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7A33"/>
                          </a:solidFill>
                          <a:latin typeface="Calibri"/>
                        </a:rPr>
                        <a:t>6.5%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200" b="1">
                          <a:latin typeface="Calibri"/>
                        </a:rPr>
                        <a:t>mixed benchmark control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dirty="0">
                          <a:latin typeface="Calibri"/>
                        </a:rPr>
                        <a:t>sha256 + mem + lz4 + </a:t>
                      </a:r>
                      <a:r>
                        <a:rPr sz="1200" b="0" dirty="0" err="1">
                          <a:latin typeface="Calibri"/>
                        </a:rPr>
                        <a:t>sqlite</a:t>
                      </a:r>
                      <a:r>
                        <a:rPr sz="1200" b="0" dirty="0">
                          <a:latin typeface="Calibri"/>
                        </a:rPr>
                        <a:t> + </a:t>
                      </a:r>
                      <a:r>
                        <a:rPr sz="1200" b="0" dirty="0" err="1">
                          <a:latin typeface="Calibri"/>
                        </a:rPr>
                        <a:t>lua</a:t>
                      </a:r>
                      <a:r>
                        <a:rPr sz="1200" b="0" dirty="0">
                          <a:latin typeface="Calibri"/>
                        </a:rPr>
                        <a:t> + bzip2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dirty="0"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Calibri"/>
                        </a:rPr>
                        <a:t>3065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dirty="0">
                          <a:latin typeface="Calibri"/>
                        </a:rPr>
                        <a:t>2878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7A33"/>
                          </a:solidFill>
                          <a:latin typeface="Calibri"/>
                        </a:rPr>
                        <a:t>6.5%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dirty="0">
                          <a:solidFill>
                            <a:srgbClr val="187A33"/>
                          </a:solidFill>
                          <a:latin typeface="Calibri"/>
                        </a:rPr>
                        <a:t>1.4%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48640" y="5815584"/>
            <a:ext cx="1106424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dirty="0">
                <a:solidFill>
                  <a:srgbClr val="1A53A0"/>
                </a:solidFill>
                <a:latin typeface="Calibri"/>
              </a:rPr>
              <a:t>The last column re-runs each prediction using activity measured on silicon instead of QEMU, which separates the model from the emulator. They agree on the edge mixes — so the error there is the model's, not QEMU's. They diverge only on the streaming control (6.5% vs 1.4%), where QEMU's DRAM proxy over-reports bandwidth. Edge workloads run at 0.4–0.7 GB/s and are barely exposed to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11556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What this licenses, and what it does not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dirty="0">
                <a:solidFill>
                  <a:srgbClr val="5F6368"/>
                </a:solidFill>
                <a:latin typeface="Calibri"/>
              </a:rPr>
              <a:t>The trust statement, quantity by quantity.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power · rails MEASURED on IMX95LPD5EVK-19 (NXP BCU) · A55 die 40–41 °C under load · activity DERIVED from QEMU TCG · 2026-09-10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12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8585537"/>
              </p:ext>
            </p:extLst>
          </p:nvPr>
        </p:nvGraphicFramePr>
        <p:xfrm>
          <a:off x="548640" y="1444752"/>
          <a:ext cx="1106424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7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15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400" b="1" dirty="0">
                          <a:solidFill>
                            <a:srgbClr val="FFFFFF"/>
                          </a:solidFill>
                          <a:latin typeface="Calibri"/>
                        </a:rPr>
                        <a:t>claim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basis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400" b="1" dirty="0">
                          <a:latin typeface="Calibri"/>
                        </a:rPr>
                        <a:t>predict the INSTRUCTION activity of an unseen app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87A3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1.75% mean, 41 of 50 within 2%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400" b="1" dirty="0">
                          <a:latin typeface="Calibri"/>
                        </a:rPr>
                        <a:t>predict DRAM BANDWIDTH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FFC000"/>
                          </a:solidFill>
                          <a:latin typeface="Calibri"/>
                        </a:rPr>
                        <a:t>Not Yet</a:t>
                      </a:r>
                      <a:endParaRPr sz="1400" b="1" dirty="0">
                        <a:solidFill>
                          <a:srgbClr val="FFC000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dirty="0">
                          <a:latin typeface="Calibri"/>
                        </a:rPr>
                        <a:t>over-reports ~2x; write streaming is not modelled</a:t>
                      </a:r>
                      <a:r>
                        <a:rPr lang="en-US" sz="1400" b="0" dirty="0">
                          <a:latin typeface="Calibri"/>
                        </a:rPr>
                        <a:t> (next task)</a:t>
                      </a:r>
                      <a:endParaRPr sz="1400" b="0" dirty="0">
                        <a:latin typeface="Calibr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latin typeface="Calibri"/>
                        </a:rPr>
                        <a:t>predict total power of an unseen app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87A3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6.4% mean, 14.8% worst, 50 held-out applications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latin typeface="Calibri"/>
                        </a:rPr>
                        <a:t>predict vdd_soc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dirty="0">
                          <a:solidFill>
                            <a:srgbClr val="187A3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4.1% mean, 7.1% worst — the strongest single result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latin typeface="Calibri"/>
                        </a:rPr>
                        <a:t>predict a concurrent multi-app mix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87A3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dirty="0">
                          <a:latin typeface="Calibri"/>
                        </a:rPr>
                        <a:t>3.6% mean, 5.8% worst, 2–6 apps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latin typeface="Calibri"/>
                        </a:rPr>
                        <a:t>predict streaming or DMA-heavy code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FFC000"/>
                          </a:solidFill>
                          <a:latin typeface="Calibri"/>
                        </a:rPr>
                        <a:t>Not YET</a:t>
                      </a:r>
                      <a:endParaRPr sz="1400" b="1" dirty="0">
                        <a:solidFill>
                          <a:srgbClr val="FFC000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dirty="0">
                          <a:latin typeface="Calibri"/>
                        </a:rPr>
                        <a:t>the bandwidth gap lands directly on it</a:t>
                      </a:r>
                      <a:r>
                        <a:rPr lang="en-US" sz="1400" b="0" dirty="0">
                          <a:latin typeface="Calibri"/>
                        </a:rPr>
                        <a:t> (task 2 to fix)</a:t>
                      </a:r>
                      <a:endParaRPr sz="1400" b="0" dirty="0">
                        <a:latin typeface="Calibri"/>
                      </a:endParaRP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US" sz="1400" b="1" dirty="0">
                          <a:latin typeface="Calibri"/>
                        </a:rPr>
                        <a:t>Use these coefficients only at a single product point</a:t>
                      </a:r>
                      <a:endParaRPr sz="1400" b="1" dirty="0">
                        <a:latin typeface="Calibr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00B050"/>
                          </a:solidFill>
                          <a:latin typeface="Calibri"/>
                        </a:rPr>
                        <a:t>YES</a:t>
                      </a:r>
                      <a:endParaRPr sz="1400" b="1" dirty="0">
                        <a:solidFill>
                          <a:srgbClr val="00B050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dirty="0">
                          <a:latin typeface="Calibri"/>
                        </a:rPr>
                        <a:t>1800 MHz set; </a:t>
                      </a:r>
                      <a:r>
                        <a:rPr sz="1400" b="0" dirty="0" err="1">
                          <a:latin typeface="Calibri"/>
                        </a:rPr>
                        <a:t>vdd_soc</a:t>
                      </a:r>
                      <a:r>
                        <a:rPr sz="1400" b="0" dirty="0">
                          <a:latin typeface="Calibri"/>
                        </a:rPr>
                        <a:t> transfers, </a:t>
                      </a:r>
                      <a:r>
                        <a:rPr sz="1400" b="0" dirty="0" err="1">
                          <a:latin typeface="Calibri"/>
                        </a:rPr>
                        <a:t>vdd_arm</a:t>
                      </a:r>
                      <a:r>
                        <a:rPr sz="1400" b="0" dirty="0">
                          <a:latin typeface="Calibri"/>
                        </a:rPr>
                        <a:t> does not</a:t>
                      </a:r>
                      <a:r>
                        <a:rPr lang="en-US" sz="1400" b="0" dirty="0">
                          <a:latin typeface="Calibri"/>
                        </a:rPr>
                        <a:t>. </a:t>
                      </a:r>
                      <a:br>
                        <a:rPr lang="en-US" sz="1400" b="0" dirty="0">
                          <a:latin typeface="Calibri"/>
                        </a:rPr>
                      </a:br>
                      <a:r>
                        <a:rPr lang="en-US" sz="1400" b="0" dirty="0">
                          <a:latin typeface="Calibri"/>
                        </a:rPr>
                        <a:t>Easily can run at different set points and for power modeling, max and min are key</a:t>
                      </a:r>
                      <a:endParaRPr sz="1400" b="0" dirty="0">
                        <a:latin typeface="Calibr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latin typeface="Calibri"/>
                        </a:rPr>
                        <a:t>emit watts from QEMU alone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B31412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dirty="0">
                          <a:latin typeface="Calibri"/>
                        </a:rPr>
                        <a:t>QEMU supplies ACTIVITY; energy coefficients come from silicon</a:t>
                      </a:r>
                      <a:r>
                        <a:rPr lang="en-US" sz="1400" b="0" dirty="0">
                          <a:latin typeface="Calibri"/>
                        </a:rPr>
                        <a:t> in separate model</a:t>
                      </a:r>
                      <a:endParaRPr sz="1400" b="0" dirty="0">
                        <a:latin typeface="Calibr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94360" y="5254752"/>
            <a:ext cx="110642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dirty="0">
                <a:solidFill>
                  <a:srgbClr val="1A53A0"/>
                </a:solidFill>
                <a:latin typeface="Calibri"/>
              </a:rPr>
              <a:t>The standing rule survives the campaign unchanged: QEMU measures activity, engineers convert activity to energy. A board that reads real watts is exactly when that discipline matters most.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119707"/>
            <a:ext cx="11338560" cy="269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dirty="0">
                <a:solidFill>
                  <a:srgbClr val="5F6368"/>
                </a:solidFill>
                <a:latin typeface="Calibri"/>
              </a:rPr>
              <a:t>Everything above is reproducible from the repo: frozen predictions in git before measurement, raw per-app pairs in RESULTS-50.csv, and every limit stated beside the number it qualifies.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11556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What this actually means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dirty="0">
                <a:solidFill>
                  <a:srgbClr val="5F6368"/>
                </a:solidFill>
                <a:latin typeface="Calibri"/>
              </a:rPr>
              <a:t>The result is not the point. What it licenses us to do next is the point.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power · rails MEASURED on IMX95LPD5EVK-19 (NXP BCU) · A55 die 40–41 °C under load · activity DERIVED from QEMU TCG · 2026-09-10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15</a:t>
            </a:r>
          </a:p>
        </p:txBody>
      </p:sp>
      <p:sp>
        <p:nvSpPr>
          <p:cNvPr id="8" name="Oval 7"/>
          <p:cNvSpPr/>
          <p:nvPr/>
        </p:nvSpPr>
        <p:spPr>
          <a:xfrm>
            <a:off x="566928" y="1481328"/>
            <a:ext cx="566928" cy="566928"/>
          </a:xfrm>
          <a:prstGeom prst="ellipse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6928" y="1554480"/>
            <a:ext cx="5669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444752"/>
            <a:ext cx="103327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dirty="0">
                <a:solidFill>
                  <a:srgbClr val="202124"/>
                </a:solidFill>
                <a:latin typeface="Calibri"/>
              </a:rPr>
              <a:t>Predicting power on working silicon is not, by itself, worth much.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1883664"/>
            <a:ext cx="103327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dirty="0">
                <a:solidFill>
                  <a:srgbClr val="5F6368"/>
                </a:solidFill>
                <a:latin typeface="Calibri"/>
              </a:rPr>
              <a:t>If the part exists, you can put a meter on it. Everything in this deck was validated against a board we already had — that is what makes it evidence, not what makes it useful.</a:t>
            </a:r>
          </a:p>
        </p:txBody>
      </p:sp>
      <p:sp>
        <p:nvSpPr>
          <p:cNvPr id="12" name="Oval 11"/>
          <p:cNvSpPr/>
          <p:nvPr/>
        </p:nvSpPr>
        <p:spPr>
          <a:xfrm>
            <a:off x="566928" y="2962656"/>
            <a:ext cx="566928" cy="566928"/>
          </a:xfrm>
          <a:prstGeom prst="ellipse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66928" y="3035808"/>
            <a:ext cx="5669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926080"/>
            <a:ext cx="103327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202124"/>
                </a:solidFill>
                <a:latin typeface="Calibri"/>
              </a:rPr>
              <a:t>So the value has to be collected BEFORE there is silicon.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364992"/>
            <a:ext cx="103327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rgbClr val="5F6368"/>
                </a:solidFill>
                <a:latin typeface="Calibri"/>
              </a:rPr>
              <a:t>Which sets a hard prerequisite on the program: a settled architecture and memory map, early, well ahead of </a:t>
            </a:r>
            <a:r>
              <a:rPr sz="1600" b="0" dirty="0" err="1">
                <a:solidFill>
                  <a:srgbClr val="5F6368"/>
                </a:solidFill>
                <a:latin typeface="Calibri"/>
              </a:rPr>
              <a:t>tapeout</a:t>
            </a:r>
            <a:r>
              <a:rPr sz="1600" b="0" dirty="0">
                <a:solidFill>
                  <a:srgbClr val="5F6368"/>
                </a:solidFill>
                <a:latin typeface="Calibri"/>
              </a:rPr>
              <a:t> — enough to stand up a QEMU model and boot a full Linux BSP on it. That is the gate. Not the power work; the model underneath it.</a:t>
            </a:r>
          </a:p>
        </p:txBody>
      </p:sp>
      <p:sp>
        <p:nvSpPr>
          <p:cNvPr id="16" name="Oval 15"/>
          <p:cNvSpPr/>
          <p:nvPr/>
        </p:nvSpPr>
        <p:spPr>
          <a:xfrm>
            <a:off x="566928" y="4443984"/>
            <a:ext cx="566928" cy="566928"/>
          </a:xfrm>
          <a:prstGeom prst="ellipse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66928" y="4517136"/>
            <a:ext cx="5669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4407408"/>
            <a:ext cx="103327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202124"/>
                </a:solidFill>
                <a:latin typeface="Calibri"/>
              </a:rPr>
              <a:t>Once that exists, this campaign says both halves work.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846320"/>
            <a:ext cx="103327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rgbClr val="5F6368"/>
                </a:solidFill>
                <a:latin typeface="Calibri"/>
              </a:rPr>
              <a:t>QEMU predicts the activity factors — usable on their own for reading code flows, usage and where the work lands. And fed to a power model, those activity factors produced power estimates that held to single digits against real rails. The half still to prove is the model itself: here its coefficients were measured on silicon, and pre-tapeout they must come from gate-level estimation instead. That is the engineers' half, and it is the remaining risk.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779008"/>
            <a:ext cx="11064240" cy="731520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60" y="5888736"/>
            <a:ext cx="106070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dirty="0">
                <a:solidFill>
                  <a:srgbClr val="FFFFFF"/>
                </a:solidFill>
                <a:latin typeface="Calibri"/>
              </a:rPr>
              <a:t>The division of </a:t>
            </a:r>
            <a:r>
              <a:rPr b="1" dirty="0" err="1">
                <a:solidFill>
                  <a:srgbClr val="FFFFFF"/>
                </a:solidFill>
                <a:latin typeface="Calibri"/>
              </a:rPr>
              <a:t>labour</a:t>
            </a:r>
            <a:r>
              <a:rPr b="1" dirty="0">
                <a:solidFill>
                  <a:srgbClr val="FFFFFF"/>
                </a:solidFill>
                <a:latin typeface="Calibri"/>
              </a:rPr>
              <a:t>: QEMU supplies the activity. The power model supplies the energy. </a:t>
            </a:r>
            <a:endParaRPr lang="en-US" b="1" dirty="0">
              <a:solidFill>
                <a:srgbClr val="FFFFFF"/>
              </a:solidFill>
              <a:latin typeface="Calibri"/>
            </a:endParaRPr>
          </a:p>
          <a:p>
            <a:pPr algn="ctr"/>
            <a:r>
              <a:rPr b="1" dirty="0">
                <a:solidFill>
                  <a:srgbClr val="FFFFFF"/>
                </a:solidFill>
                <a:latin typeface="Calibri"/>
              </a:rPr>
              <a:t>Neither one is asked to do the other's job.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11556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Verdana"/>
              </a:rPr>
              <a:t>Where the number actually comes from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2000" cy="38100"/>
          </a:xfrm>
          <a:prstGeom prst="rect">
            <a:avLst/>
          </a:prstGeom>
          <a:solidFill>
            <a:srgbClr val="1F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Verdana"/>
              </a:rPr>
              <a:t>QEMU never emits a milliwatt. It is worth being precise about which half of the prediction it supplies.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Verdana"/>
              </a:rPr>
              <a:t>wattson power · rails MEASURED on IMX95LPD5EVK-19 (NXP BCU) · A55 die 40–41 °C under load · activity DERIVED from QEMU TCG · 2026-09-10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Verdana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26464"/>
            <a:ext cx="11064240" cy="1133856"/>
          </a:xfrm>
          <a:prstGeom prst="roundRect">
            <a:avLst/>
          </a:prstGeom>
          <a:solidFill>
            <a:srgbClr val="F4F7FB"/>
          </a:solidFill>
          <a:ln>
            <a:solidFill>
              <a:srgbClr val="1F5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554480"/>
            <a:ext cx="10927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202124"/>
                </a:solidFill>
                <a:latin typeface="Verdana"/>
              </a:rPr>
              <a:t>power  =  </a:t>
            </a:r>
            <a:r>
              <a:rPr sz="1700" b="1">
                <a:solidFill>
                  <a:srgbClr val="B31412"/>
                </a:solidFill>
                <a:latin typeface="Verdana"/>
              </a:rPr>
              <a:t>243.8</a:t>
            </a:r>
            <a:r>
              <a:rPr sz="1700" b="1">
                <a:solidFill>
                  <a:srgbClr val="202124"/>
                </a:solidFill>
                <a:latin typeface="Verdana"/>
              </a:rPr>
              <a:t>  +  </a:t>
            </a:r>
            <a:r>
              <a:rPr sz="1700" b="1">
                <a:solidFill>
                  <a:srgbClr val="B31412"/>
                </a:solidFill>
                <a:latin typeface="Verdana"/>
              </a:rPr>
              <a:t>0.1266</a:t>
            </a:r>
            <a:r>
              <a:rPr sz="1700" b="1">
                <a:solidFill>
                  <a:srgbClr val="202124"/>
                </a:solidFill>
                <a:latin typeface="Verdana"/>
              </a:rPr>
              <a:t> · </a:t>
            </a:r>
            <a:r>
              <a:rPr sz="1700" b="1">
                <a:solidFill>
                  <a:srgbClr val="187A33"/>
                </a:solidFill>
                <a:latin typeface="Verdana"/>
              </a:rPr>
              <a:t>ALU Mops/s</a:t>
            </a:r>
            <a:r>
              <a:rPr sz="1700" b="1">
                <a:solidFill>
                  <a:srgbClr val="202124"/>
                </a:solidFill>
                <a:latin typeface="Verdana"/>
              </a:rPr>
              <a:t>  +  </a:t>
            </a:r>
            <a:r>
              <a:rPr sz="1700" b="1">
                <a:solidFill>
                  <a:srgbClr val="B31412"/>
                </a:solidFill>
                <a:latin typeface="Verdana"/>
              </a:rPr>
              <a:t>60.62</a:t>
            </a:r>
            <a:r>
              <a:rPr sz="1700" b="1">
                <a:solidFill>
                  <a:srgbClr val="202124"/>
                </a:solidFill>
                <a:latin typeface="Verdana"/>
              </a:rPr>
              <a:t> · </a:t>
            </a:r>
            <a:r>
              <a:rPr sz="1700" b="1">
                <a:solidFill>
                  <a:srgbClr val="187A33"/>
                </a:solidFill>
                <a:latin typeface="Verdana"/>
              </a:rPr>
              <a:t>GB/s</a:t>
            </a:r>
            <a:r>
              <a:rPr sz="1700" b="1">
                <a:solidFill>
                  <a:srgbClr val="202124"/>
                </a:solidFill>
                <a:latin typeface="Verdana"/>
              </a:rPr>
              <a:t>  +  </a:t>
            </a:r>
            <a:r>
              <a:rPr sz="1700" b="1">
                <a:solidFill>
                  <a:srgbClr val="B31412"/>
                </a:solidFill>
                <a:latin typeface="Verdana"/>
              </a:rPr>
              <a:t>169.3</a:t>
            </a:r>
            <a:r>
              <a:rPr sz="1700" b="1">
                <a:solidFill>
                  <a:srgbClr val="202124"/>
                </a:solidFill>
                <a:latin typeface="Verdana"/>
              </a:rPr>
              <a:t> · </a:t>
            </a:r>
            <a:r>
              <a:rPr sz="1700" b="1">
                <a:solidFill>
                  <a:srgbClr val="187A33"/>
                </a:solidFill>
                <a:latin typeface="Verdana"/>
              </a:rPr>
              <a:t>cores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0116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B31412"/>
                </a:solidFill>
                <a:latin typeface="Verdana"/>
              </a:rPr>
              <a:t>MEASURED on silicon rails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258568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5F6368"/>
                </a:solidFill>
                <a:latin typeface="Verdana"/>
              </a:rPr>
              <a:t>mW per unit of activity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0116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87A33"/>
                </a:solidFill>
                <a:latin typeface="Verdana"/>
              </a:rPr>
              <a:t>DERIVED from QEMU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258568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5F6368"/>
                </a:solidFill>
                <a:latin typeface="Verdana"/>
              </a:rPr>
              <a:t>the activity itself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48640" y="2798064"/>
          <a:ext cx="1106424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377440"/>
                <a:gridCol w="2286000"/>
                <a:gridCol w="2743200"/>
              </a:tblGrid>
              <a:tr h="43891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where it came from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basis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the activity a workload generates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QEMU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87A33"/>
                          </a:solidFill>
                          <a:latin typeface="Calibri"/>
                        </a:rPr>
                        <a:t>proven here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1.75% vs the A55's own PMU, 50 applications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mW per unit of activity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measured silicon rails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06000"/>
                          </a:solidFill>
                          <a:latin typeface="Calibri"/>
                        </a:rPr>
                        <a:t>stood in for the spreadsheet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11-point calibration grid on a real board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mW per unit of activity, BEFORE silicon exists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gate-level power estimation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31412"/>
                          </a:solidFill>
                          <a:latin typeface="Calibri"/>
                        </a:rPr>
                        <a:t>NOT tested here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this is the engineers' half, and it is the open link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548640" y="4663440"/>
            <a:ext cx="11064240" cy="1188720"/>
          </a:xfrm>
          <a:prstGeom prst="roundRect">
            <a:avLst/>
          </a:prstGeom>
          <a:solidFill>
            <a:srgbClr val="FDF6EC"/>
          </a:solidFill>
          <a:ln>
            <a:solidFill>
              <a:srgbClr val="B06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773168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02124"/>
                </a:solidFill>
                <a:latin typeface="Verdana"/>
              </a:rPr>
              <a:t>In a real program that middle row is a power-estimation spreadsheet. Here we stood in for it by having the actual silicon. That is what makes this evidence rather than a proposal — with the energy side known-good, any error left over belongs to the activity side, which is the half under test. It is also why this does not replace the engineers: before tapeout there is no rail to measure, and the coefficients come from their estimates instead.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6188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5CA8"/>
                </a:solidFill>
                <a:latin typeface="Verdana"/>
              </a:rPr>
              <a:t>What this campaign de-risks is the QEMU half — so that when gate-power estimates arrive, the activity being fed into them is already known to be right.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11556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Verdana"/>
              </a:rPr>
              <a:t>What this actually replaces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2000" cy="38100"/>
          </a:xfrm>
          <a:prstGeom prst="rect">
            <a:avLst/>
          </a:prstGeom>
          <a:solidFill>
            <a:srgbClr val="1F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Verdana"/>
              </a:rPr>
              <a:t>A power estimate is two numbers multiplied together. Only one of them has ever had a way to get better.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Verdana"/>
              </a:rPr>
              <a:t>wattson power · rails MEASURED on IMX95LPD5EVK-19 (NXP BCU) · A55 die 40–41 °C under load · activity DERIVED from QEMU TCG · 2026-09-10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Verdana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11064240" cy="1298448"/>
          </a:xfrm>
          <a:prstGeom prst="roundRect">
            <a:avLst/>
          </a:prstGeom>
          <a:solidFill>
            <a:srgbClr val="F7F8FA"/>
          </a:solidFill>
          <a:ln>
            <a:solidFill>
              <a:srgbClr val="187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1591056"/>
            <a:ext cx="4754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Verdana"/>
              </a:rPr>
              <a:t>gate power per toggle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956816"/>
            <a:ext cx="4754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Verdana"/>
              </a:rPr>
              <a:t>the engineers' power-estimation spreadsheet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322576"/>
            <a:ext cx="2103120" cy="310896"/>
          </a:xfrm>
          <a:prstGeom prst="roundRect">
            <a:avLst/>
          </a:prstGeom>
          <a:solidFill>
            <a:srgbClr val="187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35915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Verdana"/>
              </a:rPr>
              <a:t>refines over 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1645920"/>
            <a:ext cx="55778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02124"/>
                </a:solidFill>
                <a:latin typeface="Verdana"/>
              </a:rPr>
              <a:t>Wide error bars early, and everyone knows it — but it REFINES as the design matures. Synthesis, then place-and-route, then silicon.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889504"/>
            <a:ext cx="11064240" cy="1298448"/>
          </a:xfrm>
          <a:prstGeom prst="roundRect">
            <a:avLst/>
          </a:prstGeom>
          <a:solidFill>
            <a:srgbClr val="F7F8FA"/>
          </a:solidFill>
          <a:ln>
            <a:solidFill>
              <a:srgbClr val="B314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3017520"/>
            <a:ext cx="4754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Verdana"/>
              </a:rPr>
              <a:t>activity factor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3383280"/>
            <a:ext cx="4754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Verdana"/>
              </a:rPr>
              <a:t>a flat assumption: 1%, 2%, 3%, 5%, 10%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1248" y="3749039"/>
            <a:ext cx="2103120" cy="310896"/>
          </a:xfrm>
          <a:prstGeom prst="roundRect">
            <a:avLst/>
          </a:prstGeom>
          <a:solidFill>
            <a:srgbClr val="B314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3785616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Verdana"/>
              </a:rPr>
              <a:t>never refines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440" y="3072384"/>
            <a:ext cx="55778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02124"/>
                </a:solidFill>
                <a:latin typeface="Verdana"/>
              </a:rPr>
              <a:t>Does not refine. Nothing connects a toggle rate to a workload, so there is no mechanism by which the guess improves.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261104"/>
            <a:ext cx="11064240" cy="713232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352544"/>
            <a:ext cx="106070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Verdana"/>
              </a:rPr>
              <a:t>How do you correlate a 3% toggling assumption to a real use case? You cannot — there has been no instrument for it.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029200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02124"/>
                </a:solidFill>
                <a:latin typeface="Verdana"/>
              </a:rPr>
              <a:t>That is the gap this closes: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385816"/>
            <a:ext cx="146304" cy="146304"/>
          </a:xfrm>
          <a:prstGeom prst="ellipse">
            <a:avLst/>
          </a:prstGeom>
          <a:solidFill>
            <a:srgbClr val="1F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5321808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02124"/>
                </a:solidFill>
                <a:latin typeface="Verdana"/>
              </a:rPr>
              <a:t>name an application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4760" y="5321808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Verdana"/>
              </a:rPr>
              <a:t>get its activity factor, per workload, with a stated error against silicon</a:t>
            </a:r>
          </a:p>
        </p:txBody>
      </p:sp>
      <p:sp>
        <p:nvSpPr>
          <p:cNvPr id="26" name="Oval 25"/>
          <p:cNvSpPr/>
          <p:nvPr/>
        </p:nvSpPr>
        <p:spPr>
          <a:xfrm>
            <a:off x="658368" y="5678424"/>
            <a:ext cx="146304" cy="146304"/>
          </a:xfrm>
          <a:prstGeom prst="ellipse">
            <a:avLst/>
          </a:prstGeom>
          <a:solidFill>
            <a:srgbClr val="1F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" y="5614416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02124"/>
                </a:solidFill>
                <a:latin typeface="Verdana"/>
              </a:rPr>
              <a:t>change the code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5614416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Verdana"/>
              </a:rPr>
              <a:t>see the activity factor move, and by how much</a:t>
            </a:r>
          </a:p>
        </p:txBody>
      </p:sp>
      <p:sp>
        <p:nvSpPr>
          <p:cNvPr id="29" name="Oval 28"/>
          <p:cNvSpPr/>
          <p:nvPr/>
        </p:nvSpPr>
        <p:spPr>
          <a:xfrm>
            <a:off x="658368" y="5971032"/>
            <a:ext cx="146304" cy="146304"/>
          </a:xfrm>
          <a:prstGeom prst="ellipse">
            <a:avLst/>
          </a:prstGeom>
          <a:solidFill>
            <a:srgbClr val="1F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907024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02124"/>
                </a:solidFill>
                <a:latin typeface="Verdana"/>
              </a:rPr>
              <a:t>compare two use cases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94760" y="5907024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Verdana"/>
              </a:rPr>
              <a:t>on the same measured basis, not two different guesses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21792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F5CA8"/>
                </a:solidFill>
                <a:latin typeface="Verdana"/>
              </a:rPr>
              <a:t>The spreadsheet keeps its job. It just stops being multiplied by a number nobody can trace to anything.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11556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Verdana"/>
              </a:rPr>
              <a:t>Part 1 — Pushing the bandwidth corner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2000" cy="38100"/>
          </a:xfrm>
          <a:prstGeom prst="rect">
            <a:avLst/>
          </a:prstGeom>
          <a:solidFill>
            <a:srgbClr val="1F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Verdana"/>
              </a:rPr>
              <a:t>The 50 applications top out at 0.60 GB/s for a real workload, but the model is fitted to 14 GB/s. These were written to occupy that gap.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Verdana"/>
              </a:rPr>
              <a:t>wattson power · rails MEASURED on IMX95LPD5EVK-19 (NXP BCU) · A55 die 40–41 °C under load · activity DERIVED from QEMU TCG · 2026-09-10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Verdana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572768"/>
            <a:ext cx="11064240" cy="548640"/>
          </a:xfrm>
          <a:prstGeom prst="rect">
            <a:avLst/>
          </a:prstGeom>
          <a:solidFill>
            <a:srgbClr val="1F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45920"/>
            <a:ext cx="106070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Verdana"/>
              </a:rPr>
              <a:t>Exercised to 11 GB/s — 18x the corpus maximum. It holds on reads, and breaks on writes.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286000"/>
          <a:ext cx="11064240" cy="2414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1234440"/>
                <a:gridCol w="1325880"/>
                <a:gridCol w="1371600"/>
                <a:gridCol w="1371600"/>
                <a:gridCol w="1645920"/>
              </a:tblGrid>
              <a:tr h="40233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workload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GB/s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ALU M/s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pred mW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meas mW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err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blit 4MB — large memcpy (replicate)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11.12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290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2203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1944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B06000"/>
                          </a:solidFill>
                          <a:latin typeface="Calibri"/>
                        </a:rPr>
                        <a:t>13.3%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blit 256MB — large memcpy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10.85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283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2180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1947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B06000"/>
                          </a:solidFill>
                          <a:latin typeface="Calibri"/>
                        </a:rPr>
                        <a:t>12.0%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reduce 256MB — array reduction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5.47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512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1774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1797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87A33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spmv 64MB — sparse gather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0.47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1305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1330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87A33"/>
                          </a:solidFill>
                          <a:latin typeface="Calibri"/>
                        </a:rPr>
                        <a:t>1.9%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yuv 1080p — YUV420→RGB565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0.22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855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1393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1456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87A33"/>
                          </a:solidFill>
                          <a:latin typeface="Calibri"/>
                        </a:rPr>
                        <a:t>4.3%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48640" y="4663440"/>
            <a:ext cx="11064240" cy="1316736"/>
          </a:xfrm>
          <a:prstGeom prst="roundRect">
            <a:avLst/>
          </a:prstGeom>
          <a:solidFill>
            <a:srgbClr val="FDF6EC"/>
          </a:solidFill>
          <a:ln>
            <a:solidFill>
              <a:srgbClr val="B06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773168"/>
            <a:ext cx="1051560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02124"/>
                </a:solidFill>
                <a:latin typeface="Verdana"/>
              </a:rPr>
              <a:t>And it found the model's edge. A pure READ stream at 5.5 GB/s predicts to 1.3%. A 50/50 read+write stream at 11 GB/s over-predicts by 12–13%. The model carries ONE bandwidth term, so a byte written and a byte read are charged the same power — and a written byte evidently costs less. Nothing in the 50-app corpus was write-heavy enough to expose that.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108192"/>
            <a:ext cx="11064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5CA8"/>
                </a:solidFill>
                <a:latin typeface="Verdana"/>
              </a:rPr>
              <a:t>Two guesses that were wrong, and worth knowing: YUV→RGB frame conversion is compute-bound (1.4 IPC), and sparse gather is latency-bound, not bandwidth-bound.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3016</Words>
  <Application>Microsoft Office PowerPoint</Application>
  <PresentationFormat>Widescreen</PresentationFormat>
  <Paragraphs>582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joseph fox</dc:creator>
  <cp:keywords/>
  <dc:description>generated using python-pptx</dc:description>
  <cp:lastModifiedBy>joseph fox</cp:lastModifiedBy>
  <cp:revision>2</cp:revision>
  <dcterms:created xsi:type="dcterms:W3CDTF">2013-01-27T09:14:16Z</dcterms:created>
  <dcterms:modified xsi:type="dcterms:W3CDTF">2026-09-10T06:10:34Z</dcterms:modified>
  <cp:category/>
</cp:coreProperties>
</file>