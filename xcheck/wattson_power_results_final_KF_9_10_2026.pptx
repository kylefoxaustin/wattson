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22"/>
    <p:sldId id="261" r:id="rId7"/>
    <p:sldId id="262" r:id="rId8"/>
    <p:sldId id="263" r:id="rId9"/>
    <p:sldId id="264" r:id="rId10"/>
    <p:sldId id="265" r:id="rId11"/>
    <p:sldId id="266" r:id="rId12"/>
    <p:sldId id="268" r:id="rId20"/>
    <p:sldId id="269" r:id="rId21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DF1DF6-5A9E-445A-A3B5-9CE24525FDE4}" v="2" dt="2026-09-10T05:56:52.5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fox" userId="50d7a54022179216" providerId="LiveId" clId="{2E41928C-797B-41AC-B2AF-BCC060D18E9C}"/>
    <pc:docChg chg="modSld">
      <pc:chgData name="joseph fox" userId="50d7a54022179216" providerId="LiveId" clId="{2E41928C-797B-41AC-B2AF-BCC060D18E9C}" dt="2026-09-10T06:10:24.214" v="18" actId="6549"/>
      <pc:docMkLst>
        <pc:docMk/>
      </pc:docMkLst>
      <pc:sldChg chg="modSp mod">
        <pc:chgData name="joseph fox" userId="50d7a54022179216" providerId="LiveId" clId="{2E41928C-797B-41AC-B2AF-BCC060D18E9C}" dt="2026-09-10T06:10:24.214" v="18" actId="6549"/>
        <pc:sldMkLst>
          <pc:docMk/>
          <pc:sldMk cId="0" sldId="257"/>
        </pc:sldMkLst>
        <pc:spChg chg="mod">
          <ac:chgData name="joseph fox" userId="50d7a54022179216" providerId="LiveId" clId="{2E41928C-797B-41AC-B2AF-BCC060D18E9C}" dt="2026-09-10T06:10:04.585" v="1" actId="403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oseph fox" userId="50d7a54022179216" providerId="LiveId" clId="{2E41928C-797B-41AC-B2AF-BCC060D18E9C}" dt="2026-09-10T06:10:24.214" v="18" actId="6549"/>
          <ac:spMkLst>
            <pc:docMk/>
            <pc:sldMk cId="0" sldId="257"/>
            <ac:spMk id="20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activity counts to measured silicon watts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789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 err="1">
                <a:solidFill>
                  <a:srgbClr val="C8D4E8"/>
                </a:solidFill>
                <a:latin typeface="Calibri"/>
              </a:rPr>
              <a:t>wattson</a:t>
            </a:r>
            <a:r>
              <a:rPr sz="2000" b="0" dirty="0">
                <a:solidFill>
                  <a:srgbClr val="C8D4E8"/>
                </a:solidFill>
                <a:latin typeface="Calibri"/>
              </a:rPr>
              <a:t> power calibration · i.MX 95 · per-rail models driven by QEMU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31531"/>
            <a:ext cx="10789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202124"/>
                </a:solidFill>
                <a:latin typeface="Calibri"/>
              </a:rPr>
              <a:t>Thesis under test: a functional emulator's activity counts, regressed against measured per-rail silicon power, </a:t>
            </a:r>
            <a:r>
              <a:rPr sz="2000" b="1" dirty="0">
                <a:solidFill>
                  <a:srgbClr val="202124"/>
                </a:solidFill>
                <a:latin typeface="Calibri"/>
              </a:rPr>
              <a:t>can predict 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the power</a:t>
            </a:r>
            <a:r>
              <a:rPr lang="en-US" sz="2000" b="0" dirty="0">
                <a:solidFill>
                  <a:srgbClr val="202124"/>
                </a:solidFill>
                <a:latin typeface="Calibri"/>
              </a:rPr>
              <a:t> consumption</a:t>
            </a:r>
            <a:r>
              <a:rPr sz="2000" b="0" dirty="0">
                <a:solidFill>
                  <a:srgbClr val="202124"/>
                </a:solidFill>
                <a:latin typeface="Calibri"/>
              </a:rPr>
              <a:t> of applications the model has never seen.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0131213" cy="1371600"/>
          </a:xfrm>
          <a:prstGeom prst="roundRect">
            <a:avLst/>
          </a:prstGeom>
          <a:solidFill>
            <a:srgbClr val="EFF3FA"/>
          </a:solidFill>
          <a:ln w="2540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639312"/>
            <a:ext cx="10241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187A33"/>
                </a:solidFill>
                <a:latin typeface="Calibri"/>
              </a:rPr>
              <a:t>RESULT: 6.4% mean error on total power, 50 real applications, predicted BLIND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33087"/>
            <a:ext cx="102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202124"/>
                </a:solidFill>
                <a:latin typeface="Calibri"/>
              </a:rPr>
              <a:t>Predictions were committed to git before a single power sample was taken on these applications. </a:t>
            </a:r>
            <a:endParaRPr lang="en-US" b="0" dirty="0">
              <a:solidFill>
                <a:srgbClr val="202124"/>
              </a:solidFill>
              <a:latin typeface="Calibri"/>
            </a:endParaRPr>
          </a:p>
          <a:p>
            <a:pPr algn="ctr"/>
            <a:r>
              <a:rPr lang="en-US" dirty="0">
                <a:solidFill>
                  <a:srgbClr val="202124"/>
                </a:solidFill>
                <a:latin typeface="Calibri"/>
              </a:rPr>
              <a:t>I started with the prediction first, then measured to see if it worked within a small delta %</a:t>
            </a:r>
            <a:r>
              <a:rPr lang="en-US" b="0" dirty="0">
                <a:solidFill>
                  <a:srgbClr val="202124"/>
                </a:solidFill>
                <a:latin typeface="Calibri"/>
              </a:rPr>
              <a:t> </a:t>
            </a:r>
            <a:endParaRPr b="0" dirty="0">
              <a:solidFill>
                <a:srgbClr val="202124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IMX95LPD5EVK-19 + NXP BCU per-rail shunts · qemu-aarch64 TCG plugins · 2026-09-10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5F6368"/>
                </a:solidFill>
                <a:latin typeface="Calibri"/>
              </a:rPr>
              <a:t>The second one is the one people ask for. The first one is the one that has to be true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81328"/>
            <a:ext cx="11064240" cy="1947672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75564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682496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QEMU predict the ACTIVITY a workload generates on silicon?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7632" y="2194560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92224" y="2267712"/>
            <a:ext cx="9418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for instruction activity — 1.7% mean error over 50 applications, 41 of 50 within 2%.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1" y="2834640"/>
            <a:ext cx="10327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DRAM read traffic tracks silicon to within 11% on streaming workloads. Reads and writes share one term, which is the model's known limit.</a:t>
            </a:r>
            <a:r>
              <a:rPr lang="en-US" b="0" dirty="0">
                <a:solidFill>
                  <a:srgbClr val="5F6368"/>
                </a:solidFill>
                <a:latin typeface="Calibri"/>
              </a:rPr>
              <a:t/>
            </a:r>
            <a:r>
              <a:rPr b="0" dirty="0">
                <a:solidFill>
                  <a:srgbClr val="5F6368"/>
                </a:solidFill>
                <a:latin typeface="Calibr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03904"/>
            <a:ext cx="11064240" cy="2103120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407822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15137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05072"/>
            <a:ext cx="9692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2124"/>
                </a:solidFill>
                <a:latin typeface="Calibri"/>
              </a:rPr>
              <a:t>Can that activity be turned into a POWER number?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7632" y="4517136"/>
            <a:ext cx="96926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4590288"/>
            <a:ext cx="9637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Calibri"/>
              </a:rPr>
              <a:t>YES — 6.4% mean error on total power on 50 applications</a:t>
            </a:r>
            <a:r>
              <a:rPr lang="en-US" b="1" dirty="0">
                <a:solidFill>
                  <a:srgbClr val="FFFFFF"/>
                </a:solidFill>
                <a:latin typeface="Calibri"/>
              </a:rPr>
              <a:t> the model never ran prior</a:t>
            </a:r>
            <a:endParaRPr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27632" y="5157216"/>
            <a:ext cx="9692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And 3.6% on concurrent multi-application mixes. In both cases QEMU supplies the ACTIVITY; the mW-per-unit-activity always comes from measured silicon.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53328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A53A0"/>
                </a:solidFill>
                <a:latin typeface="Calibri"/>
              </a:rPr>
              <a:t>Every number on this page is measured on silicon and predicted from a QEMU emulator</a:t>
            </a:r>
            <a:r>
              <a:rPr lang="en-US" sz="1600" b="1" dirty="0">
                <a:solidFill>
                  <a:srgbClr val="1A53A0"/>
                </a:solidFill>
                <a:latin typeface="Calibri"/>
              </a:rPr>
              <a:t/>
            </a:r>
            <a:r>
              <a:rPr sz="1600" b="1" dirty="0">
                <a:solidFill>
                  <a:srgbClr val="1A53A0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F6368"/>
                </a:solidFill>
                <a:latin typeface="Calibri"/>
              </a:rPr>
              <a:t>Eight steps, in order. Each one had to work before the next was meaningful.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606159"/>
              </p:ext>
            </p:extLst>
          </p:nvPr>
        </p:nvGraphicFramePr>
        <p:xfrm>
          <a:off x="548640" y="1463040"/>
          <a:ext cx="11064239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came out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Get the instrument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IMX95LPD5EVK-19 — the only i.MX 95 board with per-rail shunts. Flashed to match the FRDM's BSP first: the idle floor moves 29% between kernels.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the idle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n=5, spreads ≤1.7%. 1139.5 mW total; vdd_soc is 72% of it, vdd_arm only 13%.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Ask what predicts core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Instruction count — the activity vector's core term — explains R²=0.031. THREE PERCENT.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Find what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A 2-D grid varying ALU rate and bandwidth INDEPENDENTLY. Both together: R²=0.990.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Add the missing term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598 Mops/s on 2 cores = 656 mW; 599 on 1 core = 465 mW. Active cores matter on their own.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Validate QEMU's 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Same static binary under perf and under QEMU: instructions 0.1%, misses 0.01% in steady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Freeze predictions for 50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Committed to git BEFORE any power measurement of those apps.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Measure and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6.4% mean error on total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Does QEMU see the work the silicon does?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39" y="969264"/>
            <a:ext cx="11533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Instruction activity: QEMU's count against the A55's own </a:t>
            </a:r>
            <a:r>
              <a:rPr b="0" dirty="0" err="1">
                <a:solidFill>
                  <a:srgbClr val="5F6368"/>
                </a:solidFill>
                <a:latin typeface="Calibri"/>
              </a:rPr>
              <a:t>inst_retired</a:t>
            </a:r>
            <a:r>
              <a:rPr b="0" dirty="0">
                <a:solidFill>
                  <a:srgbClr val="5F6368"/>
                </a:solidFill>
                <a:latin typeface="Calibri"/>
              </a:rPr>
              <a:t> counter, same binary, same input, 50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1.75% mean error, 0.65% median. QEMU counts the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87A33"/>
                </a:solidFill>
                <a:latin typeface="Calibri"/>
              </a:rPr>
              <a:t>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within 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249424"/>
            <a:ext cx="2121408" cy="1060704"/>
          </a:xfrm>
          <a:prstGeom prst="roundRect">
            <a:avLst/>
          </a:prstGeom>
          <a:solidFill>
            <a:srgbClr val="F4F7FB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2377440"/>
            <a:ext cx="21214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B06000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926080"/>
            <a:ext cx="2121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F6368"/>
                </a:solidFill>
                <a:latin typeface="Calibri"/>
              </a:rPr>
              <a:t>of 50 above 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4930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The ten applications that agree least well — the whole tail, nothing hidden: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-12.6%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217920" y="3840480"/>
          <a:ext cx="539496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G-insn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-4.3%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16.78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598932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1A53A0"/>
                </a:solidFill>
                <a:latin typeface="Calibri"/>
              </a:rPr>
              <a:t>This is the activity factor a power model consumes. It is also, on its own, the thing you want when you are reading code flows and usage — how much work a workload does, where it does it, and how that changes when the code changes.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Part 1 — Bandwidth: where QEMU and silicon differ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Memory bandwidth. QEMU's DRAM read traffic against the A55's l3d_cache_refill counter.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activity · QEMU counts DERIVED from TCG plugins · silicon counts MEASURED via ARM PMU on i.MX95 (A55 core 0, pinned 1.8 GHz)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5358384"/>
            <a:ext cx="11064240" cy="969264"/>
          </a:xfrm>
          <a:prstGeom prst="roundRect">
            <a:avLst/>
          </a:prstGeom>
          <a:solidFill>
            <a:srgbClr val="F4F7FB"/>
          </a:solidFill>
          <a:ln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148132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Compared like for like, QEMU's DRAM read traffic tracks the silicon.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194560"/>
          <a:ext cx="6035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146304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QEMU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silicon reads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2.33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+149%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-37%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+84%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175504"/>
            <a:ext cx="6035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Verdana"/>
              </a:rPr>
              <a:t>the 9 applications above 0.25 GB/s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194560"/>
            <a:ext cx="4800600" cy="1572768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168" y="2304288"/>
            <a:ext cx="4343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Verdana"/>
              </a:rPr>
              <a:t>Like for like — QEMU's DRAM READ traffic against the A55's l3d_cache_refill, which is a refill counter and sees reads. The streaming workloads, where absolute bandwidth is largest and where it therefore matters most for power, agree to within 11%.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895344"/>
            <a:ext cx="4800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Where it is genuinely off: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800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Verdana"/>
              </a:rPr>
              <a:t>Two compute-bound workloads where the modelled cache misses too often — mm-big (+149%) and rd-life (+84%). Both are small-footprint and reuse-heavy, exactly where a modelled cache and a real one diverge most. Neither moves enough traffic for it to cost more than a few mW.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32704"/>
            <a:ext cx="110642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F5CA8"/>
                </a:solidFill>
                <a:latin typeface="Verdana"/>
              </a:rPr>
              <a:t>Both directions matter and neither is large in mW. QEMU also reports 0.000 GB/s for the whole busybox family where silicon measures real traffic (bb-md5 0.148 GB/s), because QEMU linux-user models only the application's own accesses while the PMU counts everything on the core, kernel included. Worth under 9 mW.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power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Measured on silicon, driven by QEMU activity. Valid at the stated OPP — the frequency is part of the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82880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vdd_arm  =  243.8  +  0.1266·ALU Mops/s  +  60.62·GB/s  +  169.3·active_cores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vdd_soc  =  851.0  +  0.0043·ALU Mops/s  +  20.40·GB/s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86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onsolas"/>
              </a:rPr>
              <a:t>DRAM     =   45.7  +  160.06·√(GB/s)                        R² = 0.994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1051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202124"/>
                </a:solidFill>
                <a:latin typeface="Calibri"/>
              </a:rPr>
              <a:t>mW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, at 1800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MHz.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vdd_soc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holds at 900 MHz unchanged (2.5% MAPE). </a:t>
            </a:r>
            <a:r>
              <a:rPr sz="1600" b="0" dirty="0" err="1">
                <a:solidFill>
                  <a:srgbClr val="202124"/>
                </a:solidFill>
                <a:latin typeface="Calibri"/>
              </a:rPr>
              <a:t>vdd_arm</a:t>
            </a:r>
            <a:r>
              <a:rPr sz="1600" b="0" dirty="0">
                <a:solidFill>
                  <a:srgbClr val="202124"/>
                </a:solidFill>
                <a:latin typeface="Calibri"/>
              </a:rPr>
              <a:t> needs its own per-OPP set.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520440"/>
          <a:ext cx="1106424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vdd_soc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bandwidth only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2.5–7%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transfers across OPPs unchanged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vdd_arm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alu + bandwidth +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4–5%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per-OPP coefficient sets; halving the clock roughly halves this rail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group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saturating in bandwidth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R²=0.994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intercept PINNED to the measured idle floor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20640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B06000"/>
                </a:solidFill>
                <a:latin typeface="Calibri"/>
              </a:rPr>
              <a:t>⚠ The DRAM fit with the HIGHER R² is the more dangerous one: a quadratic scores 0.9984 but its negative BW² term predicts FALLING power above ~17 GB/s. The √ form costs 0.004 of R² and stays physical.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Part 2 — The finding that changes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F6368"/>
                </a:solidFill>
                <a:latin typeface="Calibri"/>
              </a:rPr>
              <a:t>We expected instruction count to drive core power. It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234440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B31412"/>
                </a:solidFill>
                <a:latin typeface="Consolas"/>
              </a:rPr>
              <a:t>instructions alone:  R² = 0.031        mean error 48%,  worst 149%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3A0"/>
                </a:solidFill>
                <a:latin typeface="Consolas"/>
              </a:rPr>
              <a:t>bandwidth alone: R² = 0.784          both + active cores: R² = 0.990,  mean error 3.6%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An instructions-only model predicts 1197 mW where the board draws 481.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418396"/>
              </p:ext>
            </p:extLst>
          </p:nvPr>
        </p:nvGraphicFramePr>
        <p:xfrm>
          <a:off x="548640" y="2834640"/>
          <a:ext cx="11064240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the observation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memory-stalling workload drew 760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r>
                        <a:rPr sz="1400" b="0" dirty="0">
                          <a:latin typeface="Calibri"/>
                        </a:rPr>
                        <a:t> on the core rail; a compute workload retiring MORE instructions drew 474 </a:t>
                      </a:r>
                      <a:r>
                        <a:rPr sz="1400" b="0" dirty="0" err="1">
                          <a:latin typeface="Calibri"/>
                        </a:rPr>
                        <a:t>mW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a stalled core still burns clock trees, speculation, replayed loads, prefetchers and the L2/bus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confirmed twice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real Dhrystone vs real STREAM: vdd_arm ratio 1.02 — same core power, utterly different instruction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independent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Walker et al. (TCAD 2017) regressed PMCs against ODROID-XU3 per-cluster rails. Retired instruction count is NOT in their model either.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257800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87A33"/>
                </a:solidFill>
                <a:latin typeface="Calibri"/>
              </a:rPr>
              <a:t>Consequence: an activity factor built on instruction count alone MIS-RANKS exactly the memory-bound workloads that dominate a real power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249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The blind test, 50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</a:t>
            </a:r>
            <a:br>
              <a:rPr lang="en-US" sz="2600" b="1" dirty="0">
                <a:solidFill>
                  <a:srgbClr val="FFFFFF"/>
                </a:solidFill>
                <a:latin typeface="Calibri"/>
              </a:rPr>
            </a:br>
            <a:r>
              <a:rPr lang="en-US" sz="2600" b="1" dirty="0">
                <a:solidFill>
                  <a:srgbClr val="FFFFFF"/>
                </a:solidFill>
                <a:latin typeface="Calibri"/>
              </a:rPr>
              <a:t>did QEMU accurately predict power run apps one at a time?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Predictions committed to git before the board was touched. This is the headline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202124"/>
                </a:solidFill>
                <a:latin typeface="Calibri"/>
              </a:rPr>
              <a:t>Coefficients fitted on an 11-point synthetic alu/mem grid. None of these 50 applications appear in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473220"/>
              </p:ext>
            </p:extLst>
          </p:nvPr>
        </p:nvGraphicFramePr>
        <p:xfrm>
          <a:off x="548640" y="182880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06000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B31412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solidFill>
                            <a:srgbClr val="B06000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436279"/>
              </p:ext>
            </p:extLst>
          </p:nvPr>
        </p:nvGraphicFramePr>
        <p:xfrm>
          <a:off x="6400800" y="1828800"/>
          <a:ext cx="5212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prediction error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endParaRPr sz="18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MAPE, total power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p90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10.2%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worst, any single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bias (signed)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69080"/>
            <a:ext cx="521208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dirty="0">
                <a:solidFill>
                  <a:srgbClr val="1A53A0"/>
                </a:solidFill>
                <a:latin typeface="Calibri"/>
              </a:rPr>
              <a:t>Every number above is a PREDICTION ERROR.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4434840"/>
          <a:ext cx="52120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 power range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50 apps actually draw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1295 – 1795 mW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what the model predicted they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1289 – 1771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77002" y="5571607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>
                <a:solidFill>
                  <a:srgbClr val="5F6368"/>
                </a:solidFill>
                <a:latin typeface="Calibri"/>
              </a:rPr>
              <a:t>Stated in </a:t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>mW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>, not as a ratio: the model must reproduce the RANGE, not just the average. A model predicting every app near the mean would still score a good MAPE.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2" y="59830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Predictions run 6.4% low on average — a systematic offset, not scatter, and therefore correctable if a future revision wants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001"/>
            <a:ext cx="111556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Part 2 — All fifty applications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 – Power Prediction vs Measured</a:t>
            </a:r>
          </a:p>
          <a:p>
            <a:pPr algn="l"/>
            <a:r>
              <a:rPr lang="en-US" sz="2600" b="1" dirty="0">
                <a:solidFill>
                  <a:srgbClr val="FFFFFF"/>
                </a:solidFill>
                <a:latin typeface="Calibri"/>
              </a:rPr>
              <a:t>Single App, Single Prediction, Single Run Measured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Every prediction, every measurement. Nothing selected, nothing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616785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16736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5F6368"/>
                </a:solidFill>
                <a:latin typeface="Calibri"/>
              </a:rPr>
              <a:t>GREEN ≤ 8%  ·  AMBER 8–12%  ·  RED &gt; 12%   (8% = the published bar for a good per-rail model)   ·   GB/s = DDR read bandwidth, MEASURED on silicon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7332" y="6153692"/>
            <a:ext cx="6112935" cy="566928"/>
          </a:xfrm>
          <a:prstGeom prst="roundRect">
            <a:avLst/>
          </a:prstGeom>
          <a:solidFill>
            <a:srgbClr val="EFF3FA"/>
          </a:solidFill>
          <a:ln w="19050"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81131" y="6120604"/>
            <a:ext cx="80107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187A33"/>
                </a:solidFill>
                <a:latin typeface="Calibri"/>
              </a:rPr>
              <a:t>36 of 50 within 8%   ·   11 between 8 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and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12%   ·   3 above 12%   —   </a:t>
            </a:r>
            <a:endParaRPr lang="en-US" sz="1600" b="1" dirty="0">
              <a:solidFill>
                <a:srgbClr val="187A33"/>
              </a:solidFill>
              <a:latin typeface="Calibri"/>
            </a:endParaRPr>
          </a:p>
          <a:p>
            <a:pPr algn="ctr"/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pred</a:t>
            </a:r>
            <a:r>
              <a:rPr lang="en-US" sz="1600" b="1" dirty="0">
                <a:solidFill>
                  <a:srgbClr val="187A33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vs </a:t>
            </a:r>
            <a:r>
              <a:rPr sz="1600" b="1" dirty="0" err="1">
                <a:solidFill>
                  <a:srgbClr val="187A33"/>
                </a:solidFill>
                <a:latin typeface="Calibri"/>
              </a:rPr>
              <a:t>mW</a:t>
            </a:r>
            <a:r>
              <a:rPr sz="1600" b="1" dirty="0">
                <a:solidFill>
                  <a:srgbClr val="187A33"/>
                </a:solidFill>
                <a:latin typeface="Calibri"/>
              </a:rPr>
              <a:t> measured, on silicon the model never trained 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mem-w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1795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2.53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1614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lz4-fast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31412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rd-life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qoi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cr-blowfish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sgm-a55-1t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bb-md5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sort-big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bb-gunzip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cr-md5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cr-rc4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434840" y="1664208"/>
          <a:ext cx="370332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bb-b64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bzip2-fast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cr-aes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heatshrink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1440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bb-sortn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bb-cksum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rd-plasma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sqlite-heavy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bb-gzip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64208"/>
          <a:ext cx="3703320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40080"/>
                <a:gridCol w="640080"/>
                <a:gridCol w="603504"/>
                <a:gridCol w="630936"/>
              </a:tblGrid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pred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meas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parson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bb-awk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bb-sed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bb-sha1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1339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1420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rd-mandel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1418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bb-grep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httpp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1391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pacman-big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1382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tommath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rd-ray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1289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1367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chase-big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1314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1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Calibri"/>
                        </a:rPr>
                        <a:t>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87A33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F5CA8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Part 2 — Several apps at once  Can QEMU predict mixed apps power? </a:t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  <a:sym typeface="Wingdings" panose="05000000000000000000" pitchFamily="2" charset="2"/>
              </a:rPr>
              <a:t/>
            </a:r>
            <a:r>
              <a:rPr lang="en-US" sz="2200" b="1" dirty="0">
                <a:solidFill>
                  <a:srgbClr val="FFFFFF"/>
                </a:solidFill>
                <a:latin typeface="Calibri"/>
              </a:rPr>
              <a:t/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5F6368"/>
                </a:solidFill>
                <a:latin typeface="Calibri"/>
              </a:rPr>
              <a:t>Game, stereo disparity, storage, networking, imaging and rendering, all at once. No silicon ACTIVITY counter feeds these predictions — the activity is QEMU's.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· activity DERIVED from QEMU TCG; PMU column MEASURED on silicon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3.6% mean error, 5.8% worst, across two to six concurrent applications.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9235"/>
              </p:ext>
            </p:extLst>
          </p:nvPr>
        </p:nvGraphicFramePr>
        <p:xfrm>
          <a:off x="548640" y="2267712"/>
          <a:ext cx="11082528" cy="1780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stereo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1605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1704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game + disparity + DB +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pacman  +  sgm  +  sqlite  +  httpp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7A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six workloads, every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latin typeface="Calibri"/>
                        </a:rPr>
                        <a:t>pacman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sgm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sqlite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httpp</a:t>
                      </a:r>
                      <a:r>
                        <a:rPr sz="1400" b="0" dirty="0">
                          <a:latin typeface="Calibri"/>
                        </a:rPr>
                        <a:t>  +  </a:t>
                      </a:r>
                      <a:r>
                        <a:rPr sz="1400" b="0" dirty="0" err="1">
                          <a:latin typeface="Calibri"/>
                        </a:rPr>
                        <a:t>qoi</a:t>
                      </a:r>
                      <a:r>
                        <a:rPr sz="1400" b="0" dirty="0">
                          <a:latin typeface="Calibri"/>
                        </a:rPr>
                        <a:t>  +  ray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2612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2561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87A33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" y="4044696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 err="1">
                <a:solidFill>
                  <a:srgbClr val="5F6368"/>
                </a:solidFill>
                <a:latin typeface="Calibri"/>
              </a:rPr>
              <a:t>pacman = game agent trained by genetic algorithm  ·  sgm = semi-global stereo disparity on real imagery  ·  sqlite = in-memory OLTP  ·  httpp = HTTP parsing  ·  qoi = image codec  ·  ray = ray tracer</a:t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 err="1">
                <a:solidFill>
                  <a:srgbClr val="5F6368"/>
                </a:solidFill>
                <a:latin typeface="Calibri"/>
              </a:rPr>
              <a:t/>
            </a:r>
            <a:r>
              <a:rPr sz="1050" b="0" dirty="0">
                <a:solidFill>
                  <a:srgbClr val="5F6368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Controls — synthetic and benchmark mixes over the same core counts: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06932"/>
              </p:ext>
            </p:extLst>
          </p:nvPr>
        </p:nvGraphicFramePr>
        <p:xfrm>
          <a:off x="548640" y="4700016"/>
          <a:ext cx="1108252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applications running concurrently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err (PMU)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compute-bound control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4 x 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2304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2163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latin typeface="Calibri"/>
                        </a:rPr>
                        <a:t>mixed benchmark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sha256 + mem + lz4 + </a:t>
                      </a:r>
                      <a:r>
                        <a:rPr sz="1200" b="0" dirty="0" err="1">
                          <a:latin typeface="Calibri"/>
                        </a:rPr>
                        <a:t>sqlite</a:t>
                      </a:r>
                      <a:r>
                        <a:rPr sz="1200" b="0" dirty="0">
                          <a:latin typeface="Calibri"/>
                        </a:rPr>
                        <a:t> + </a:t>
                      </a:r>
                      <a:r>
                        <a:rPr sz="1200" b="0" dirty="0" err="1">
                          <a:latin typeface="Calibri"/>
                        </a:rPr>
                        <a:t>lua</a:t>
                      </a:r>
                      <a:r>
                        <a:rPr sz="1200" b="0" dirty="0">
                          <a:latin typeface="Calibri"/>
                        </a:rPr>
                        <a:t> + 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Calibri"/>
                        </a:rPr>
                        <a:t>3065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latin typeface="Calibri"/>
                        </a:rPr>
                        <a:t>2878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7A33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87A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815584"/>
            <a:ext cx="110642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1A53A0"/>
                </a:solidFill>
                <a:latin typeface="Calibri"/>
              </a:rPr>
              <a:t>The last column re-runs each prediction using activity measured on silicon instead of QEMU, which separates the model from the emulator. They agree on the edge mixes — so the error there is the model's, not QEMU's. They diverge only on the streaming control (6.5% vs 1.4%), where reads and writes are charged alike by the model's single bandwidth term. These mixes run at 0.4–0.7 GB/s and are barely exposed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585537"/>
              </p:ext>
            </p:extLst>
          </p:nvPr>
        </p:nvGraphicFramePr>
        <p:xfrm>
          <a:off x="548640" y="1444752"/>
          <a:ext cx="1106424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the INSTRUCTION activity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1.75% mean, 41 of 50 within 2%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latin typeface="Calibri"/>
                        </a:rPr>
                        <a:t>predict DRAM BANDWIDTH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reads track silicon; reads and writes share one coefficient</a:t>
                      </a:r>
                      <a:r>
                        <a:rPr lang="en-US" sz="1400" b="0" dirty="0">
                          <a:latin typeface="Calibri"/>
                        </a:rPr>
                        <a:t/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total power of an unseen app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6.4% mean, 14.8% worst, 50 held-out applications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vdd_soc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4.1% mean, 7.1% worst — the strongest single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a concurrent multi-app mix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7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3.6% mean, 5.8% worst, 2–6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predict streaming or DMA-heavy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C000"/>
                          </a:solidFill>
                          <a:latin typeface="Calibri"/>
                        </a:rPr>
                        <a:t>Not YET</a:t>
                      </a:r>
                      <a:endParaRPr sz="1400" b="1" dirty="0">
                        <a:solidFill>
                          <a:srgbClr val="FFC00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write-heavy streams over-predict 12-13% (measured to 11 GB/s)</a:t>
                      </a:r>
                      <a:r>
                        <a:rPr lang="en-US" sz="1400" b="0" dirty="0">
                          <a:latin typeface="Calibri"/>
                        </a:rPr>
                        <a:t/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EF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latin typeface="Calibri"/>
                        </a:rPr>
                        <a:t>Use these coefficients only at a single product point</a:t>
                      </a:r>
                      <a:endParaRPr sz="1400" b="1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  <a:latin typeface="Calibri"/>
                        </a:rPr>
                        <a:t>YES</a:t>
                      </a:r>
                      <a:endParaRPr sz="1400" b="1" dirty="0">
                        <a:solidFill>
                          <a:srgbClr val="00B050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1800 MHz set; </a:t>
                      </a:r>
                      <a:r>
                        <a:rPr sz="1400" b="0" dirty="0" err="1">
                          <a:latin typeface="Calibri"/>
                        </a:rPr>
                        <a:t>vdd_soc</a:t>
                      </a:r>
                      <a:r>
                        <a:rPr sz="1400" b="0" dirty="0">
                          <a:latin typeface="Calibri"/>
                        </a:rPr>
                        <a:t> transfers, </a:t>
                      </a:r>
                      <a:r>
                        <a:rPr sz="1400" b="0" dirty="0" err="1">
                          <a:latin typeface="Calibri"/>
                        </a:rPr>
                        <a:t>vdd_arm</a:t>
                      </a:r>
                      <a:r>
                        <a:rPr sz="1400" b="0" dirty="0">
                          <a:latin typeface="Calibri"/>
                        </a:rPr>
                        <a:t> does not</a:t>
                      </a:r>
                      <a:r>
                        <a:rPr lang="en-US" sz="1400" b="0" dirty="0">
                          <a:latin typeface="Calibri"/>
                        </a:rPr>
                        <a:t>. </a:t>
                      </a:r>
                      <a:br>
                        <a:rPr lang="en-US" sz="1400" b="0" dirty="0">
                          <a:latin typeface="Calibri"/>
                        </a:rPr>
                      </a:br>
                      <a:r>
                        <a:rPr lang="en-US" sz="1400" b="0" dirty="0">
                          <a:latin typeface="Calibri"/>
                        </a:rPr>
                        <a:t>Easily can run at different set points and for power modeling, max and min are key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emit watts from QEMU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B3141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latin typeface="Calibri"/>
                        </a:rPr>
                        <a:t>QEMU supplies ACTIVITY; energy coefficients come from silicon</a:t>
                      </a:r>
                      <a:r>
                        <a:rPr lang="en-US" sz="1400" b="0" dirty="0">
                          <a:latin typeface="Calibri"/>
                        </a:rPr>
                        <a:t> in separate model</a:t>
                      </a:r>
                      <a:endParaRPr sz="1400" b="0" dirty="0"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254752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1A53A0"/>
                </a:solidFill>
                <a:latin typeface="Calibri"/>
              </a:rPr>
              <a:t>The standing rule survives the campaign unchanged: QEMU measures activity, engineers convert activity to energy. A board that reads real watts is exactly when that discipline matters most.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19707"/>
            <a:ext cx="1133856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dirty="0">
                <a:solidFill>
                  <a:srgbClr val="5F6368"/>
                </a:solidFill>
                <a:latin typeface="Calibri"/>
              </a:rPr>
              <a:t>Everything above is reproducible from the repo: frozen predictions in git before measurement, raw per-app pairs in RESULTS-50.csv, and every limit stated beside the number it qualifies.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actually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The result is not the point. What it licenses us to do next is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15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1481328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44752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202124"/>
                </a:solidFill>
                <a:latin typeface="Calibri"/>
              </a:rPr>
              <a:t>Predicting power on working silicon is not, by itself, worth much.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83664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5F6368"/>
                </a:solidFill>
                <a:latin typeface="Calibri"/>
              </a:rPr>
              <a:t>If the part exists, you can put a meter on it. Everything in this deck was validated against a board we already had — that is what makes it evidence, not what makes it useful.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62656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035808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260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So the value has to be collected BEFORE there is silicon.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64992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Which sets a hard prerequisite on the program: a settled architecture and memory map, early, well ahead of </a:t>
            </a:r>
            <a:r>
              <a:rPr sz="1600" b="0" dirty="0" err="1">
                <a:solidFill>
                  <a:srgbClr val="5F6368"/>
                </a:solidFill>
                <a:latin typeface="Calibri"/>
              </a:rPr>
              <a:t>tapeout</a:t>
            </a:r>
            <a:r>
              <a:rPr sz="1600" b="0" dirty="0">
                <a:solidFill>
                  <a:srgbClr val="5F6368"/>
                </a:solidFill>
                <a:latin typeface="Calibri"/>
              </a:rPr>
              <a:t> — enough to stand up a QEMU model and boot a full Linux BSP on it. That is the gate. Not the power work; the model underneath it.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443984"/>
            <a:ext cx="566928" cy="566928"/>
          </a:xfrm>
          <a:prstGeom prst="ellipse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517136"/>
            <a:ext cx="5669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07408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202124"/>
                </a:solidFill>
                <a:latin typeface="Calibri"/>
              </a:rPr>
              <a:t>Once that exists, this campaign says both halves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846320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5F6368"/>
                </a:solidFill>
                <a:latin typeface="Calibri"/>
              </a:rPr>
              <a:t>QEMU predicts the activity factors — usable on their own for reading code flows, usage and where the work lands. And fed to a power model, those activity factors produced power estimates that held to single digits against real rails. The half still to prove is the model itself: here its coefficients were measured on silicon, and pre-tapeout they must come from gate-level estimation instead. That is the engineers' half, and it is the remaining risk.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779008"/>
            <a:ext cx="11064240" cy="73152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888736"/>
            <a:ext cx="10607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The division of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b="1" dirty="0">
                <a:solidFill>
                  <a:srgbClr val="FFFFFF"/>
                </a:solidFill>
                <a:latin typeface="Calibri"/>
              </a:rPr>
              <a:t>: QEMU supplies the activity. The power model supplies the energy. </a:t>
            </a:r>
            <a:endParaRPr lang="en-US" b="1" dirty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Neither one is asked to do the other's job.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Where the number actually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QEMU never emits a milliwatt. It is worth being precise about which half of the prediction it supplies.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26464"/>
            <a:ext cx="11064240" cy="1133856"/>
          </a:xfrm>
          <a:prstGeom prst="roundRect">
            <a:avLst/>
          </a:prstGeom>
          <a:solidFill>
            <a:srgbClr val="F4F7FB"/>
          </a:solidFill>
          <a:ln>
            <a:solidFill>
              <a:srgbClr val="1F5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55448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02124"/>
                </a:solidFill>
                <a:latin typeface="Verdana"/>
              </a:rPr>
              <a:t>power  =  </a:t>
            </a:r>
            <a:r>
              <a:rPr sz="1700" b="1">
                <a:solidFill>
                  <a:srgbClr val="B31412"/>
                </a:solidFill>
                <a:latin typeface="Verdana"/>
              </a:rPr>
              <a:t>243.8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0.1266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ALU Mops/s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60.62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GB/s</a:t>
            </a:r>
            <a:r>
              <a:rPr sz="1700" b="1">
                <a:solidFill>
                  <a:srgbClr val="202124"/>
                </a:solidFill>
                <a:latin typeface="Verdana"/>
              </a:rPr>
              <a:t>  +  </a:t>
            </a:r>
            <a:r>
              <a:rPr sz="1700" b="1">
                <a:solidFill>
                  <a:srgbClr val="B31412"/>
                </a:solidFill>
                <a:latin typeface="Verdana"/>
              </a:rPr>
              <a:t>169.3</a:t>
            </a:r>
            <a:r>
              <a:rPr sz="1700" b="1">
                <a:solidFill>
                  <a:srgbClr val="202124"/>
                </a:solidFill>
                <a:latin typeface="Verdana"/>
              </a:rPr>
              <a:t> · </a:t>
            </a:r>
            <a:r>
              <a:rPr sz="1700" b="1">
                <a:solidFill>
                  <a:srgbClr val="187A33"/>
                </a:solidFill>
                <a:latin typeface="Verdana"/>
              </a:rPr>
              <a:t>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31412"/>
                </a:solidFill>
                <a:latin typeface="Verdana"/>
              </a:rPr>
              <a:t>MEASURED on silicon 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mW per unit of 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87A33"/>
                </a:solidFill>
                <a:latin typeface="Verdana"/>
              </a:rPr>
              <a:t>DERIVED from QEMU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2585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5F6368"/>
                </a:solidFill>
                <a:latin typeface="Verdana"/>
              </a:rPr>
              <a:t>the activity itself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798064"/>
          <a:ext cx="110642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came from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the activity a workload generates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QEMU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87A33"/>
                          </a:solidFill>
                          <a:latin typeface="Calibri"/>
                        </a:rPr>
                        <a:t>proven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1.75% vs the A55's own PMU, 50 applications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measured silicon 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6000"/>
                          </a:solidFill>
                          <a:latin typeface="Calibri"/>
                        </a:rPr>
                        <a:t>stood in for the spreadsheet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11-point calibration grid on a real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mW per unit of activity, BEFORE silicon exists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gate-level power estimation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31412"/>
                          </a:solidFill>
                          <a:latin typeface="Calibri"/>
                        </a:rPr>
                        <a:t>NOT tested here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this is the engineers' half, and it is the open link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663440"/>
            <a:ext cx="11064240" cy="1188720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8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In a real program that middle row is a power-estimation spreadsheet. Here we stood in for it by having the actual silicon. That is what makes this evidence rather than a proposal — with the energy side known-good, any error left over belongs to the activity side, which is the half under test. It is also why this does not replace the engineers: before tapeout there is no rail to measure, and the coefficients come from their estimates instead.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5CA8"/>
                </a:solidFill>
                <a:latin typeface="Verdana"/>
              </a:rPr>
              <a:t>What this campaign de-risks is the QEMU half — so that when gate-power estimates arrive, the activity being fed into them is already known to be right.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What this actually replaces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power estimate is two numbers multiplied together. Only one of them has ever had a way to get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187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9105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gate power per toggle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95681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engineers' power-estimation spreadsheet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22576"/>
            <a:ext cx="2103120" cy="310896"/>
          </a:xfrm>
          <a:prstGeom prst="roundRect">
            <a:avLst/>
          </a:prstGeom>
          <a:solidFill>
            <a:srgbClr val="18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3591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refines over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645920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Wide error bars early, and everyone knows it — but it REFINES as the design matures. Synthesis, then place-and-route, then silicon.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9504"/>
            <a:ext cx="11064240" cy="1298448"/>
          </a:xfrm>
          <a:prstGeom prst="roundRect">
            <a:avLst/>
          </a:prstGeom>
          <a:solidFill>
            <a:srgbClr val="F7F8FA"/>
          </a:solidFill>
          <a:ln>
            <a:solidFill>
              <a:srgbClr val="B31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Verdana"/>
              </a:rPr>
              <a:t>activity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38328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a flat assumption: 1%, 2%, 3%, 5%,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39"/>
            <a:ext cx="2103120" cy="310896"/>
          </a:xfrm>
          <a:prstGeom prst="roundRect">
            <a:avLst/>
          </a:prstGeom>
          <a:solidFill>
            <a:srgbClr val="B31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856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Verdana"/>
              </a:rPr>
              <a:t>never refines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072384"/>
            <a:ext cx="5577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Does not refine. Nothing connects a toggle rate to a workload, so there is no mechanism by which the guess improves.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61104"/>
            <a:ext cx="11064240" cy="71323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352544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Verdana"/>
              </a:rPr>
              <a:t>How do you correlate a 3% toggling assumption to a real use case? You cannot — there has been no instrument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That is the gap this closes: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385816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32180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name an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53218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get its activity factor, per workload, with a stated error against silicon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78424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1441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change the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61441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see the activity factor move, and by how much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" y="5971032"/>
            <a:ext cx="146304" cy="146304"/>
          </a:xfrm>
          <a:prstGeom prst="ellipse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90702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Verdana"/>
              </a:rPr>
              <a:t>compare two use cases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590702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on the same measured basis, not two different guesses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5CA8"/>
                </a:solidFill>
                <a:latin typeface="Verdana"/>
              </a:rPr>
              <a:t>The spreadsheet keeps its job. It just stops being multiplied by a number nobody can trace to anything.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1155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</a:rPr>
              <a:t>Part 1 — Pushing the bandwidth corner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2000" cy="3810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Verdana"/>
              </a:rPr>
              <a:t>The 50 applications top out at 0.60 GB/s for a real workload, but the model is fitted to 14 GB/s. These were written to occupy that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Verdana"/>
              </a:rPr>
              <a:t>wattson power · rails MEASURED on IMX95LPD5EVK-19 (NXP BCU) · A55 die 40–41 °C under load · activity DERIVED from QEMU TCG · 2026-09-10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Verdana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solidFill>
            <a:srgbClr val="1F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10607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Verdana"/>
              </a:rPr>
              <a:t>Exercised to 11 GB/s — 18x the corpus maximum. It holds on reads, and breaks on writes.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64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234440"/>
                <a:gridCol w="1325880"/>
                <a:gridCol w="1371600"/>
                <a:gridCol w="1371600"/>
                <a:gridCol w="164592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ALU M/s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pred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 mW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4MB — large memcpy (replicate)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11.12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290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2203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blit 256MB — large memcpy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2180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B06000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reduce 256MB — array reduction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5.47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512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1774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1797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spmv 64MB — sparse gather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latin typeface="Calibri"/>
                        </a:rPr>
                        <a:t>yuv 1080p — YUV420→RGB565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0.22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855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1393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Calibri"/>
                        </a:rPr>
                        <a:t>1456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87A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663440"/>
            <a:ext cx="11064240" cy="1316736"/>
          </a:xfrm>
          <a:prstGeom prst="roundRect">
            <a:avLst/>
          </a:prstGeom>
          <a:solidFill>
            <a:srgbClr val="FDF6EC"/>
          </a:solidFill>
          <a:ln>
            <a:solidFill>
              <a:srgbClr val="B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773168"/>
            <a:ext cx="105156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Verdana"/>
              </a:rPr>
              <a:t>And it found the model's edge. A pure READ stream at 5.5 GB/s predicts to 1.3%. A 50/50 read+write stream at 11 GB/s over-predicts by 12–13%. The model carries ONE bandwidth term, so a byte written and a byte read are charged the same power — and a written byte evidently costs less. Nothing in the 50-app corpus was write-heavy enough to expose that.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08192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5CA8"/>
                </a:solidFill>
                <a:latin typeface="Verdana"/>
              </a:rPr>
              <a:t>Two guesses that were wrong, and worth knowing: YUV→RGB frame conversion is compute-bound (1.4 IPC), and sparse gather is latency-bound, not bandwidth-bound.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3016</Words>
  <Application>Microsoft Office PowerPoint</Application>
  <PresentationFormat>Widescreen</PresentationFormat>
  <Paragraphs>582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joseph fox</dc:creator>
  <cp:keywords/>
  <dc:description>generated using python-pptx</dc:description>
  <cp:lastModifiedBy>joseph fox</cp:lastModifiedBy>
  <cp:revision>2</cp:revision>
  <dcterms:created xsi:type="dcterms:W3CDTF">2013-01-27T09:14:16Z</dcterms:created>
  <dcterms:modified xsi:type="dcterms:W3CDTF">2026-09-10T06:10:34Z</dcterms:modified>
  <cp:category/>
</cp:coreProperties>
</file>