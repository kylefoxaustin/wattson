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85800"/>
            <a:ext cx="10789920" cy="822960"/>
          </a:xfrm>
          <a:prstGeom prst="rect">
            <a:avLst/>
          </a:prstGeom>
          <a:noFill/>
        </p:spPr>
        <p:txBody>
          <a:bodyPr wrap="square">
            <a:spAutoFit/>
          </a:bodyPr>
          <a:lstStyle/>
          <a:p>
            <a:pPr algn="l"/>
            <a:r>
              <a:rPr sz="3400" b="1">
                <a:solidFill>
                  <a:srgbClr val="FFFFFF"/>
                </a:solidFill>
                <a:latin typeface="Calibri"/>
              </a:rPr>
              <a:t>From activity counts to measured silicon watts</a:t>
            </a:r>
          </a:p>
        </p:txBody>
      </p:sp>
      <p:sp>
        <p:nvSpPr>
          <p:cNvPr id="4" name="TextBox 3"/>
          <p:cNvSpPr txBox="1"/>
          <p:nvPr/>
        </p:nvSpPr>
        <p:spPr>
          <a:xfrm>
            <a:off x="731520" y="1572768"/>
            <a:ext cx="10789920" cy="457200"/>
          </a:xfrm>
          <a:prstGeom prst="rect">
            <a:avLst/>
          </a:prstGeom>
          <a:noFill/>
        </p:spPr>
        <p:txBody>
          <a:bodyPr wrap="square">
            <a:spAutoFit/>
          </a:bodyPr>
          <a:lstStyle/>
          <a:p>
            <a:pPr algn="l"/>
            <a:r>
              <a:rPr sz="1500" b="0">
                <a:solidFill>
                  <a:srgbClr val="C8D4E8"/>
                </a:solidFill>
                <a:latin typeface="Calibri"/>
              </a:rPr>
              <a:t>wattson power calibration · i.MX 95 · per-rail models driven by QEMU</a:t>
            </a:r>
          </a:p>
        </p:txBody>
      </p:sp>
      <p:sp>
        <p:nvSpPr>
          <p:cNvPr id="5" name="TextBox 4"/>
          <p:cNvSpPr txBox="1"/>
          <p:nvPr/>
        </p:nvSpPr>
        <p:spPr>
          <a:xfrm>
            <a:off x="731520" y="2743200"/>
            <a:ext cx="10789920" cy="502920"/>
          </a:xfrm>
          <a:prstGeom prst="rect">
            <a:avLst/>
          </a:prstGeom>
          <a:noFill/>
        </p:spPr>
        <p:txBody>
          <a:bodyPr wrap="square">
            <a:spAutoFit/>
          </a:bodyPr>
          <a:lstStyle/>
          <a:p>
            <a:pPr algn="l"/>
            <a:r>
              <a:rPr sz="1400" b="0">
                <a:solidFill>
                  <a:srgbClr val="202124"/>
                </a:solidFill>
                <a:latin typeface="Calibri"/>
              </a:rPr>
              <a:t>Thesis under test: a functional emulator's activity counts, regressed against measured per-rail silicon power, can predict the power of applications the model has never seen.</a:t>
            </a:r>
          </a:p>
        </p:txBody>
      </p:sp>
      <p:sp>
        <p:nvSpPr>
          <p:cNvPr id="6" name="Rounded Rectangle 5"/>
          <p:cNvSpPr/>
          <p:nvPr/>
        </p:nvSpPr>
        <p:spPr>
          <a:xfrm>
            <a:off x="731520" y="3474720"/>
            <a:ext cx="10789920" cy="1371600"/>
          </a:xfrm>
          <a:prstGeom prst="roundRect">
            <a:avLst/>
          </a:prstGeom>
          <a:solidFill>
            <a:srgbClr val="EFF3FA"/>
          </a:solidFill>
          <a:ln w="2540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39312"/>
            <a:ext cx="10241280" cy="457200"/>
          </a:xfrm>
          <a:prstGeom prst="rect">
            <a:avLst/>
          </a:prstGeom>
          <a:noFill/>
        </p:spPr>
        <p:txBody>
          <a:bodyPr wrap="square">
            <a:spAutoFit/>
          </a:bodyPr>
          <a:lstStyle/>
          <a:p>
            <a:pPr algn="l"/>
            <a:r>
              <a:rPr sz="2000" b="1">
                <a:solidFill>
                  <a:srgbClr val="187A33"/>
                </a:solidFill>
                <a:latin typeface="Calibri"/>
              </a:rPr>
              <a:t>RESULT: 6.4% mean error on total power, 50 real applications, predicted BLIND</a:t>
            </a:r>
          </a:p>
        </p:txBody>
      </p:sp>
      <p:sp>
        <p:nvSpPr>
          <p:cNvPr id="8" name="TextBox 7"/>
          <p:cNvSpPr txBox="1"/>
          <p:nvPr/>
        </p:nvSpPr>
        <p:spPr>
          <a:xfrm>
            <a:off x="1005840" y="4133087"/>
            <a:ext cx="10241280" cy="548640"/>
          </a:xfrm>
          <a:prstGeom prst="rect">
            <a:avLst/>
          </a:prstGeom>
          <a:noFill/>
        </p:spPr>
        <p:txBody>
          <a:bodyPr wrap="square">
            <a:spAutoFit/>
          </a:bodyPr>
          <a:lstStyle/>
          <a:p>
            <a:pPr algn="l"/>
            <a:r>
              <a:rPr sz="1200" b="0">
                <a:solidFill>
                  <a:srgbClr val="202124"/>
                </a:solidFill>
                <a:latin typeface="Calibri"/>
              </a:rPr>
              <a:t>Predictions were committed to git before a single power sample was taken on these applications. Coefficients came from an 11-point synthetic grid containing none of them.</a:t>
            </a:r>
          </a:p>
        </p:txBody>
      </p:sp>
      <p:sp>
        <p:nvSpPr>
          <p:cNvPr id="9" name="TextBox 8"/>
          <p:cNvSpPr txBox="1"/>
          <p:nvPr/>
        </p:nvSpPr>
        <p:spPr>
          <a:xfrm>
            <a:off x="731520" y="5120640"/>
            <a:ext cx="10789920" cy="320040"/>
          </a:xfrm>
          <a:prstGeom prst="rect">
            <a:avLst/>
          </a:prstGeom>
          <a:noFill/>
        </p:spPr>
        <p:txBody>
          <a:bodyPr wrap="square">
            <a:spAutoFit/>
          </a:bodyPr>
          <a:lstStyle/>
          <a:p>
            <a:pPr algn="l"/>
            <a:r>
              <a:rPr sz="1100" b="0">
                <a:solidFill>
                  <a:srgbClr val="5F6368"/>
                </a:solidFill>
                <a:latin typeface="Calibri"/>
              </a:rPr>
              <a:t>Kyle Fox · IMX95LPD5EVK-19 + NXP BCU per-rail shunts · qemu-aarch64 TCG plugins · 2026-09-10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Two questions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second one is the one people ask for. The first one is the one that has to be true first.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2</a:t>
            </a:r>
          </a:p>
        </p:txBody>
      </p:sp>
      <p:sp>
        <p:nvSpPr>
          <p:cNvPr id="8" name="Rounded Rectangle 7"/>
          <p:cNvSpPr/>
          <p:nvPr/>
        </p:nvSpPr>
        <p:spPr>
          <a:xfrm>
            <a:off x="548640" y="1481328"/>
            <a:ext cx="11064240" cy="2103120"/>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8680" y="175564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82880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1" name="TextBox 10"/>
          <p:cNvSpPr txBox="1"/>
          <p:nvPr/>
        </p:nvSpPr>
        <p:spPr>
          <a:xfrm>
            <a:off x="1627632" y="1682496"/>
            <a:ext cx="9692640" cy="402336"/>
          </a:xfrm>
          <a:prstGeom prst="rect">
            <a:avLst/>
          </a:prstGeom>
          <a:noFill/>
        </p:spPr>
        <p:txBody>
          <a:bodyPr wrap="square">
            <a:spAutoFit/>
          </a:bodyPr>
          <a:lstStyle/>
          <a:p>
            <a:pPr algn="l"/>
            <a:r>
              <a:rPr sz="1700" b="1">
                <a:solidFill>
                  <a:srgbClr val="202124"/>
                </a:solidFill>
                <a:latin typeface="Calibri"/>
              </a:rPr>
              <a:t>Can QEMU predict the ACTIVITY a workload generates on silicon?</a:t>
            </a:r>
          </a:p>
        </p:txBody>
      </p:sp>
      <p:sp>
        <p:nvSpPr>
          <p:cNvPr id="12" name="Rectangle 11"/>
          <p:cNvSpPr/>
          <p:nvPr/>
        </p:nvSpPr>
        <p:spPr>
          <a:xfrm>
            <a:off x="1627632" y="2194560"/>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92224" y="2267712"/>
            <a:ext cx="9418320" cy="457200"/>
          </a:xfrm>
          <a:prstGeom prst="rect">
            <a:avLst/>
          </a:prstGeom>
          <a:noFill/>
        </p:spPr>
        <p:txBody>
          <a:bodyPr wrap="square">
            <a:spAutoFit/>
          </a:bodyPr>
          <a:lstStyle/>
          <a:p>
            <a:pPr algn="l"/>
            <a:r>
              <a:rPr sz="1400" b="1">
                <a:solidFill>
                  <a:srgbClr val="FFFFFF"/>
                </a:solidFill>
                <a:latin typeface="Calibri"/>
              </a:rPr>
              <a:t>YES for instruction activity — 1.7% mean error over 50 applications, 41 of 50 within 2%.</a:t>
            </a:r>
          </a:p>
        </p:txBody>
      </p:sp>
      <p:sp>
        <p:nvSpPr>
          <p:cNvPr id="14" name="TextBox 13"/>
          <p:cNvSpPr txBox="1"/>
          <p:nvPr/>
        </p:nvSpPr>
        <p:spPr>
          <a:xfrm>
            <a:off x="1627632" y="2834640"/>
            <a:ext cx="9692640" cy="640080"/>
          </a:xfrm>
          <a:prstGeom prst="rect">
            <a:avLst/>
          </a:prstGeom>
          <a:noFill/>
        </p:spPr>
        <p:txBody>
          <a:bodyPr wrap="square">
            <a:spAutoFit/>
          </a:bodyPr>
          <a:lstStyle/>
          <a:p>
            <a:pPr algn="l"/>
            <a:r>
              <a:rPr sz="1200" b="0">
                <a:solidFill>
                  <a:srgbClr val="5F6368"/>
                </a:solidFill>
                <a:latin typeface="Calibri"/>
              </a:rPr>
              <a:t>Memory bandwidth is over-reported by roughly 2x. Bounded, understood, and localised to streaming workloads.</a:t>
            </a:r>
          </a:p>
        </p:txBody>
      </p:sp>
      <p:sp>
        <p:nvSpPr>
          <p:cNvPr id="15" name="Rounded Rectangle 14"/>
          <p:cNvSpPr/>
          <p:nvPr/>
        </p:nvSpPr>
        <p:spPr>
          <a:xfrm>
            <a:off x="548640" y="3803904"/>
            <a:ext cx="11064240" cy="2103120"/>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68680" y="407822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151376"/>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8" name="TextBox 17"/>
          <p:cNvSpPr txBox="1"/>
          <p:nvPr/>
        </p:nvSpPr>
        <p:spPr>
          <a:xfrm>
            <a:off x="1627632" y="4005072"/>
            <a:ext cx="9692640" cy="402336"/>
          </a:xfrm>
          <a:prstGeom prst="rect">
            <a:avLst/>
          </a:prstGeom>
          <a:noFill/>
        </p:spPr>
        <p:txBody>
          <a:bodyPr wrap="square">
            <a:spAutoFit/>
          </a:bodyPr>
          <a:lstStyle/>
          <a:p>
            <a:pPr algn="l"/>
            <a:r>
              <a:rPr sz="1700" b="1">
                <a:solidFill>
                  <a:srgbClr val="202124"/>
                </a:solidFill>
                <a:latin typeface="Calibri"/>
              </a:rPr>
              <a:t>Can that activity be turned into a POWER number?</a:t>
            </a:r>
          </a:p>
        </p:txBody>
      </p:sp>
      <p:sp>
        <p:nvSpPr>
          <p:cNvPr id="19" name="Rectangle 18"/>
          <p:cNvSpPr/>
          <p:nvPr/>
        </p:nvSpPr>
        <p:spPr>
          <a:xfrm>
            <a:off x="1627632" y="4517136"/>
            <a:ext cx="96926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92224" y="4590288"/>
            <a:ext cx="9418320" cy="457200"/>
          </a:xfrm>
          <a:prstGeom prst="rect">
            <a:avLst/>
          </a:prstGeom>
          <a:noFill/>
        </p:spPr>
        <p:txBody>
          <a:bodyPr wrap="square">
            <a:spAutoFit/>
          </a:bodyPr>
          <a:lstStyle/>
          <a:p>
            <a:pPr algn="l"/>
            <a:r>
              <a:rPr sz="1400" b="1">
                <a:solidFill>
                  <a:srgbClr val="FFFFFF"/>
                </a:solidFill>
                <a:latin typeface="Calibri"/>
              </a:rPr>
              <a:t>YES — 6.4% mean error on total power, 14.8% worst, on 50 applications the model never saw.</a:t>
            </a:r>
          </a:p>
        </p:txBody>
      </p:sp>
      <p:sp>
        <p:nvSpPr>
          <p:cNvPr id="21" name="TextBox 20"/>
          <p:cNvSpPr txBox="1"/>
          <p:nvPr/>
        </p:nvSpPr>
        <p:spPr>
          <a:xfrm>
            <a:off x="1627632" y="5157216"/>
            <a:ext cx="9692640" cy="640080"/>
          </a:xfrm>
          <a:prstGeom prst="rect">
            <a:avLst/>
          </a:prstGeom>
          <a:noFill/>
        </p:spPr>
        <p:txBody>
          <a:bodyPr wrap="square">
            <a:spAutoFit/>
          </a:bodyPr>
          <a:lstStyle/>
          <a:p>
            <a:pPr algn="l"/>
            <a:r>
              <a:rPr sz="1200" b="0">
                <a:solidFill>
                  <a:srgbClr val="5F6368"/>
                </a:solidFill>
                <a:latin typeface="Calibri"/>
              </a:rPr>
              <a:t>And 3.6% on concurrent multi-application mixes, predicted from QEMU alone.</a:t>
            </a:r>
          </a:p>
        </p:txBody>
      </p:sp>
      <p:sp>
        <p:nvSpPr>
          <p:cNvPr id="22" name="TextBox 21"/>
          <p:cNvSpPr txBox="1"/>
          <p:nvPr/>
        </p:nvSpPr>
        <p:spPr>
          <a:xfrm>
            <a:off x="548640" y="6053328"/>
            <a:ext cx="11064240" cy="274320"/>
          </a:xfrm>
          <a:prstGeom prst="rect">
            <a:avLst/>
          </a:prstGeom>
          <a:noFill/>
        </p:spPr>
        <p:txBody>
          <a:bodyPr wrap="square">
            <a:spAutoFit/>
          </a:bodyPr>
          <a:lstStyle/>
          <a:p>
            <a:pPr algn="l"/>
            <a:r>
              <a:rPr sz="1100" b="1">
                <a:solidFill>
                  <a:srgbClr val="1A53A0"/>
                </a:solidFill>
                <a:latin typeface="Calibri"/>
              </a:rPr>
              <a:t>Every number on this page is measured on silicon and predicted from an emulator that never ran on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we did</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Eight steps, in order. Each one had to work before the next was meaningful.</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3</a:t>
            </a:r>
          </a:p>
        </p:txBody>
      </p:sp>
      <p:graphicFrame>
        <p:nvGraphicFramePr>
          <p:cNvPr id="8" name="Table 7"/>
          <p:cNvGraphicFramePr>
            <a:graphicFrameLocks noGrp="1"/>
          </p:cNvGraphicFramePr>
          <p:nvPr/>
        </p:nvGraphicFramePr>
        <p:xfrm>
          <a:off x="548640" y="1463040"/>
          <a:ext cx="11064239" cy="4526280"/>
        </p:xfrm>
        <a:graphic>
          <a:graphicData uri="http://schemas.openxmlformats.org/drawingml/2006/table">
            <a:tbl>
              <a:tblPr firstRow="1" bandRow="1">
                <a:tableStyleId>{5C22544A-7EE6-4342-B048-85BDC9FD1C3A}</a:tableStyleId>
              </a:tblPr>
              <a:tblGrid>
                <a:gridCol w="457200"/>
                <a:gridCol w="3108960"/>
                <a:gridCol w="7498079"/>
              </a:tblGrid>
              <a:tr h="502920">
                <a:tc>
                  <a:txBody>
                    <a:bodyPr/>
                    <a:lstStyle/>
                    <a:p>
                      <a:r>
                        <a:rPr sz="1050" b="1">
                          <a:solidFill>
                            <a:srgbClr val="FFFFFF"/>
                          </a:solidFill>
                          <a:latin typeface="Calibri"/>
                        </a:rPr>
                        <a:t>#</a:t>
                      </a:r>
                    </a:p>
                  </a:txBody>
                  <a:tcPr>
                    <a:solidFill>
                      <a:srgbClr val="202124"/>
                    </a:solidFill>
                  </a:tcPr>
                </a:tc>
                <a:tc>
                  <a:txBody>
                    <a:bodyPr/>
                    <a:lstStyle/>
                    <a:p>
                      <a:r>
                        <a:rPr sz="1050" b="1">
                          <a:solidFill>
                            <a:srgbClr val="FFFFFF"/>
                          </a:solidFill>
                          <a:latin typeface="Calibri"/>
                        </a:rPr>
                        <a:t>step</a:t>
                      </a:r>
                    </a:p>
                  </a:txBody>
                  <a:tcPr>
                    <a:solidFill>
                      <a:srgbClr val="202124"/>
                    </a:solidFill>
                  </a:tcPr>
                </a:tc>
                <a:tc>
                  <a:txBody>
                    <a:bodyPr/>
                    <a:lstStyle/>
                    <a:p>
                      <a:r>
                        <a:rPr sz="1050" b="1">
                          <a:solidFill>
                            <a:srgbClr val="FFFFFF"/>
                          </a:solidFill>
                          <a:latin typeface="Calibri"/>
                        </a:rPr>
                        <a:t>what came out</a:t>
                      </a:r>
                    </a:p>
                  </a:txBody>
                  <a:tcPr>
                    <a:solidFill>
                      <a:srgbClr val="202124"/>
                    </a:solidFill>
                  </a:tcPr>
                </a:tc>
              </a:tr>
              <a:tr h="502920">
                <a:tc>
                  <a:txBody>
                    <a:bodyPr/>
                    <a:lstStyle/>
                    <a:p>
                      <a:r>
                        <a:rPr sz="1050" b="0">
                          <a:latin typeface="Calibri"/>
                        </a:rPr>
                        <a:t>1</a:t>
                      </a:r>
                    </a:p>
                  </a:txBody>
                  <a:tcPr>
                    <a:solidFill>
                      <a:srgbClr val="EFF3FA"/>
                    </a:solidFill>
                  </a:tcPr>
                </a:tc>
                <a:tc>
                  <a:txBody>
                    <a:bodyPr/>
                    <a:lstStyle/>
                    <a:p>
                      <a:r>
                        <a:rPr sz="1050" b="1">
                          <a:latin typeface="Calibri"/>
                        </a:rPr>
                        <a:t>Get the instrument</a:t>
                      </a:r>
                    </a:p>
                  </a:txBody>
                  <a:tcPr>
                    <a:solidFill>
                      <a:srgbClr val="EFF3FA"/>
                    </a:solidFill>
                  </a:tcPr>
                </a:tc>
                <a:tc>
                  <a:txBody>
                    <a:bodyPr/>
                    <a:lstStyle/>
                    <a:p>
                      <a:r>
                        <a:rPr sz="1050" b="0">
                          <a:latin typeface="Calibri"/>
                        </a:rPr>
                        <a:t>IMX95LPD5EVK-19 — the only i.MX 95 board with per-rail shunts. Flashed to match the FRDM's BSP first: the idle floor moves 29% between kernels.</a:t>
                      </a:r>
                    </a:p>
                  </a:txBody>
                  <a:tcPr>
                    <a:solidFill>
                      <a:srgbClr val="EFF3FA"/>
                    </a:solidFill>
                  </a:tcPr>
                </a:tc>
              </a:tr>
              <a:tr h="502920">
                <a:tc>
                  <a:txBody>
                    <a:bodyPr/>
                    <a:lstStyle/>
                    <a:p>
                      <a:r>
                        <a:rPr sz="1050" b="0">
                          <a:latin typeface="Calibri"/>
                        </a:rPr>
                        <a:t>2</a:t>
                      </a:r>
                    </a:p>
                  </a:txBody>
                  <a:tcPr>
                    <a:solidFill>
                      <a:srgbClr val="FFFFFF"/>
                    </a:solidFill>
                  </a:tcPr>
                </a:tc>
                <a:tc>
                  <a:txBody>
                    <a:bodyPr/>
                    <a:lstStyle/>
                    <a:p>
                      <a:r>
                        <a:rPr sz="1050" b="1">
                          <a:latin typeface="Calibri"/>
                        </a:rPr>
                        <a:t>Measure the idle floor</a:t>
                      </a:r>
                    </a:p>
                  </a:txBody>
                  <a:tcPr>
                    <a:solidFill>
                      <a:srgbClr val="FFFFFF"/>
                    </a:solidFill>
                  </a:tcPr>
                </a:tc>
                <a:tc>
                  <a:txBody>
                    <a:bodyPr/>
                    <a:lstStyle/>
                    <a:p>
                      <a:r>
                        <a:rPr sz="1050" b="0">
                          <a:latin typeface="Calibri"/>
                        </a:rPr>
                        <a:t>n=5, spreads ≤1.7%. 1139.5 mW total; vdd_soc is 72% of it, vdd_arm only 13%.</a:t>
                      </a:r>
                    </a:p>
                  </a:txBody>
                  <a:tcPr>
                    <a:solidFill>
                      <a:srgbClr val="FFFFFF"/>
                    </a:solidFill>
                  </a:tcPr>
                </a:tc>
              </a:tr>
              <a:tr h="502920">
                <a:tc>
                  <a:txBody>
                    <a:bodyPr/>
                    <a:lstStyle/>
                    <a:p>
                      <a:r>
                        <a:rPr sz="1050" b="0">
                          <a:latin typeface="Calibri"/>
                        </a:rPr>
                        <a:t>3</a:t>
                      </a:r>
                    </a:p>
                  </a:txBody>
                  <a:tcPr>
                    <a:solidFill>
                      <a:srgbClr val="EFF3FA"/>
                    </a:solidFill>
                  </a:tcPr>
                </a:tc>
                <a:tc>
                  <a:txBody>
                    <a:bodyPr/>
                    <a:lstStyle/>
                    <a:p>
                      <a:r>
                        <a:rPr sz="1050" b="1">
                          <a:latin typeface="Calibri"/>
                        </a:rPr>
                        <a:t>Ask what predicts core power</a:t>
                      </a:r>
                    </a:p>
                  </a:txBody>
                  <a:tcPr>
                    <a:solidFill>
                      <a:srgbClr val="EFF3FA"/>
                    </a:solidFill>
                  </a:tcPr>
                </a:tc>
                <a:tc>
                  <a:txBody>
                    <a:bodyPr/>
                    <a:lstStyle/>
                    <a:p>
                      <a:r>
                        <a:rPr sz="1050" b="0">
                          <a:latin typeface="Calibri"/>
                        </a:rPr>
                        <a:t>Instruction count — the activity vector's core term — explains R²=0.031. THREE PERCENT.</a:t>
                      </a:r>
                    </a:p>
                  </a:txBody>
                  <a:tcPr>
                    <a:solidFill>
                      <a:srgbClr val="EFF3FA"/>
                    </a:solidFill>
                  </a:tcPr>
                </a:tc>
              </a:tr>
              <a:tr h="502920">
                <a:tc>
                  <a:txBody>
                    <a:bodyPr/>
                    <a:lstStyle/>
                    <a:p>
                      <a:r>
                        <a:rPr sz="1050" b="0">
                          <a:latin typeface="Calibri"/>
                        </a:rPr>
                        <a:t>4</a:t>
                      </a:r>
                    </a:p>
                  </a:txBody>
                  <a:tcPr>
                    <a:solidFill>
                      <a:srgbClr val="FFFFFF"/>
                    </a:solidFill>
                  </a:tcPr>
                </a:tc>
                <a:tc>
                  <a:txBody>
                    <a:bodyPr/>
                    <a:lstStyle/>
                    <a:p>
                      <a:r>
                        <a:rPr sz="1050" b="1">
                          <a:latin typeface="Calibri"/>
                        </a:rPr>
                        <a:t>Find what does</a:t>
                      </a:r>
                    </a:p>
                  </a:txBody>
                  <a:tcPr>
                    <a:solidFill>
                      <a:srgbClr val="FFFFFF"/>
                    </a:solidFill>
                  </a:tcPr>
                </a:tc>
                <a:tc>
                  <a:txBody>
                    <a:bodyPr/>
                    <a:lstStyle/>
                    <a:p>
                      <a:r>
                        <a:rPr sz="1050" b="0">
                          <a:latin typeface="Calibri"/>
                        </a:rPr>
                        <a:t>A 2-D grid varying ALU rate and bandwidth INDEPENDENTLY. Both together: R²=0.990.</a:t>
                      </a:r>
                    </a:p>
                  </a:txBody>
                  <a:tcPr>
                    <a:solidFill>
                      <a:srgbClr val="FFFFFF"/>
                    </a:solidFill>
                  </a:tcPr>
                </a:tc>
              </a:tr>
              <a:tr h="502920">
                <a:tc>
                  <a:txBody>
                    <a:bodyPr/>
                    <a:lstStyle/>
                    <a:p>
                      <a:r>
                        <a:rPr sz="1050" b="0">
                          <a:latin typeface="Calibri"/>
                        </a:rPr>
                        <a:t>5</a:t>
                      </a:r>
                    </a:p>
                  </a:txBody>
                  <a:tcPr>
                    <a:solidFill>
                      <a:srgbClr val="EFF3FA"/>
                    </a:solidFill>
                  </a:tcPr>
                </a:tc>
                <a:tc>
                  <a:txBody>
                    <a:bodyPr/>
                    <a:lstStyle/>
                    <a:p>
                      <a:r>
                        <a:rPr sz="1050" b="1">
                          <a:latin typeface="Calibri"/>
                        </a:rPr>
                        <a:t>Add the missing term</a:t>
                      </a:r>
                    </a:p>
                  </a:txBody>
                  <a:tcPr>
                    <a:solidFill>
                      <a:srgbClr val="EFF3FA"/>
                    </a:solidFill>
                  </a:tcPr>
                </a:tc>
                <a:tc>
                  <a:txBody>
                    <a:bodyPr/>
                    <a:lstStyle/>
                    <a:p>
                      <a:r>
                        <a:rPr sz="1050" b="0">
                          <a:latin typeface="Calibri"/>
                        </a:rPr>
                        <a:t>598 Mops/s on 2 cores = 656 mW; 599 on 1 core = 465 mW. Active cores matter on their own.</a:t>
                      </a:r>
                    </a:p>
                  </a:txBody>
                  <a:tcPr>
                    <a:solidFill>
                      <a:srgbClr val="EFF3FA"/>
                    </a:solidFill>
                  </a:tcPr>
                </a:tc>
              </a:tr>
              <a:tr h="502920">
                <a:tc>
                  <a:txBody>
                    <a:bodyPr/>
                    <a:lstStyle/>
                    <a:p>
                      <a:r>
                        <a:rPr sz="1050" b="0">
                          <a:latin typeface="Calibri"/>
                        </a:rPr>
                        <a:t>6</a:t>
                      </a:r>
                    </a:p>
                  </a:txBody>
                  <a:tcPr>
                    <a:solidFill>
                      <a:srgbClr val="FFFFFF"/>
                    </a:solidFill>
                  </a:tcPr>
                </a:tc>
                <a:tc>
                  <a:txBody>
                    <a:bodyPr/>
                    <a:lstStyle/>
                    <a:p>
                      <a:r>
                        <a:rPr sz="1050" b="1">
                          <a:latin typeface="Calibri"/>
                        </a:rPr>
                        <a:t>Validate QEMU's counters</a:t>
                      </a:r>
                    </a:p>
                  </a:txBody>
                  <a:tcPr>
                    <a:solidFill>
                      <a:srgbClr val="FFFFFF"/>
                    </a:solidFill>
                  </a:tcPr>
                </a:tc>
                <a:tc>
                  <a:txBody>
                    <a:bodyPr/>
                    <a:lstStyle/>
                    <a:p>
                      <a:r>
                        <a:rPr sz="1050" b="0">
                          <a:latin typeface="Calibri"/>
                        </a:rPr>
                        <a:t>Same static binary under perf and under QEMU: instructions 0.1%, misses 0.01% in steady state.</a:t>
                      </a:r>
                    </a:p>
                  </a:txBody>
                  <a:tcPr>
                    <a:solidFill>
                      <a:srgbClr val="FFFFFF"/>
                    </a:solidFill>
                  </a:tcPr>
                </a:tc>
              </a:tr>
              <a:tr h="502920">
                <a:tc>
                  <a:txBody>
                    <a:bodyPr/>
                    <a:lstStyle/>
                    <a:p>
                      <a:r>
                        <a:rPr sz="1050" b="0">
                          <a:latin typeface="Calibri"/>
                        </a:rPr>
                        <a:t>7</a:t>
                      </a:r>
                    </a:p>
                  </a:txBody>
                  <a:tcPr>
                    <a:solidFill>
                      <a:srgbClr val="EFF3FA"/>
                    </a:solidFill>
                  </a:tcPr>
                </a:tc>
                <a:tc>
                  <a:txBody>
                    <a:bodyPr/>
                    <a:lstStyle/>
                    <a:p>
                      <a:r>
                        <a:rPr sz="1050" b="1">
                          <a:latin typeface="Calibri"/>
                        </a:rPr>
                        <a:t>Freeze predictions for 50 apps</a:t>
                      </a:r>
                    </a:p>
                  </a:txBody>
                  <a:tcPr>
                    <a:solidFill>
                      <a:srgbClr val="EFF3FA"/>
                    </a:solidFill>
                  </a:tcPr>
                </a:tc>
                <a:tc>
                  <a:txBody>
                    <a:bodyPr/>
                    <a:lstStyle/>
                    <a:p>
                      <a:r>
                        <a:rPr sz="1050" b="0">
                          <a:latin typeface="Calibri"/>
                        </a:rPr>
                        <a:t>Committed to git BEFORE any power measurement of those apps.</a:t>
                      </a:r>
                    </a:p>
                  </a:txBody>
                  <a:tcPr>
                    <a:solidFill>
                      <a:srgbClr val="EFF3FA"/>
                    </a:solidFill>
                  </a:tcPr>
                </a:tc>
              </a:tr>
              <a:tr h="502920">
                <a:tc>
                  <a:txBody>
                    <a:bodyPr/>
                    <a:lstStyle/>
                    <a:p>
                      <a:r>
                        <a:rPr sz="1050" b="0">
                          <a:latin typeface="Calibri"/>
                        </a:rPr>
                        <a:t>8</a:t>
                      </a:r>
                    </a:p>
                  </a:txBody>
                  <a:tcPr>
                    <a:solidFill>
                      <a:srgbClr val="FFFFFF"/>
                    </a:solidFill>
                  </a:tcPr>
                </a:tc>
                <a:tc>
                  <a:txBody>
                    <a:bodyPr/>
                    <a:lstStyle/>
                    <a:p>
                      <a:r>
                        <a:rPr sz="1050" b="1">
                          <a:latin typeface="Calibri"/>
                        </a:rPr>
                        <a:t>Measure and compare</a:t>
                      </a:r>
                    </a:p>
                  </a:txBody>
                  <a:tcPr>
                    <a:solidFill>
                      <a:srgbClr val="FFFFFF"/>
                    </a:solidFill>
                  </a:tcPr>
                </a:tc>
                <a:tc>
                  <a:txBody>
                    <a:bodyPr/>
                    <a:lstStyle/>
                    <a:p>
                      <a:r>
                        <a:rPr sz="1050" b="0">
                          <a:latin typeface="Calibri"/>
                        </a:rPr>
                        <a:t>6.4% mean error on total power.</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Does QEMU see the work the silicon does?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Instruction activity: QEMU's count against the A55's own inst_retired counter, same binary, same input, 50 applications.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4</a:t>
            </a:r>
          </a:p>
        </p:txBody>
      </p:sp>
      <p:sp>
        <p:nvSpPr>
          <p:cNvPr id="8" name="Rectangle 7"/>
          <p:cNvSpPr/>
          <p:nvPr/>
        </p:nvSpPr>
        <p:spPr>
          <a:xfrm>
            <a:off x="548640" y="1481328"/>
            <a:ext cx="11064240" cy="566928"/>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10607040" cy="402336"/>
          </a:xfrm>
          <a:prstGeom prst="rect">
            <a:avLst/>
          </a:prstGeom>
          <a:noFill/>
        </p:spPr>
        <p:txBody>
          <a:bodyPr wrap="square">
            <a:spAutoFit/>
          </a:bodyPr>
          <a:lstStyle/>
          <a:p>
            <a:pPr algn="l"/>
            <a:r>
              <a:rPr sz="1800" b="1">
                <a:solidFill>
                  <a:srgbClr val="FFFFFF"/>
                </a:solidFill>
                <a:latin typeface="Calibri"/>
              </a:rPr>
              <a:t>1.75% mean error, 0.65% median. QEMU counts the work.</a:t>
            </a:r>
          </a:p>
        </p:txBody>
      </p:sp>
      <p:sp>
        <p:nvSpPr>
          <p:cNvPr id="10" name="Rounded Rectangle 9"/>
          <p:cNvSpPr/>
          <p:nvPr/>
        </p:nvSpPr>
        <p:spPr>
          <a:xfrm>
            <a:off x="54864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77440"/>
            <a:ext cx="2121408" cy="566928"/>
          </a:xfrm>
          <a:prstGeom prst="rect">
            <a:avLst/>
          </a:prstGeom>
          <a:noFill/>
        </p:spPr>
        <p:txBody>
          <a:bodyPr wrap="square">
            <a:spAutoFit/>
          </a:bodyPr>
          <a:lstStyle/>
          <a:p>
            <a:pPr algn="ctr"/>
            <a:r>
              <a:rPr sz="3400" b="1">
                <a:solidFill>
                  <a:srgbClr val="187A33"/>
                </a:solidFill>
                <a:latin typeface="Calibri"/>
              </a:rPr>
              <a:t>23</a:t>
            </a:r>
          </a:p>
        </p:txBody>
      </p:sp>
      <p:sp>
        <p:nvSpPr>
          <p:cNvPr id="12" name="TextBox 11"/>
          <p:cNvSpPr txBox="1"/>
          <p:nvPr/>
        </p:nvSpPr>
        <p:spPr>
          <a:xfrm>
            <a:off x="548640" y="2926080"/>
            <a:ext cx="2121408" cy="292608"/>
          </a:xfrm>
          <a:prstGeom prst="rect">
            <a:avLst/>
          </a:prstGeom>
          <a:noFill/>
        </p:spPr>
        <p:txBody>
          <a:bodyPr wrap="square">
            <a:spAutoFit/>
          </a:bodyPr>
          <a:lstStyle/>
          <a:p>
            <a:pPr algn="ctr"/>
            <a:r>
              <a:rPr sz="1100" b="0">
                <a:solidFill>
                  <a:srgbClr val="5F6368"/>
                </a:solidFill>
                <a:latin typeface="Calibri"/>
              </a:rPr>
              <a:t>of 50 within 0.5%</a:t>
            </a:r>
          </a:p>
        </p:txBody>
      </p:sp>
      <p:sp>
        <p:nvSpPr>
          <p:cNvPr id="13" name="Rounded Rectangle 12"/>
          <p:cNvSpPr/>
          <p:nvPr/>
        </p:nvSpPr>
        <p:spPr>
          <a:xfrm>
            <a:off x="278892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88920" y="2377440"/>
            <a:ext cx="2121408" cy="566928"/>
          </a:xfrm>
          <a:prstGeom prst="rect">
            <a:avLst/>
          </a:prstGeom>
          <a:noFill/>
        </p:spPr>
        <p:txBody>
          <a:bodyPr wrap="square">
            <a:spAutoFit/>
          </a:bodyPr>
          <a:lstStyle/>
          <a:p>
            <a:pPr algn="ctr"/>
            <a:r>
              <a:rPr sz="3400" b="1">
                <a:solidFill>
                  <a:srgbClr val="187A33"/>
                </a:solidFill>
                <a:latin typeface="Calibri"/>
              </a:rPr>
              <a:t>28</a:t>
            </a:r>
          </a:p>
        </p:txBody>
      </p:sp>
      <p:sp>
        <p:nvSpPr>
          <p:cNvPr id="15" name="TextBox 14"/>
          <p:cNvSpPr txBox="1"/>
          <p:nvPr/>
        </p:nvSpPr>
        <p:spPr>
          <a:xfrm>
            <a:off x="2788920" y="2926080"/>
            <a:ext cx="2121408" cy="292608"/>
          </a:xfrm>
          <a:prstGeom prst="rect">
            <a:avLst/>
          </a:prstGeom>
          <a:noFill/>
        </p:spPr>
        <p:txBody>
          <a:bodyPr wrap="square">
            <a:spAutoFit/>
          </a:bodyPr>
          <a:lstStyle/>
          <a:p>
            <a:pPr algn="ctr"/>
            <a:r>
              <a:rPr sz="1100" b="0">
                <a:solidFill>
                  <a:srgbClr val="5F6368"/>
                </a:solidFill>
                <a:latin typeface="Calibri"/>
              </a:rPr>
              <a:t>of 50 within 1%</a:t>
            </a:r>
          </a:p>
        </p:txBody>
      </p:sp>
      <p:sp>
        <p:nvSpPr>
          <p:cNvPr id="16" name="Rounded Rectangle 15"/>
          <p:cNvSpPr/>
          <p:nvPr/>
        </p:nvSpPr>
        <p:spPr>
          <a:xfrm>
            <a:off x="502920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0" y="2377440"/>
            <a:ext cx="2121408" cy="566928"/>
          </a:xfrm>
          <a:prstGeom prst="rect">
            <a:avLst/>
          </a:prstGeom>
          <a:noFill/>
        </p:spPr>
        <p:txBody>
          <a:bodyPr wrap="square">
            <a:spAutoFit/>
          </a:bodyPr>
          <a:lstStyle/>
          <a:p>
            <a:pPr algn="ctr"/>
            <a:r>
              <a:rPr sz="3400" b="1">
                <a:solidFill>
                  <a:srgbClr val="187A33"/>
                </a:solidFill>
                <a:latin typeface="Calibri"/>
              </a:rPr>
              <a:t>41</a:t>
            </a:r>
          </a:p>
        </p:txBody>
      </p:sp>
      <p:sp>
        <p:nvSpPr>
          <p:cNvPr id="18" name="TextBox 17"/>
          <p:cNvSpPr txBox="1"/>
          <p:nvPr/>
        </p:nvSpPr>
        <p:spPr>
          <a:xfrm>
            <a:off x="5029200" y="2926080"/>
            <a:ext cx="2121408" cy="292608"/>
          </a:xfrm>
          <a:prstGeom prst="rect">
            <a:avLst/>
          </a:prstGeom>
          <a:noFill/>
        </p:spPr>
        <p:txBody>
          <a:bodyPr wrap="square">
            <a:spAutoFit/>
          </a:bodyPr>
          <a:lstStyle/>
          <a:p>
            <a:pPr algn="ctr"/>
            <a:r>
              <a:rPr sz="1100" b="0">
                <a:solidFill>
                  <a:srgbClr val="5F6368"/>
                </a:solidFill>
                <a:latin typeface="Calibri"/>
              </a:rPr>
              <a:t>of 50 within 2%</a:t>
            </a:r>
          </a:p>
        </p:txBody>
      </p:sp>
      <p:sp>
        <p:nvSpPr>
          <p:cNvPr id="19" name="Rounded Rectangle 18"/>
          <p:cNvSpPr/>
          <p:nvPr/>
        </p:nvSpPr>
        <p:spPr>
          <a:xfrm>
            <a:off x="7269480" y="2249424"/>
            <a:ext cx="2121408" cy="1060704"/>
          </a:xfrm>
          <a:prstGeom prst="roundRect">
            <a:avLst/>
          </a:prstGeom>
          <a:solidFill>
            <a:srgbClr val="F4F7FB"/>
          </a:solidFill>
          <a:ln>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69480" y="2377440"/>
            <a:ext cx="2121408" cy="566928"/>
          </a:xfrm>
          <a:prstGeom prst="rect">
            <a:avLst/>
          </a:prstGeom>
          <a:noFill/>
        </p:spPr>
        <p:txBody>
          <a:bodyPr wrap="square">
            <a:spAutoFit/>
          </a:bodyPr>
          <a:lstStyle/>
          <a:p>
            <a:pPr algn="ctr"/>
            <a:r>
              <a:rPr sz="3400" b="1">
                <a:solidFill>
                  <a:srgbClr val="187A33"/>
                </a:solidFill>
                <a:latin typeface="Calibri"/>
              </a:rPr>
              <a:t>45</a:t>
            </a:r>
          </a:p>
        </p:txBody>
      </p:sp>
      <p:sp>
        <p:nvSpPr>
          <p:cNvPr id="21" name="TextBox 20"/>
          <p:cNvSpPr txBox="1"/>
          <p:nvPr/>
        </p:nvSpPr>
        <p:spPr>
          <a:xfrm>
            <a:off x="7269480" y="2926080"/>
            <a:ext cx="2121408" cy="292608"/>
          </a:xfrm>
          <a:prstGeom prst="rect">
            <a:avLst/>
          </a:prstGeom>
          <a:noFill/>
        </p:spPr>
        <p:txBody>
          <a:bodyPr wrap="square">
            <a:spAutoFit/>
          </a:bodyPr>
          <a:lstStyle/>
          <a:p>
            <a:pPr algn="ctr"/>
            <a:r>
              <a:rPr sz="1100" b="0">
                <a:solidFill>
                  <a:srgbClr val="5F6368"/>
                </a:solidFill>
                <a:latin typeface="Calibri"/>
              </a:rPr>
              <a:t>of 50 within 5%</a:t>
            </a:r>
          </a:p>
        </p:txBody>
      </p:sp>
      <p:sp>
        <p:nvSpPr>
          <p:cNvPr id="22" name="Rounded Rectangle 21"/>
          <p:cNvSpPr/>
          <p:nvPr/>
        </p:nvSpPr>
        <p:spPr>
          <a:xfrm>
            <a:off x="9509760" y="2249424"/>
            <a:ext cx="2121408" cy="1060704"/>
          </a:xfrm>
          <a:prstGeom prst="roundRect">
            <a:avLst/>
          </a:prstGeom>
          <a:solidFill>
            <a:srgbClr val="F4F7FB"/>
          </a:solidFill>
          <a:ln>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09760" y="2377440"/>
            <a:ext cx="2121408" cy="566928"/>
          </a:xfrm>
          <a:prstGeom prst="rect">
            <a:avLst/>
          </a:prstGeom>
          <a:noFill/>
        </p:spPr>
        <p:txBody>
          <a:bodyPr wrap="square">
            <a:spAutoFit/>
          </a:bodyPr>
          <a:lstStyle/>
          <a:p>
            <a:pPr algn="ctr"/>
            <a:r>
              <a:rPr sz="3400" b="1">
                <a:solidFill>
                  <a:srgbClr val="B06000"/>
                </a:solidFill>
                <a:latin typeface="Calibri"/>
              </a:rPr>
              <a:t>5</a:t>
            </a:r>
          </a:p>
        </p:txBody>
      </p:sp>
      <p:sp>
        <p:nvSpPr>
          <p:cNvPr id="24" name="TextBox 23"/>
          <p:cNvSpPr txBox="1"/>
          <p:nvPr/>
        </p:nvSpPr>
        <p:spPr>
          <a:xfrm>
            <a:off x="9509760" y="2926080"/>
            <a:ext cx="2121408" cy="292608"/>
          </a:xfrm>
          <a:prstGeom prst="rect">
            <a:avLst/>
          </a:prstGeom>
          <a:noFill/>
        </p:spPr>
        <p:txBody>
          <a:bodyPr wrap="square">
            <a:spAutoFit/>
          </a:bodyPr>
          <a:lstStyle/>
          <a:p>
            <a:pPr algn="ctr"/>
            <a:r>
              <a:rPr sz="1100" b="0">
                <a:solidFill>
                  <a:srgbClr val="5F6368"/>
                </a:solidFill>
                <a:latin typeface="Calibri"/>
              </a:rPr>
              <a:t>of 50 above 5%</a:t>
            </a:r>
          </a:p>
        </p:txBody>
      </p:sp>
      <p:sp>
        <p:nvSpPr>
          <p:cNvPr id="25" name="TextBox 24"/>
          <p:cNvSpPr txBox="1"/>
          <p:nvPr/>
        </p:nvSpPr>
        <p:spPr>
          <a:xfrm>
            <a:off x="548640" y="3493008"/>
            <a:ext cx="11064240" cy="292608"/>
          </a:xfrm>
          <a:prstGeom prst="rect">
            <a:avLst/>
          </a:prstGeom>
          <a:noFill/>
        </p:spPr>
        <p:txBody>
          <a:bodyPr wrap="square">
            <a:spAutoFit/>
          </a:bodyPr>
          <a:lstStyle/>
          <a:p>
            <a:pPr algn="l"/>
            <a:r>
              <a:rPr sz="1150" b="1">
                <a:solidFill>
                  <a:srgbClr val="202124"/>
                </a:solidFill>
                <a:latin typeface="Calibri"/>
              </a:rPr>
              <a:t>The ten applications that agree least well — the whole tail, nothing hidden:</a:t>
            </a:r>
          </a:p>
        </p:txBody>
      </p:sp>
      <p:graphicFrame>
        <p:nvGraphicFramePr>
          <p:cNvPr id="26" name="Table 25"/>
          <p:cNvGraphicFramePr>
            <a:graphicFrameLocks noGrp="1"/>
          </p:cNvGraphicFramePr>
          <p:nvPr/>
        </p:nvGraphicFramePr>
        <p:xfrm>
          <a:off x="548640" y="3840480"/>
          <a:ext cx="5394960" cy="1975104"/>
        </p:xfrm>
        <a:graphic>
          <a:graphicData uri="http://schemas.openxmlformats.org/drawingml/2006/table">
            <a:tbl>
              <a:tblPr firstRow="1" bandRow="1">
                <a:tableStyleId>{5C22544A-7EE6-4342-B048-85BDC9FD1C3A}</a:tableStyleId>
              </a:tblPr>
              <a:tblGrid>
                <a:gridCol w="1737360"/>
                <a:gridCol w="1234440"/>
                <a:gridCol w="1234440"/>
                <a:gridCol w="1188720"/>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tr>
              <a:tr h="329184">
                <a:tc>
                  <a:txBody>
                    <a:bodyPr/>
                    <a:lstStyle/>
                    <a:p>
                      <a:r>
                        <a:rPr sz="1100" b="1">
                          <a:latin typeface="Calibri"/>
                        </a:rPr>
                        <a:t>bb-cksum</a:t>
                      </a:r>
                    </a:p>
                  </a:txBody>
                  <a:tcPr>
                    <a:solidFill>
                      <a:srgbClr val="EFF3FA"/>
                    </a:solidFill>
                  </a:tcPr>
                </a:tc>
                <a:tc>
                  <a:txBody>
                    <a:bodyPr/>
                    <a:lstStyle/>
                    <a:p>
                      <a:r>
                        <a:rPr sz="1100" b="0">
                          <a:latin typeface="Calibri"/>
                        </a:rPr>
                        <a:t>0.27</a:t>
                      </a:r>
                    </a:p>
                  </a:txBody>
                  <a:tcPr>
                    <a:solidFill>
                      <a:srgbClr val="EFF3FA"/>
                    </a:solidFill>
                  </a:tcPr>
                </a:tc>
                <a:tc>
                  <a:txBody>
                    <a:bodyPr/>
                    <a:lstStyle/>
                    <a:p>
                      <a:r>
                        <a:rPr sz="1100" b="0">
                          <a:latin typeface="Calibri"/>
                        </a:rPr>
                        <a:t>0.32</a:t>
                      </a:r>
                    </a:p>
                  </a:txBody>
                  <a:tcPr>
                    <a:solidFill>
                      <a:srgbClr val="EFF3FA"/>
                    </a:solidFill>
                  </a:tcPr>
                </a:tc>
                <a:tc>
                  <a:txBody>
                    <a:bodyPr/>
                    <a:lstStyle/>
                    <a:p>
                      <a:r>
                        <a:rPr sz="1100" b="1">
                          <a:solidFill>
                            <a:srgbClr val="B31412"/>
                          </a:solidFill>
                          <a:latin typeface="Calibri"/>
                        </a:rPr>
                        <a:t>-15.4%</a:t>
                      </a:r>
                    </a:p>
                  </a:txBody>
                  <a:tcPr>
                    <a:solidFill>
                      <a:srgbClr val="EFF3FA"/>
                    </a:solidFill>
                  </a:tcPr>
                </a:tc>
              </a:tr>
              <a:tr h="329184">
                <a:tc>
                  <a:txBody>
                    <a:bodyPr/>
                    <a:lstStyle/>
                    <a:p>
                      <a:r>
                        <a:rPr sz="1100" b="1">
                          <a:latin typeface="Calibri"/>
                        </a:rPr>
                        <a:t>bb-b64</a:t>
                      </a:r>
                    </a:p>
                  </a:txBody>
                  <a:tcPr>
                    <a:solidFill>
                      <a:srgbClr val="FFFFFF"/>
                    </a:solidFill>
                  </a:tcPr>
                </a:tc>
                <a:tc>
                  <a:txBody>
                    <a:bodyPr/>
                    <a:lstStyle/>
                    <a:p>
                      <a:r>
                        <a:rPr sz="1100" b="0">
                          <a:latin typeface="Calibri"/>
                        </a:rPr>
                        <a:t>0.73</a:t>
                      </a:r>
                    </a:p>
                  </a:txBody>
                  <a:tcPr>
                    <a:solidFill>
                      <a:srgbClr val="FFFFFF"/>
                    </a:solidFill>
                  </a:tcPr>
                </a:tc>
                <a:tc>
                  <a:txBody>
                    <a:bodyPr/>
                    <a:lstStyle/>
                    <a:p>
                      <a:r>
                        <a:rPr sz="1100" b="0">
                          <a:latin typeface="Calibri"/>
                        </a:rPr>
                        <a:t>0.83</a:t>
                      </a:r>
                    </a:p>
                  </a:txBody>
                  <a:tcPr>
                    <a:solidFill>
                      <a:srgbClr val="FFFFFF"/>
                    </a:solidFill>
                  </a:tcPr>
                </a:tc>
                <a:tc>
                  <a:txBody>
                    <a:bodyPr/>
                    <a:lstStyle/>
                    <a:p>
                      <a:r>
                        <a:rPr sz="1100" b="1">
                          <a:solidFill>
                            <a:srgbClr val="B31412"/>
                          </a:solidFill>
                          <a:latin typeface="Calibri"/>
                        </a:rPr>
                        <a:t>-12.6%</a:t>
                      </a:r>
                    </a:p>
                  </a:txBody>
                  <a:tcPr>
                    <a:solidFill>
                      <a:srgbClr val="FFFFFF"/>
                    </a:solidFill>
                  </a:tcPr>
                </a:tc>
              </a:tr>
              <a:tr h="329184">
                <a:tc>
                  <a:txBody>
                    <a:bodyPr/>
                    <a:lstStyle/>
                    <a:p>
                      <a:r>
                        <a:rPr sz="1100" b="1">
                          <a:latin typeface="Calibri"/>
                        </a:rPr>
                        <a:t>lz4-fast</a:t>
                      </a:r>
                    </a:p>
                  </a:txBody>
                  <a:tcPr>
                    <a:solidFill>
                      <a:srgbClr val="EFF3FA"/>
                    </a:solidFill>
                  </a:tcPr>
                </a:tc>
                <a:tc>
                  <a:txBody>
                    <a:bodyPr/>
                    <a:lstStyle/>
                    <a:p>
                      <a:r>
                        <a:rPr sz="1100" b="0">
                          <a:latin typeface="Calibri"/>
                        </a:rPr>
                        <a:t>0.28</a:t>
                      </a:r>
                    </a:p>
                  </a:txBody>
                  <a:tcPr>
                    <a:solidFill>
                      <a:srgbClr val="EFF3FA"/>
                    </a:solidFill>
                  </a:tcPr>
                </a:tc>
                <a:tc>
                  <a:txBody>
                    <a:bodyPr/>
                    <a:lstStyle/>
                    <a:p>
                      <a:r>
                        <a:rPr sz="1100" b="0">
                          <a:latin typeface="Calibri"/>
                        </a:rPr>
                        <a:t>0.30</a:t>
                      </a:r>
                    </a:p>
                  </a:txBody>
                  <a:tcPr>
                    <a:solidFill>
                      <a:srgbClr val="EFF3FA"/>
                    </a:solidFill>
                  </a:tcPr>
                </a:tc>
                <a:tc>
                  <a:txBody>
                    <a:bodyPr/>
                    <a:lstStyle/>
                    <a:p>
                      <a:r>
                        <a:rPr sz="1100" b="1">
                          <a:solidFill>
                            <a:srgbClr val="B06000"/>
                          </a:solidFill>
                          <a:latin typeface="Calibri"/>
                        </a:rPr>
                        <a:t>-7.5%</a:t>
                      </a:r>
                    </a:p>
                  </a:txBody>
                  <a:tcPr>
                    <a:solidFill>
                      <a:srgbClr val="EFF3FA"/>
                    </a:solidFill>
                  </a:tcPr>
                </a:tc>
              </a:tr>
              <a:tr h="329184">
                <a:tc>
                  <a:txBody>
                    <a:bodyPr/>
                    <a:lstStyle/>
                    <a:p>
                      <a:r>
                        <a:rPr sz="1100" b="1">
                          <a:latin typeface="Calibri"/>
                        </a:rPr>
                        <a:t>parson</a:t>
                      </a:r>
                    </a:p>
                  </a:txBody>
                  <a:tcPr>
                    <a:solidFill>
                      <a:srgbClr val="FFFFFF"/>
                    </a:solidFill>
                  </a:tcPr>
                </a:tc>
                <a:tc>
                  <a:txBody>
                    <a:bodyPr/>
                    <a:lstStyle/>
                    <a:p>
                      <a:r>
                        <a:rPr sz="1100" b="0">
                          <a:latin typeface="Calibri"/>
                        </a:rPr>
                        <a:t>1.90</a:t>
                      </a:r>
                    </a:p>
                  </a:txBody>
                  <a:tcPr>
                    <a:solidFill>
                      <a:srgbClr val="FFFFFF"/>
                    </a:solidFill>
                  </a:tcPr>
                </a:tc>
                <a:tc>
                  <a:txBody>
                    <a:bodyPr/>
                    <a:lstStyle/>
                    <a:p>
                      <a:r>
                        <a:rPr sz="1100" b="0">
                          <a:latin typeface="Calibri"/>
                        </a:rPr>
                        <a:t>2.00</a:t>
                      </a:r>
                    </a:p>
                  </a:txBody>
                  <a:tcPr>
                    <a:solidFill>
                      <a:srgbClr val="FFFFFF"/>
                    </a:solidFill>
                  </a:tcPr>
                </a:tc>
                <a:tc>
                  <a:txBody>
                    <a:bodyPr/>
                    <a:lstStyle/>
                    <a:p>
                      <a:r>
                        <a:rPr sz="1100" b="1">
                          <a:solidFill>
                            <a:srgbClr val="B06000"/>
                          </a:solidFill>
                          <a:latin typeface="Calibri"/>
                        </a:rPr>
                        <a:t>-5.2%</a:t>
                      </a:r>
                    </a:p>
                  </a:txBody>
                  <a:tcPr>
                    <a:solidFill>
                      <a:srgbClr val="FFFFFF"/>
                    </a:solidFill>
                  </a:tcPr>
                </a:tc>
              </a:tr>
              <a:tr h="329184">
                <a:tc>
                  <a:txBody>
                    <a:bodyPr/>
                    <a:lstStyle/>
                    <a:p>
                      <a:r>
                        <a:rPr sz="1100" b="1">
                          <a:latin typeface="Calibri"/>
                        </a:rPr>
                        <a:t>chase</a:t>
                      </a:r>
                    </a:p>
                  </a:txBody>
                  <a:tcPr>
                    <a:solidFill>
                      <a:srgbClr val="EFF3FA"/>
                    </a:solidFill>
                  </a:tcPr>
                </a:tc>
                <a:tc>
                  <a:txBody>
                    <a:bodyPr/>
                    <a:lstStyle/>
                    <a:p>
                      <a:r>
                        <a:rPr sz="1100" b="0">
                          <a:latin typeface="Calibri"/>
                        </a:rPr>
                        <a:t>0.21</a:t>
                      </a:r>
                    </a:p>
                  </a:txBody>
                  <a:tcPr>
                    <a:solidFill>
                      <a:srgbClr val="EFF3FA"/>
                    </a:solidFill>
                  </a:tcPr>
                </a:tc>
                <a:tc>
                  <a:txBody>
                    <a:bodyPr/>
                    <a:lstStyle/>
                    <a:p>
                      <a:r>
                        <a:rPr sz="1100" b="0">
                          <a:latin typeface="Calibri"/>
                        </a:rPr>
                        <a:t>0.20</a:t>
                      </a:r>
                    </a:p>
                  </a:txBody>
                  <a:tcPr>
                    <a:solidFill>
                      <a:srgbClr val="EFF3FA"/>
                    </a:solidFill>
                  </a:tcPr>
                </a:tc>
                <a:tc>
                  <a:txBody>
                    <a:bodyPr/>
                    <a:lstStyle/>
                    <a:p>
                      <a:r>
                        <a:rPr sz="1100" b="1">
                          <a:solidFill>
                            <a:srgbClr val="B06000"/>
                          </a:solidFill>
                          <a:latin typeface="Calibri"/>
                        </a:rPr>
                        <a:t>+5.1%</a:t>
                      </a:r>
                    </a:p>
                  </a:txBody>
                  <a:tcPr>
                    <a:solidFill>
                      <a:srgbClr val="EFF3FA"/>
                    </a:solidFill>
                  </a:tcPr>
                </a:tc>
              </a:tr>
            </a:tbl>
          </a:graphicData>
        </a:graphic>
      </p:graphicFrame>
      <p:graphicFrame>
        <p:nvGraphicFramePr>
          <p:cNvPr id="27" name="Table 26"/>
          <p:cNvGraphicFramePr>
            <a:graphicFrameLocks noGrp="1"/>
          </p:cNvGraphicFramePr>
          <p:nvPr/>
        </p:nvGraphicFramePr>
        <p:xfrm>
          <a:off x="6217920" y="3840480"/>
          <a:ext cx="5394960" cy="1975104"/>
        </p:xfrm>
        <a:graphic>
          <a:graphicData uri="http://schemas.openxmlformats.org/drawingml/2006/table">
            <a:tbl>
              <a:tblPr firstRow="1" bandRow="1">
                <a:tableStyleId>{5C22544A-7EE6-4342-B048-85BDC9FD1C3A}</a:tableStyleId>
              </a:tblPr>
              <a:tblGrid>
                <a:gridCol w="1737360"/>
                <a:gridCol w="1234440"/>
                <a:gridCol w="1234440"/>
                <a:gridCol w="1188720"/>
              </a:tblGrid>
              <a:tr h="329184">
                <a:tc>
                  <a:txBody>
                    <a:bodyPr/>
                    <a:lstStyle/>
                    <a:p>
                      <a:r>
                        <a:rPr sz="1100" b="1">
                          <a:solidFill>
                            <a:srgbClr val="FFFFFF"/>
                          </a:solidFill>
                          <a:latin typeface="Calibri"/>
                        </a:rPr>
                        <a:t>application</a:t>
                      </a:r>
                    </a:p>
                  </a:txBody>
                  <a:tcPr>
                    <a:solidFill>
                      <a:srgbClr val="202124"/>
                    </a:solidFill>
                  </a:tcPr>
                </a:tc>
                <a:tc>
                  <a:txBody>
                    <a:bodyPr/>
                    <a:lstStyle/>
                    <a:p>
                      <a:r>
                        <a:rPr sz="1100" b="1">
                          <a:solidFill>
                            <a:srgbClr val="FFFFFF"/>
                          </a:solidFill>
                          <a:latin typeface="Calibri"/>
                        </a:rPr>
                        <a:t>QEMU G-insn</a:t>
                      </a:r>
                    </a:p>
                  </a:txBody>
                  <a:tcPr>
                    <a:solidFill>
                      <a:srgbClr val="202124"/>
                    </a:solidFill>
                  </a:tcPr>
                </a:tc>
                <a:tc>
                  <a:txBody>
                    <a:bodyPr/>
                    <a:lstStyle/>
                    <a:p>
                      <a:r>
                        <a:rPr sz="1100" b="1">
                          <a:solidFill>
                            <a:srgbClr val="FFFFFF"/>
                          </a:solidFill>
                          <a:latin typeface="Calibri"/>
                        </a:rPr>
                        <a:t>silicon G-insn</a:t>
                      </a:r>
                    </a:p>
                  </a:txBody>
                  <a:tcPr>
                    <a:solidFill>
                      <a:srgbClr val="202124"/>
                    </a:solidFill>
                  </a:tcPr>
                </a:tc>
                <a:tc>
                  <a:txBody>
                    <a:bodyPr/>
                    <a:lstStyle/>
                    <a:p>
                      <a:r>
                        <a:rPr sz="1100" b="1">
                          <a:solidFill>
                            <a:srgbClr val="FFFFFF"/>
                          </a:solidFill>
                          <a:latin typeface="Calibri"/>
                        </a:rPr>
                        <a:t>error</a:t>
                      </a:r>
                    </a:p>
                  </a:txBody>
                  <a:tcPr>
                    <a:solidFill>
                      <a:srgbClr val="202124"/>
                    </a:solidFill>
                  </a:tcPr>
                </a:tc>
              </a:tr>
              <a:tr h="329184">
                <a:tc>
                  <a:txBody>
                    <a:bodyPr/>
                    <a:lstStyle/>
                    <a:p>
                      <a:r>
                        <a:rPr sz="1100" b="1">
                          <a:latin typeface="Calibri"/>
                        </a:rPr>
                        <a:t>bb-md5</a:t>
                      </a:r>
                    </a:p>
                  </a:txBody>
                  <a:tcPr>
                    <a:solidFill>
                      <a:srgbClr val="EFF3FA"/>
                    </a:solidFill>
                  </a:tcPr>
                </a:tc>
                <a:tc>
                  <a:txBody>
                    <a:bodyPr/>
                    <a:lstStyle/>
                    <a:p>
                      <a:r>
                        <a:rPr sz="1100" b="0">
                          <a:latin typeface="Calibri"/>
                        </a:rPr>
                        <a:t>0.42</a:t>
                      </a:r>
                    </a:p>
                  </a:txBody>
                  <a:tcPr>
                    <a:solidFill>
                      <a:srgbClr val="EFF3FA"/>
                    </a:solidFill>
                  </a:tcPr>
                </a:tc>
                <a:tc>
                  <a:txBody>
                    <a:bodyPr/>
                    <a:lstStyle/>
                    <a:p>
                      <a:r>
                        <a:rPr sz="1100" b="0">
                          <a:latin typeface="Calibri"/>
                        </a:rPr>
                        <a:t>0.44</a:t>
                      </a:r>
                    </a:p>
                  </a:txBody>
                  <a:tcPr>
                    <a:solidFill>
                      <a:srgbClr val="EFF3FA"/>
                    </a:solidFill>
                  </a:tcPr>
                </a:tc>
                <a:tc>
                  <a:txBody>
                    <a:bodyPr/>
                    <a:lstStyle/>
                    <a:p>
                      <a:r>
                        <a:rPr sz="1100" b="1">
                          <a:solidFill>
                            <a:srgbClr val="B06000"/>
                          </a:solidFill>
                          <a:latin typeface="Calibri"/>
                        </a:rPr>
                        <a:t>-4.3%</a:t>
                      </a:r>
                    </a:p>
                  </a:txBody>
                  <a:tcPr>
                    <a:solidFill>
                      <a:srgbClr val="EFF3FA"/>
                    </a:solidFill>
                  </a:tcPr>
                </a:tc>
              </a:tr>
              <a:tr h="329184">
                <a:tc>
                  <a:txBody>
                    <a:bodyPr/>
                    <a:lstStyle/>
                    <a:p>
                      <a:r>
                        <a:rPr sz="1100" b="1">
                          <a:latin typeface="Calibri"/>
                        </a:rPr>
                        <a:t>chase-big</a:t>
                      </a:r>
                    </a:p>
                  </a:txBody>
                  <a:tcPr>
                    <a:solidFill>
                      <a:srgbClr val="FFFFFF"/>
                    </a:solidFill>
                  </a:tcPr>
                </a:tc>
                <a:tc>
                  <a:txBody>
                    <a:bodyPr/>
                    <a:lstStyle/>
                    <a:p>
                      <a:r>
                        <a:rPr sz="1100" b="0">
                          <a:latin typeface="Calibri"/>
                        </a:rPr>
                        <a:t>0.32</a:t>
                      </a:r>
                    </a:p>
                  </a:txBody>
                  <a:tcPr>
                    <a:solidFill>
                      <a:srgbClr val="FFFFFF"/>
                    </a:solidFill>
                  </a:tcPr>
                </a:tc>
                <a:tc>
                  <a:txBody>
                    <a:bodyPr/>
                    <a:lstStyle/>
                    <a:p>
                      <a:r>
                        <a:rPr sz="1100" b="0">
                          <a:latin typeface="Calibri"/>
                        </a:rPr>
                        <a:t>0.33</a:t>
                      </a:r>
                    </a:p>
                  </a:txBody>
                  <a:tcPr>
                    <a:solidFill>
                      <a:srgbClr val="FFFFFF"/>
                    </a:solidFill>
                  </a:tcPr>
                </a:tc>
                <a:tc>
                  <a:txBody>
                    <a:bodyPr/>
                    <a:lstStyle/>
                    <a:p>
                      <a:r>
                        <a:rPr sz="1100" b="1">
                          <a:solidFill>
                            <a:srgbClr val="B06000"/>
                          </a:solidFill>
                          <a:latin typeface="Calibri"/>
                        </a:rPr>
                        <a:t>-3.6%</a:t>
                      </a:r>
                    </a:p>
                  </a:txBody>
                  <a:tcPr>
                    <a:solidFill>
                      <a:srgbClr val="FFFFFF"/>
                    </a:solidFill>
                  </a:tcPr>
                </a:tc>
              </a:tr>
              <a:tr h="329184">
                <a:tc>
                  <a:txBody>
                    <a:bodyPr/>
                    <a:lstStyle/>
                    <a:p>
                      <a:r>
                        <a:rPr sz="1100" b="1">
                          <a:latin typeface="Calibri"/>
                        </a:rPr>
                        <a:t>bb-awk</a:t>
                      </a:r>
                    </a:p>
                  </a:txBody>
                  <a:tcPr>
                    <a:solidFill>
                      <a:srgbClr val="EFF3FA"/>
                    </a:solidFill>
                  </a:tcPr>
                </a:tc>
                <a:tc>
                  <a:txBody>
                    <a:bodyPr/>
                    <a:lstStyle/>
                    <a:p>
                      <a:r>
                        <a:rPr sz="1100" b="0">
                          <a:latin typeface="Calibri"/>
                        </a:rPr>
                        <a:t>2.59</a:t>
                      </a:r>
                    </a:p>
                  </a:txBody>
                  <a:tcPr>
                    <a:solidFill>
                      <a:srgbClr val="EFF3FA"/>
                    </a:solidFill>
                  </a:tcPr>
                </a:tc>
                <a:tc>
                  <a:txBody>
                    <a:bodyPr/>
                    <a:lstStyle/>
                    <a:p>
                      <a:r>
                        <a:rPr sz="1100" b="0">
                          <a:latin typeface="Calibri"/>
                        </a:rPr>
                        <a:t>2.67</a:t>
                      </a:r>
                    </a:p>
                  </a:txBody>
                  <a:tcPr>
                    <a:solidFill>
                      <a:srgbClr val="EFF3FA"/>
                    </a:solidFill>
                  </a:tcPr>
                </a:tc>
                <a:tc>
                  <a:txBody>
                    <a:bodyPr/>
                    <a:lstStyle/>
                    <a:p>
                      <a:r>
                        <a:rPr sz="1100" b="1">
                          <a:solidFill>
                            <a:srgbClr val="B06000"/>
                          </a:solidFill>
                          <a:latin typeface="Calibri"/>
                        </a:rPr>
                        <a:t>-2.9%</a:t>
                      </a:r>
                    </a:p>
                  </a:txBody>
                  <a:tcPr>
                    <a:solidFill>
                      <a:srgbClr val="EFF3FA"/>
                    </a:solidFill>
                  </a:tcPr>
                </a:tc>
              </a:tr>
              <a:tr h="329184">
                <a:tc>
                  <a:txBody>
                    <a:bodyPr/>
                    <a:lstStyle/>
                    <a:p>
                      <a:r>
                        <a:rPr sz="1100" b="1">
                          <a:latin typeface="Calibri"/>
                        </a:rPr>
                        <a:t>bb-sortn</a:t>
                      </a:r>
                    </a:p>
                  </a:txBody>
                  <a:tcPr>
                    <a:solidFill>
                      <a:srgbClr val="FFFFFF"/>
                    </a:solidFill>
                  </a:tcPr>
                </a:tc>
                <a:tc>
                  <a:txBody>
                    <a:bodyPr/>
                    <a:lstStyle/>
                    <a:p>
                      <a:r>
                        <a:rPr sz="1100" b="0">
                          <a:latin typeface="Calibri"/>
                        </a:rPr>
                        <a:t>16.43</a:t>
                      </a:r>
                    </a:p>
                  </a:txBody>
                  <a:tcPr>
                    <a:solidFill>
                      <a:srgbClr val="FFFFFF"/>
                    </a:solidFill>
                  </a:tcPr>
                </a:tc>
                <a:tc>
                  <a:txBody>
                    <a:bodyPr/>
                    <a:lstStyle/>
                    <a:p>
                      <a:r>
                        <a:rPr sz="1100" b="0">
                          <a:latin typeface="Calibri"/>
                        </a:rPr>
                        <a:t>16.78</a:t>
                      </a:r>
                    </a:p>
                  </a:txBody>
                  <a:tcPr>
                    <a:solidFill>
                      <a:srgbClr val="FFFFFF"/>
                    </a:solidFill>
                  </a:tcPr>
                </a:tc>
                <a:tc>
                  <a:txBody>
                    <a:bodyPr/>
                    <a:lstStyle/>
                    <a:p>
                      <a:r>
                        <a:rPr sz="1100" b="1">
                          <a:solidFill>
                            <a:srgbClr val="B06000"/>
                          </a:solidFill>
                          <a:latin typeface="Calibri"/>
                        </a:rPr>
                        <a:t>-2.1%</a:t>
                      </a:r>
                    </a:p>
                  </a:txBody>
                  <a:tcPr>
                    <a:solidFill>
                      <a:srgbClr val="FFFFFF"/>
                    </a:solidFill>
                  </a:tcPr>
                </a:tc>
              </a:tr>
              <a:tr h="329184">
                <a:tc>
                  <a:txBody>
                    <a:bodyPr/>
                    <a:lstStyle/>
                    <a:p>
                      <a:r>
                        <a:rPr sz="1100" b="1">
                          <a:latin typeface="Calibri"/>
                        </a:rPr>
                        <a:t>mem</a:t>
                      </a:r>
                    </a:p>
                  </a:txBody>
                  <a:tcPr>
                    <a:solidFill>
                      <a:srgbClr val="EFF3FA"/>
                    </a:solidFill>
                  </a:tcPr>
                </a:tc>
                <a:tc>
                  <a:txBody>
                    <a:bodyPr/>
                    <a:lstStyle/>
                    <a:p>
                      <a:r>
                        <a:rPr sz="1100" b="0">
                          <a:latin typeface="Calibri"/>
                        </a:rPr>
                        <a:t>0.54</a:t>
                      </a:r>
                    </a:p>
                  </a:txBody>
                  <a:tcPr>
                    <a:solidFill>
                      <a:srgbClr val="EFF3FA"/>
                    </a:solidFill>
                  </a:tcPr>
                </a:tc>
                <a:tc>
                  <a:txBody>
                    <a:bodyPr/>
                    <a:lstStyle/>
                    <a:p>
                      <a:r>
                        <a:rPr sz="1100" b="0">
                          <a:latin typeface="Calibri"/>
                        </a:rPr>
                        <a:t>0.55</a:t>
                      </a:r>
                    </a:p>
                  </a:txBody>
                  <a:tcPr>
                    <a:solidFill>
                      <a:srgbClr val="EFF3FA"/>
                    </a:solidFill>
                  </a:tcPr>
                </a:tc>
                <a:tc>
                  <a:txBody>
                    <a:bodyPr/>
                    <a:lstStyle/>
                    <a:p>
                      <a:r>
                        <a:rPr sz="1100" b="1">
                          <a:solidFill>
                            <a:srgbClr val="187A33"/>
                          </a:solidFill>
                          <a:latin typeface="Calibri"/>
                        </a:rPr>
                        <a:t>-2.0%</a:t>
                      </a:r>
                    </a:p>
                  </a:txBody>
                  <a:tcPr>
                    <a:solidFill>
                      <a:srgbClr val="EFF3FA"/>
                    </a:solidFill>
                  </a:tcPr>
                </a:tc>
              </a:tr>
            </a:tbl>
          </a:graphicData>
        </a:graphic>
      </p:graphicFrame>
      <p:sp>
        <p:nvSpPr>
          <p:cNvPr id="28" name="TextBox 27"/>
          <p:cNvSpPr txBox="1"/>
          <p:nvPr/>
        </p:nvSpPr>
        <p:spPr>
          <a:xfrm>
            <a:off x="548640" y="5989320"/>
            <a:ext cx="11064240" cy="457200"/>
          </a:xfrm>
          <a:prstGeom prst="rect">
            <a:avLst/>
          </a:prstGeom>
          <a:noFill/>
        </p:spPr>
        <p:txBody>
          <a:bodyPr wrap="square">
            <a:spAutoFit/>
          </a:bodyPr>
          <a:lstStyle/>
          <a:p>
            <a:pPr algn="l"/>
            <a:r>
              <a:rPr sz="1100" b="0">
                <a:solidFill>
                  <a:srgbClr val="1A53A0"/>
                </a:solidFill>
                <a:latin typeface="Calibri"/>
              </a:rPr>
              <a:t>This is the activity factor a power model consumes. It is also, on its own, the thing you want when you are reading code flows and usage — how much work a workload does, where it does it, and how that changes when the code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1 — Where QEMU does not see the same work</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Memory bandwidth. QEMU's DRAM proxy against the A55's l3d_cache_refill counter.</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activity · QEMU counts DERIVED from TCG plugins · silicon counts MEASURED via ARM PMU on i.MX95 (A55 core 0, pinned 1.8 GHz)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5</a:t>
            </a:r>
          </a:p>
        </p:txBody>
      </p:sp>
      <p:sp>
        <p:nvSpPr>
          <p:cNvPr id="8" name="Rectangle 7"/>
          <p:cNvSpPr/>
          <p:nvPr/>
        </p:nvSpPr>
        <p:spPr>
          <a:xfrm>
            <a:off x="548640" y="1481328"/>
            <a:ext cx="11064240" cy="566928"/>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10607040" cy="420624"/>
          </a:xfrm>
          <a:prstGeom prst="rect">
            <a:avLst/>
          </a:prstGeom>
          <a:noFill/>
        </p:spPr>
        <p:txBody>
          <a:bodyPr wrap="square">
            <a:spAutoFit/>
          </a:bodyPr>
          <a:lstStyle/>
          <a:p>
            <a:pPr algn="l"/>
            <a:r>
              <a:rPr sz="1700" b="1">
                <a:solidFill>
                  <a:srgbClr val="FFFFFF"/>
                </a:solidFill>
                <a:latin typeface="Calibri"/>
              </a:rPr>
              <a:t>QEMU over-reports DRAM bandwidth by roughly 2x — the one place it does not match the silicon.</a:t>
            </a:r>
          </a:p>
        </p:txBody>
      </p:sp>
      <p:graphicFrame>
        <p:nvGraphicFramePr>
          <p:cNvPr id="10" name="Table 9"/>
          <p:cNvGraphicFramePr>
            <a:graphicFrameLocks noGrp="1"/>
          </p:cNvGraphicFramePr>
          <p:nvPr/>
        </p:nvGraphicFramePr>
        <p:xfrm>
          <a:off x="548640" y="2286000"/>
          <a:ext cx="11064240" cy="1609344"/>
        </p:xfrm>
        <a:graphic>
          <a:graphicData uri="http://schemas.openxmlformats.org/drawingml/2006/table">
            <a:tbl>
              <a:tblPr firstRow="1" bandRow="1">
                <a:tableStyleId>{5C22544A-7EE6-4342-B048-85BDC9FD1C3A}</a:tableStyleId>
              </a:tblPr>
              <a:tblGrid>
                <a:gridCol w="2194560"/>
                <a:gridCol w="2103120"/>
                <a:gridCol w="2286000"/>
                <a:gridCol w="1828800"/>
                <a:gridCol w="2651760"/>
              </a:tblGrid>
              <a:tr h="402336">
                <a:tc>
                  <a:txBody>
                    <a:bodyPr/>
                    <a:lstStyle/>
                    <a:p>
                      <a:r>
                        <a:rPr sz="1200" b="1">
                          <a:solidFill>
                            <a:srgbClr val="FFFFFF"/>
                          </a:solidFill>
                          <a:latin typeface="Calibri"/>
                        </a:rPr>
                        <a:t>application</a:t>
                      </a:r>
                    </a:p>
                  </a:txBody>
                  <a:tcPr>
                    <a:solidFill>
                      <a:srgbClr val="202124"/>
                    </a:solidFill>
                  </a:tcPr>
                </a:tc>
                <a:tc>
                  <a:txBody>
                    <a:bodyPr/>
                    <a:lstStyle/>
                    <a:p>
                      <a:r>
                        <a:rPr sz="1200" b="1">
                          <a:solidFill>
                            <a:srgbClr val="FFFFFF"/>
                          </a:solidFill>
                          <a:latin typeface="Calibri"/>
                        </a:rPr>
                        <a:t>QEMU GB/s</a:t>
                      </a:r>
                    </a:p>
                  </a:txBody>
                  <a:tcPr>
                    <a:solidFill>
                      <a:srgbClr val="202124"/>
                    </a:solidFill>
                  </a:tcPr>
                </a:tc>
                <a:tc>
                  <a:txBody>
                    <a:bodyPr/>
                    <a:lstStyle/>
                    <a:p>
                      <a:r>
                        <a:rPr sz="1200" b="1">
                          <a:solidFill>
                            <a:srgbClr val="FFFFFF"/>
                          </a:solidFill>
                          <a:latin typeface="Calibri"/>
                        </a:rPr>
                        <a:t>silicon GB/s</a:t>
                      </a:r>
                    </a:p>
                  </a:txBody>
                  <a:tcPr>
                    <a:solidFill>
                      <a:srgbClr val="202124"/>
                    </a:solidFill>
                  </a:tcPr>
                </a:tc>
                <a:tc>
                  <a:txBody>
                    <a:bodyPr/>
                    <a:lstStyle/>
                    <a:p>
                      <a:r>
                        <a:rPr sz="1200" b="1">
                          <a:solidFill>
                            <a:srgbClr val="FFFFFF"/>
                          </a:solidFill>
                          <a:latin typeface="Calibri"/>
                        </a:rPr>
                        <a:t>error</a:t>
                      </a:r>
                    </a:p>
                  </a:txBody>
                  <a:tcPr>
                    <a:solidFill>
                      <a:srgbClr val="202124"/>
                    </a:solidFill>
                  </a:tcPr>
                </a:tc>
                <a:tc>
                  <a:txBody>
                    <a:bodyPr/>
                    <a:lstStyle/>
                    <a:p>
                      <a:r>
                        <a:rPr sz="1200" b="1">
                          <a:solidFill>
                            <a:srgbClr val="FFFFFF"/>
                          </a:solidFill>
                          <a:latin typeface="Calibri"/>
                        </a:rPr>
                        <a:t>core-rail impact</a:t>
                      </a:r>
                    </a:p>
                  </a:txBody>
                  <a:tcPr>
                    <a:solidFill>
                      <a:srgbClr val="202124"/>
                    </a:solidFill>
                  </a:tcPr>
                </a:tc>
              </a:tr>
              <a:tr h="402336">
                <a:tc>
                  <a:txBody>
                    <a:bodyPr/>
                    <a:lstStyle/>
                    <a:p>
                      <a:r>
                        <a:rPr sz="1200" b="1">
                          <a:latin typeface="Calibri"/>
                        </a:rPr>
                        <a:t>mem-w</a:t>
                      </a:r>
                    </a:p>
                  </a:txBody>
                  <a:tcPr>
                    <a:solidFill>
                      <a:srgbClr val="EFF3FA"/>
                    </a:solidFill>
                  </a:tcPr>
                </a:tc>
                <a:tc>
                  <a:txBody>
                    <a:bodyPr/>
                    <a:lstStyle/>
                    <a:p>
                      <a:r>
                        <a:rPr sz="1200" b="0">
                          <a:latin typeface="Calibri"/>
                        </a:rPr>
                        <a:t>4.66</a:t>
                      </a:r>
                    </a:p>
                  </a:txBody>
                  <a:tcPr>
                    <a:solidFill>
                      <a:srgbClr val="EFF3FA"/>
                    </a:solidFill>
                  </a:tcPr>
                </a:tc>
                <a:tc>
                  <a:txBody>
                    <a:bodyPr/>
                    <a:lstStyle/>
                    <a:p>
                      <a:r>
                        <a:rPr sz="1200" b="0">
                          <a:latin typeface="Calibri"/>
                        </a:rPr>
                        <a:t>2.62</a:t>
                      </a:r>
                    </a:p>
                  </a:txBody>
                  <a:tcPr>
                    <a:solidFill>
                      <a:srgbClr val="EFF3FA"/>
                    </a:solidFill>
                  </a:tcPr>
                </a:tc>
                <a:tc>
                  <a:txBody>
                    <a:bodyPr/>
                    <a:lstStyle/>
                    <a:p>
                      <a:r>
                        <a:rPr sz="1200" b="1">
                          <a:solidFill>
                            <a:srgbClr val="B31412"/>
                          </a:solidFill>
                          <a:latin typeface="Calibri"/>
                        </a:rPr>
                        <a:t>+78%</a:t>
                      </a:r>
                    </a:p>
                  </a:txBody>
                  <a:tcPr>
                    <a:solidFill>
                      <a:srgbClr val="EFF3FA"/>
                    </a:solidFill>
                  </a:tcPr>
                </a:tc>
                <a:tc>
                  <a:txBody>
                    <a:bodyPr/>
                    <a:lstStyle/>
                    <a:p>
                      <a:r>
                        <a:rPr sz="1200" b="0">
                          <a:latin typeface="Calibri"/>
                        </a:rPr>
                        <a:t>124 mW</a:t>
                      </a:r>
                    </a:p>
                  </a:txBody>
                  <a:tcPr>
                    <a:solidFill>
                      <a:srgbClr val="EFF3FA"/>
                    </a:solidFill>
                  </a:tcPr>
                </a:tc>
              </a:tr>
              <a:tr h="402336">
                <a:tc>
                  <a:txBody>
                    <a:bodyPr/>
                    <a:lstStyle/>
                    <a:p>
                      <a:r>
                        <a:rPr sz="1200" b="1">
                          <a:latin typeface="Calibri"/>
                        </a:rPr>
                        <a:t>mem</a:t>
                      </a:r>
                    </a:p>
                  </a:txBody>
                  <a:tcPr>
                    <a:solidFill>
                      <a:srgbClr val="FFFFFF"/>
                    </a:solidFill>
                  </a:tcPr>
                </a:tc>
                <a:tc>
                  <a:txBody>
                    <a:bodyPr/>
                    <a:lstStyle/>
                    <a:p>
                      <a:r>
                        <a:rPr sz="1200" b="0">
                          <a:latin typeface="Calibri"/>
                        </a:rPr>
                        <a:t>4.93</a:t>
                      </a:r>
                    </a:p>
                  </a:txBody>
                  <a:tcPr>
                    <a:solidFill>
                      <a:srgbClr val="FFFFFF"/>
                    </a:solidFill>
                  </a:tcPr>
                </a:tc>
                <a:tc>
                  <a:txBody>
                    <a:bodyPr/>
                    <a:lstStyle/>
                    <a:p>
                      <a:r>
                        <a:rPr sz="1200" b="0">
                          <a:latin typeface="Calibri"/>
                        </a:rPr>
                        <a:t>2.53</a:t>
                      </a:r>
                    </a:p>
                  </a:txBody>
                  <a:tcPr>
                    <a:solidFill>
                      <a:srgbClr val="FFFFFF"/>
                    </a:solidFill>
                  </a:tcPr>
                </a:tc>
                <a:tc>
                  <a:txBody>
                    <a:bodyPr/>
                    <a:lstStyle/>
                    <a:p>
                      <a:r>
                        <a:rPr sz="1200" b="1">
                          <a:solidFill>
                            <a:srgbClr val="B31412"/>
                          </a:solidFill>
                          <a:latin typeface="Calibri"/>
                        </a:rPr>
                        <a:t>+95%</a:t>
                      </a:r>
                    </a:p>
                  </a:txBody>
                  <a:tcPr>
                    <a:solidFill>
                      <a:srgbClr val="FFFFFF"/>
                    </a:solidFill>
                  </a:tcPr>
                </a:tc>
                <a:tc>
                  <a:txBody>
                    <a:bodyPr/>
                    <a:lstStyle/>
                    <a:p>
                      <a:r>
                        <a:rPr sz="1200" b="0">
                          <a:latin typeface="Calibri"/>
                        </a:rPr>
                        <a:t>145 mW</a:t>
                      </a:r>
                    </a:p>
                  </a:txBody>
                  <a:tcPr>
                    <a:solidFill>
                      <a:srgbClr val="FFFFFF"/>
                    </a:solidFill>
                  </a:tcPr>
                </a:tc>
              </a:tr>
              <a:tr h="402336">
                <a:tc>
                  <a:txBody>
                    <a:bodyPr/>
                    <a:lstStyle/>
                    <a:p>
                      <a:r>
                        <a:rPr sz="1200" b="1">
                          <a:latin typeface="Calibri"/>
                        </a:rPr>
                        <a:t>mm-big</a:t>
                      </a:r>
                    </a:p>
                  </a:txBody>
                  <a:tcPr>
                    <a:solidFill>
                      <a:srgbClr val="EFF3FA"/>
                    </a:solidFill>
                  </a:tcPr>
                </a:tc>
                <a:tc>
                  <a:txBody>
                    <a:bodyPr/>
                    <a:lstStyle/>
                    <a:p>
                      <a:r>
                        <a:rPr sz="1200" b="0">
                          <a:latin typeface="Calibri"/>
                        </a:rPr>
                        <a:t>1.49</a:t>
                      </a:r>
                    </a:p>
                  </a:txBody>
                  <a:tcPr>
                    <a:solidFill>
                      <a:srgbClr val="EFF3FA"/>
                    </a:solidFill>
                  </a:tcPr>
                </a:tc>
                <a:tc>
                  <a:txBody>
                    <a:bodyPr/>
                    <a:lstStyle/>
                    <a:p>
                      <a:r>
                        <a:rPr sz="1200" b="0">
                          <a:latin typeface="Calibri"/>
                        </a:rPr>
                        <a:t>0.60</a:t>
                      </a:r>
                    </a:p>
                  </a:txBody>
                  <a:tcPr>
                    <a:solidFill>
                      <a:srgbClr val="EFF3FA"/>
                    </a:solidFill>
                  </a:tcPr>
                </a:tc>
                <a:tc>
                  <a:txBody>
                    <a:bodyPr/>
                    <a:lstStyle/>
                    <a:p>
                      <a:r>
                        <a:rPr sz="1200" b="1">
                          <a:solidFill>
                            <a:srgbClr val="B31412"/>
                          </a:solidFill>
                          <a:latin typeface="Calibri"/>
                        </a:rPr>
                        <a:t>+149%</a:t>
                      </a:r>
                    </a:p>
                  </a:txBody>
                  <a:tcPr>
                    <a:solidFill>
                      <a:srgbClr val="EFF3FA"/>
                    </a:solidFill>
                  </a:tcPr>
                </a:tc>
                <a:tc>
                  <a:txBody>
                    <a:bodyPr/>
                    <a:lstStyle/>
                    <a:p>
                      <a:r>
                        <a:rPr sz="1200" b="0">
                          <a:latin typeface="Calibri"/>
                        </a:rPr>
                        <a:t>54 mW</a:t>
                      </a:r>
                    </a:p>
                  </a:txBody>
                  <a:tcPr>
                    <a:solidFill>
                      <a:srgbClr val="EFF3FA"/>
                    </a:solidFill>
                  </a:tcPr>
                </a:tc>
              </a:tr>
            </a:tbl>
          </a:graphicData>
        </a:graphic>
      </p:graphicFrame>
      <p:sp>
        <p:nvSpPr>
          <p:cNvPr id="11" name="TextBox 10"/>
          <p:cNvSpPr txBox="1"/>
          <p:nvPr/>
        </p:nvSpPr>
        <p:spPr>
          <a:xfrm>
            <a:off x="548640" y="3931920"/>
            <a:ext cx="11064240" cy="310896"/>
          </a:xfrm>
          <a:prstGeom prst="rect">
            <a:avLst/>
          </a:prstGeom>
          <a:noFill/>
        </p:spPr>
        <p:txBody>
          <a:bodyPr wrap="square">
            <a:spAutoFit/>
          </a:bodyPr>
          <a:lstStyle/>
          <a:p>
            <a:pPr algn="l"/>
            <a:r>
              <a:rPr sz="1200" b="1">
                <a:solidFill>
                  <a:srgbClr val="202124"/>
                </a:solidFill>
                <a:latin typeface="Calibri"/>
              </a:rPr>
              <a:t>Those are the only 3 applications of 50 that exceed 0.5 GB/s.</a:t>
            </a:r>
          </a:p>
        </p:txBody>
      </p:sp>
      <p:sp>
        <p:nvSpPr>
          <p:cNvPr id="12" name="TextBox 11"/>
          <p:cNvSpPr txBox="1"/>
          <p:nvPr/>
        </p:nvSpPr>
        <p:spPr>
          <a:xfrm>
            <a:off x="548640" y="4315968"/>
            <a:ext cx="11064240" cy="960120"/>
          </a:xfrm>
          <a:prstGeom prst="rect">
            <a:avLst/>
          </a:prstGeom>
          <a:noFill/>
        </p:spPr>
        <p:txBody>
          <a:bodyPr wrap="square">
            <a:spAutoFit/>
          </a:bodyPr>
          <a:lstStyle/>
          <a:p>
            <a:pPr algn="l"/>
            <a:r>
              <a:rPr sz="1150" b="0">
                <a:solidFill>
                  <a:srgbClr val="5F6368"/>
                </a:solidFill>
                <a:latin typeface="Calibri"/>
              </a:rPr>
              <a:t>The cause is write streaming: the A55 skips read-for-ownership on a full cache-line write, so the line is never fetched from DRAM. QEMU's cache model allocates it anyway and counts a transaction the silicon never issued. It is a known, single-mechanism gap — not noise — and it is the one piece of upstream work this campaign produced.</a:t>
            </a:r>
          </a:p>
        </p:txBody>
      </p:sp>
      <p:sp>
        <p:nvSpPr>
          <p:cNvPr id="13" name="Rounded Rectangle 12"/>
          <p:cNvSpPr/>
          <p:nvPr/>
        </p:nvSpPr>
        <p:spPr>
          <a:xfrm>
            <a:off x="548640" y="5358384"/>
            <a:ext cx="11064240" cy="969264"/>
          </a:xfrm>
          <a:prstGeom prst="roundRect">
            <a:avLst/>
          </a:prstGeom>
          <a:solidFill>
            <a:srgbClr val="F4F7FB"/>
          </a:solidFill>
          <a:ln>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468112"/>
            <a:ext cx="10515600" cy="768096"/>
          </a:xfrm>
          <a:prstGeom prst="rect">
            <a:avLst/>
          </a:prstGeom>
          <a:noFill/>
        </p:spPr>
        <p:txBody>
          <a:bodyPr wrap="square">
            <a:spAutoFit/>
          </a:bodyPr>
          <a:lstStyle/>
          <a:p>
            <a:pPr algn="l"/>
            <a:r>
              <a:rPr sz="1200" b="0">
                <a:solidFill>
                  <a:srgbClr val="202124"/>
                </a:solidFill>
                <a:latin typeface="Calibri"/>
              </a:rPr>
              <a:t>Why the power result survives it: 47 of 50 applications run below 0.5 GB/s, where the entire bandwidth term is worth under 27 mW of a ~1400 mW budget. The error is real, it is in the right place to be harmless for application workloads, and it is the first thing to fix before this is pointed at streaming or DMA-heavy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power models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Measured on silicon, driven by QEMU activity. Valid at the stated OPP — the frequency is part of the claim.</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6</a:t>
            </a:r>
          </a:p>
        </p:txBody>
      </p:sp>
      <p:sp>
        <p:nvSpPr>
          <p:cNvPr id="8" name="Rounded Rectangle 7"/>
          <p:cNvSpPr/>
          <p:nvPr/>
        </p:nvSpPr>
        <p:spPr>
          <a:xfrm>
            <a:off x="548640" y="1463040"/>
            <a:ext cx="11064240" cy="1828800"/>
          </a:xfrm>
          <a:prstGeom prst="roundRect">
            <a:avLst/>
          </a:prstGeom>
          <a:solidFill>
            <a:srgbClr val="EFF3FA"/>
          </a:solidFill>
          <a:ln w="19050">
            <a:solidFill>
              <a:srgbClr val="1A53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00200"/>
            <a:ext cx="10515600" cy="329184"/>
          </a:xfrm>
          <a:prstGeom prst="rect">
            <a:avLst/>
          </a:prstGeom>
          <a:noFill/>
        </p:spPr>
        <p:txBody>
          <a:bodyPr wrap="square">
            <a:spAutoFit/>
          </a:bodyPr>
          <a:lstStyle/>
          <a:p>
            <a:pPr algn="l"/>
            <a:r>
              <a:rPr sz="1500" b="1">
                <a:solidFill>
                  <a:srgbClr val="1A53A0"/>
                </a:solidFill>
                <a:latin typeface="Consolas"/>
              </a:rPr>
              <a:t>vdd_arm  =  243.8  +  0.1266·ALU Mops/s  +  60.62·GB/s  +  169.3·active_cores</a:t>
            </a:r>
          </a:p>
        </p:txBody>
      </p:sp>
      <p:sp>
        <p:nvSpPr>
          <p:cNvPr id="10" name="TextBox 9"/>
          <p:cNvSpPr txBox="1"/>
          <p:nvPr/>
        </p:nvSpPr>
        <p:spPr>
          <a:xfrm>
            <a:off x="822960" y="1993392"/>
            <a:ext cx="10515600" cy="329184"/>
          </a:xfrm>
          <a:prstGeom prst="rect">
            <a:avLst/>
          </a:prstGeom>
          <a:noFill/>
        </p:spPr>
        <p:txBody>
          <a:bodyPr wrap="square">
            <a:spAutoFit/>
          </a:bodyPr>
          <a:lstStyle/>
          <a:p>
            <a:pPr algn="l"/>
            <a:r>
              <a:rPr sz="1500" b="1">
                <a:solidFill>
                  <a:srgbClr val="1A53A0"/>
                </a:solidFill>
                <a:latin typeface="Consolas"/>
              </a:rPr>
              <a:t>vdd_soc  =  851.0  +  0.0043·ALU Mops/s  +  20.40·GB/s</a:t>
            </a:r>
          </a:p>
        </p:txBody>
      </p:sp>
      <p:sp>
        <p:nvSpPr>
          <p:cNvPr id="11" name="TextBox 10"/>
          <p:cNvSpPr txBox="1"/>
          <p:nvPr/>
        </p:nvSpPr>
        <p:spPr>
          <a:xfrm>
            <a:off x="822960" y="2386584"/>
            <a:ext cx="10515600" cy="329184"/>
          </a:xfrm>
          <a:prstGeom prst="rect">
            <a:avLst/>
          </a:prstGeom>
          <a:noFill/>
        </p:spPr>
        <p:txBody>
          <a:bodyPr wrap="square">
            <a:spAutoFit/>
          </a:bodyPr>
          <a:lstStyle/>
          <a:p>
            <a:pPr algn="l"/>
            <a:r>
              <a:rPr sz="1500" b="1">
                <a:solidFill>
                  <a:srgbClr val="1A53A0"/>
                </a:solidFill>
                <a:latin typeface="Consolas"/>
              </a:rPr>
              <a:t>DRAM     =   45.7  +  160.06·√(GB/s)                        R² = 0.994</a:t>
            </a:r>
          </a:p>
        </p:txBody>
      </p:sp>
      <p:sp>
        <p:nvSpPr>
          <p:cNvPr id="12" name="TextBox 11"/>
          <p:cNvSpPr txBox="1"/>
          <p:nvPr/>
        </p:nvSpPr>
        <p:spPr>
          <a:xfrm>
            <a:off x="822960" y="2834640"/>
            <a:ext cx="10515600" cy="329184"/>
          </a:xfrm>
          <a:prstGeom prst="rect">
            <a:avLst/>
          </a:prstGeom>
          <a:noFill/>
        </p:spPr>
        <p:txBody>
          <a:bodyPr wrap="square">
            <a:spAutoFit/>
          </a:bodyPr>
          <a:lstStyle/>
          <a:p>
            <a:pPr algn="l"/>
            <a:r>
              <a:rPr sz="1150" b="0">
                <a:solidFill>
                  <a:srgbClr val="202124"/>
                </a:solidFill>
                <a:latin typeface="Calibri"/>
              </a:rPr>
              <a:t>mW, at 1800 MHz. vdd_soc holds at 900 MHz unchanged (2.5% MAPE). vdd_arm needs its own per-OPP set.</a:t>
            </a:r>
          </a:p>
        </p:txBody>
      </p:sp>
      <p:graphicFrame>
        <p:nvGraphicFramePr>
          <p:cNvPr id="13" name="Table 12"/>
          <p:cNvGraphicFramePr>
            <a:graphicFrameLocks noGrp="1"/>
          </p:cNvGraphicFramePr>
          <p:nvPr/>
        </p:nvGraphicFramePr>
        <p:xfrm>
          <a:off x="548640" y="3520440"/>
          <a:ext cx="11064240" cy="1609344"/>
        </p:xfrm>
        <a:graphic>
          <a:graphicData uri="http://schemas.openxmlformats.org/drawingml/2006/table">
            <a:tbl>
              <a:tblPr firstRow="1" bandRow="1">
                <a:tableStyleId>{5C22544A-7EE6-4342-B048-85BDC9FD1C3A}</a:tableStyleId>
              </a:tblPr>
              <a:tblGrid>
                <a:gridCol w="1737360"/>
                <a:gridCol w="3108960"/>
                <a:gridCol w="1645920"/>
                <a:gridCol w="4572000"/>
              </a:tblGrid>
              <a:tr h="402336">
                <a:tc>
                  <a:txBody>
                    <a:bodyPr/>
                    <a:lstStyle/>
                    <a:p>
                      <a:r>
                        <a:rPr sz="1100" b="1">
                          <a:solidFill>
                            <a:srgbClr val="FFFFFF"/>
                          </a:solidFill>
                          <a:latin typeface="Calibri"/>
                        </a:rPr>
                        <a:t>rail</a:t>
                      </a:r>
                    </a:p>
                  </a:txBody>
                  <a:tcPr>
                    <a:solidFill>
                      <a:srgbClr val="202124"/>
                    </a:solidFill>
                  </a:tcPr>
                </a:tc>
                <a:tc>
                  <a:txBody>
                    <a:bodyPr/>
                    <a:lstStyle/>
                    <a:p>
                      <a:r>
                        <a:rPr sz="1100" b="1">
                          <a:solidFill>
                            <a:srgbClr val="FFFFFF"/>
                          </a:solidFill>
                          <a:latin typeface="Calibri"/>
                        </a:rPr>
                        <a:t>form</a:t>
                      </a:r>
                    </a:p>
                  </a:txBody>
                  <a:tcPr>
                    <a:solidFill>
                      <a:srgbClr val="202124"/>
                    </a:solidFill>
                  </a:tcPr>
                </a:tc>
                <a:tc>
                  <a:txBody>
                    <a:bodyPr/>
                    <a:lstStyle/>
                    <a:p>
                      <a:r>
                        <a:rPr sz="1100" b="1">
                          <a:solidFill>
                            <a:srgbClr val="FFFFFF"/>
                          </a:solidFill>
                          <a:latin typeface="Calibri"/>
                        </a:rPr>
                        <a:t>accuracy</a:t>
                      </a:r>
                    </a:p>
                  </a:txBody>
                  <a:tcPr>
                    <a:solidFill>
                      <a:srgbClr val="202124"/>
                    </a:solidFill>
                  </a:tcPr>
                </a:tc>
                <a:tc>
                  <a:txBody>
                    <a:bodyPr/>
                    <a:lstStyle/>
                    <a:p>
                      <a:r>
                        <a:rPr sz="1100" b="1">
                          <a:solidFill>
                            <a:srgbClr val="FFFFFF"/>
                          </a:solidFill>
                          <a:latin typeface="Calibri"/>
                        </a:rPr>
                        <a:t>note</a:t>
                      </a:r>
                    </a:p>
                  </a:txBody>
                  <a:tcPr>
                    <a:solidFill>
                      <a:srgbClr val="202124"/>
                    </a:solidFill>
                  </a:tcPr>
                </a:tc>
              </a:tr>
              <a:tr h="402336">
                <a:tc>
                  <a:txBody>
                    <a:bodyPr/>
                    <a:lstStyle/>
                    <a:p>
                      <a:r>
                        <a:rPr sz="1100" b="1">
                          <a:latin typeface="Calibri"/>
                        </a:rPr>
                        <a:t>vdd_soc</a:t>
                      </a:r>
                    </a:p>
                  </a:txBody>
                  <a:tcPr>
                    <a:solidFill>
                      <a:srgbClr val="EFF3FA"/>
                    </a:solidFill>
                  </a:tcPr>
                </a:tc>
                <a:tc>
                  <a:txBody>
                    <a:bodyPr/>
                    <a:lstStyle/>
                    <a:p>
                      <a:r>
                        <a:rPr sz="1100" b="0">
                          <a:latin typeface="Calibri"/>
                        </a:rPr>
                        <a:t>bandwidth only</a:t>
                      </a:r>
                    </a:p>
                  </a:txBody>
                  <a:tcPr>
                    <a:solidFill>
                      <a:srgbClr val="EFF3FA"/>
                    </a:solidFill>
                  </a:tcPr>
                </a:tc>
                <a:tc>
                  <a:txBody>
                    <a:bodyPr/>
                    <a:lstStyle/>
                    <a:p>
                      <a:r>
                        <a:rPr sz="1100" b="0">
                          <a:latin typeface="Calibri"/>
                        </a:rPr>
                        <a:t>2.5–7%</a:t>
                      </a:r>
                    </a:p>
                  </a:txBody>
                  <a:tcPr>
                    <a:solidFill>
                      <a:srgbClr val="EFF3FA"/>
                    </a:solidFill>
                  </a:tcPr>
                </a:tc>
                <a:tc>
                  <a:txBody>
                    <a:bodyPr/>
                    <a:lstStyle/>
                    <a:p>
                      <a:r>
                        <a:rPr sz="1100" b="0">
                          <a:latin typeface="Calibri"/>
                        </a:rPr>
                        <a:t>transfers across OPPs unchanged</a:t>
                      </a:r>
                    </a:p>
                  </a:txBody>
                  <a:tcPr>
                    <a:solidFill>
                      <a:srgbClr val="EFF3FA"/>
                    </a:solidFill>
                  </a:tcPr>
                </a:tc>
              </a:tr>
              <a:tr h="402336">
                <a:tc>
                  <a:txBody>
                    <a:bodyPr/>
                    <a:lstStyle/>
                    <a:p>
                      <a:r>
                        <a:rPr sz="1100" b="1">
                          <a:latin typeface="Calibri"/>
                        </a:rPr>
                        <a:t>vdd_arm</a:t>
                      </a:r>
                    </a:p>
                  </a:txBody>
                  <a:tcPr>
                    <a:solidFill>
                      <a:srgbClr val="FFFFFF"/>
                    </a:solidFill>
                  </a:tcPr>
                </a:tc>
                <a:tc>
                  <a:txBody>
                    <a:bodyPr/>
                    <a:lstStyle/>
                    <a:p>
                      <a:r>
                        <a:rPr sz="1100" b="0">
                          <a:latin typeface="Calibri"/>
                        </a:rPr>
                        <a:t>alu + bandwidth + cores</a:t>
                      </a:r>
                    </a:p>
                  </a:txBody>
                  <a:tcPr>
                    <a:solidFill>
                      <a:srgbClr val="FFFFFF"/>
                    </a:solidFill>
                  </a:tcPr>
                </a:tc>
                <a:tc>
                  <a:txBody>
                    <a:bodyPr/>
                    <a:lstStyle/>
                    <a:p>
                      <a:r>
                        <a:rPr sz="1100" b="0">
                          <a:latin typeface="Calibri"/>
                        </a:rPr>
                        <a:t>4–5%</a:t>
                      </a:r>
                    </a:p>
                  </a:txBody>
                  <a:tcPr>
                    <a:solidFill>
                      <a:srgbClr val="FFFFFF"/>
                    </a:solidFill>
                  </a:tcPr>
                </a:tc>
                <a:tc>
                  <a:txBody>
                    <a:bodyPr/>
                    <a:lstStyle/>
                    <a:p>
                      <a:r>
                        <a:rPr sz="1100" b="0">
                          <a:latin typeface="Calibri"/>
                        </a:rPr>
                        <a:t>per-OPP coefficient sets; halving the clock roughly halves this rail</a:t>
                      </a:r>
                    </a:p>
                  </a:txBody>
                  <a:tcPr>
                    <a:solidFill>
                      <a:srgbClr val="FFFFFF"/>
                    </a:solidFill>
                  </a:tcPr>
                </a:tc>
              </a:tr>
              <a:tr h="402336">
                <a:tc>
                  <a:txBody>
                    <a:bodyPr/>
                    <a:lstStyle/>
                    <a:p>
                      <a:r>
                        <a:rPr sz="1100" b="1">
                          <a:latin typeface="Calibri"/>
                        </a:rPr>
                        <a:t>DRAM group</a:t>
                      </a:r>
                    </a:p>
                  </a:txBody>
                  <a:tcPr>
                    <a:solidFill>
                      <a:srgbClr val="EFF3FA"/>
                    </a:solidFill>
                  </a:tcPr>
                </a:tc>
                <a:tc>
                  <a:txBody>
                    <a:bodyPr/>
                    <a:lstStyle/>
                    <a:p>
                      <a:r>
                        <a:rPr sz="1100" b="0">
                          <a:latin typeface="Calibri"/>
                        </a:rPr>
                        <a:t>saturating in bandwidth</a:t>
                      </a:r>
                    </a:p>
                  </a:txBody>
                  <a:tcPr>
                    <a:solidFill>
                      <a:srgbClr val="EFF3FA"/>
                    </a:solidFill>
                  </a:tcPr>
                </a:tc>
                <a:tc>
                  <a:txBody>
                    <a:bodyPr/>
                    <a:lstStyle/>
                    <a:p>
                      <a:r>
                        <a:rPr sz="1100" b="0">
                          <a:latin typeface="Calibri"/>
                        </a:rPr>
                        <a:t>R²=0.994</a:t>
                      </a:r>
                    </a:p>
                  </a:txBody>
                  <a:tcPr>
                    <a:solidFill>
                      <a:srgbClr val="EFF3FA"/>
                    </a:solidFill>
                  </a:tcPr>
                </a:tc>
                <a:tc>
                  <a:txBody>
                    <a:bodyPr/>
                    <a:lstStyle/>
                    <a:p>
                      <a:r>
                        <a:rPr sz="1100" b="0">
                          <a:latin typeface="Calibri"/>
                        </a:rPr>
                        <a:t>intercept PINNED to the measured idle floor</a:t>
                      </a:r>
                    </a:p>
                  </a:txBody>
                  <a:tcPr>
                    <a:solidFill>
                      <a:srgbClr val="EFF3FA"/>
                    </a:solidFill>
                  </a:tcPr>
                </a:tc>
              </a:tr>
            </a:tbl>
          </a:graphicData>
        </a:graphic>
      </p:graphicFrame>
      <p:sp>
        <p:nvSpPr>
          <p:cNvPr id="14" name="TextBox 13"/>
          <p:cNvSpPr txBox="1"/>
          <p:nvPr/>
        </p:nvSpPr>
        <p:spPr>
          <a:xfrm>
            <a:off x="548640" y="5120640"/>
            <a:ext cx="11064240" cy="457200"/>
          </a:xfrm>
          <a:prstGeom prst="rect">
            <a:avLst/>
          </a:prstGeom>
          <a:noFill/>
        </p:spPr>
        <p:txBody>
          <a:bodyPr wrap="square">
            <a:spAutoFit/>
          </a:bodyPr>
          <a:lstStyle/>
          <a:p>
            <a:pPr algn="l"/>
            <a:r>
              <a:rPr sz="1150" b="1">
                <a:solidFill>
                  <a:srgbClr val="B06000"/>
                </a:solidFill>
                <a:latin typeface="Calibri"/>
              </a:rPr>
              <a:t>⚠ The DRAM fit with the HIGHER R² is the more dangerous one: a quadratic scores 0.9984 but its negative BW² term predicts FALLING power above ~17 GB/s. The √ form costs 0.004 of R² and stays physical.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finding that changes the model</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We expected instruction count to drive core power. It does not.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7</a:t>
            </a:r>
          </a:p>
        </p:txBody>
      </p:sp>
      <p:sp>
        <p:nvSpPr>
          <p:cNvPr id="8" name="Rounded Rectangle 7"/>
          <p:cNvSpPr/>
          <p:nvPr/>
        </p:nvSpPr>
        <p:spPr>
          <a:xfrm>
            <a:off x="548640" y="1417320"/>
            <a:ext cx="11064240" cy="1234440"/>
          </a:xfrm>
          <a:prstGeom prst="roundRect">
            <a:avLst/>
          </a:prstGeom>
          <a:solidFill>
            <a:srgbClr val="EFF3FA"/>
          </a:solidFill>
          <a:ln w="19050">
            <a:solidFill>
              <a:srgbClr val="B314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36192"/>
            <a:ext cx="10515600" cy="384048"/>
          </a:xfrm>
          <a:prstGeom prst="rect">
            <a:avLst/>
          </a:prstGeom>
          <a:noFill/>
        </p:spPr>
        <p:txBody>
          <a:bodyPr wrap="square">
            <a:spAutoFit/>
          </a:bodyPr>
          <a:lstStyle/>
          <a:p>
            <a:pPr algn="l"/>
            <a:r>
              <a:rPr sz="1900" b="1">
                <a:solidFill>
                  <a:srgbClr val="B31412"/>
                </a:solidFill>
                <a:latin typeface="Consolas"/>
              </a:rPr>
              <a:t>instructions alone:  R² = 0.031        mean error 48%,  worst 149%</a:t>
            </a:r>
          </a:p>
        </p:txBody>
      </p:sp>
      <p:sp>
        <p:nvSpPr>
          <p:cNvPr id="10" name="TextBox 9"/>
          <p:cNvSpPr txBox="1"/>
          <p:nvPr/>
        </p:nvSpPr>
        <p:spPr>
          <a:xfrm>
            <a:off x="822960" y="1975104"/>
            <a:ext cx="10515600" cy="329184"/>
          </a:xfrm>
          <a:prstGeom prst="rect">
            <a:avLst/>
          </a:prstGeom>
          <a:noFill/>
        </p:spPr>
        <p:txBody>
          <a:bodyPr wrap="square">
            <a:spAutoFit/>
          </a:bodyPr>
          <a:lstStyle/>
          <a:p>
            <a:pPr algn="l"/>
            <a:r>
              <a:rPr sz="1400" b="1">
                <a:solidFill>
                  <a:srgbClr val="1A53A0"/>
                </a:solidFill>
                <a:latin typeface="Consolas"/>
              </a:rPr>
              <a:t>bandwidth alone: R² = 0.784          both + active cores: R² = 0.990,  mean error 3.6%</a:t>
            </a:r>
          </a:p>
        </p:txBody>
      </p:sp>
      <p:sp>
        <p:nvSpPr>
          <p:cNvPr id="11" name="TextBox 10"/>
          <p:cNvSpPr txBox="1"/>
          <p:nvPr/>
        </p:nvSpPr>
        <p:spPr>
          <a:xfrm>
            <a:off x="822960" y="2340864"/>
            <a:ext cx="10515600" cy="274320"/>
          </a:xfrm>
          <a:prstGeom prst="rect">
            <a:avLst/>
          </a:prstGeom>
          <a:noFill/>
        </p:spPr>
        <p:txBody>
          <a:bodyPr wrap="square">
            <a:spAutoFit/>
          </a:bodyPr>
          <a:lstStyle/>
          <a:p>
            <a:pPr algn="l"/>
            <a:r>
              <a:rPr sz="1150" b="1">
                <a:solidFill>
                  <a:srgbClr val="202124"/>
                </a:solidFill>
                <a:latin typeface="Calibri"/>
              </a:rPr>
              <a:t>An instructions-only model predicts 1197 mW where the board draws 481.</a:t>
            </a:r>
          </a:p>
        </p:txBody>
      </p:sp>
      <p:graphicFrame>
        <p:nvGraphicFramePr>
          <p:cNvPr id="12" name="Table 11"/>
          <p:cNvGraphicFramePr>
            <a:graphicFrameLocks noGrp="1"/>
          </p:cNvGraphicFramePr>
          <p:nvPr/>
        </p:nvGraphicFramePr>
        <p:xfrm>
          <a:off x="548640" y="2834640"/>
          <a:ext cx="11064240" cy="2286000"/>
        </p:xfrm>
        <a:graphic>
          <a:graphicData uri="http://schemas.openxmlformats.org/drawingml/2006/table">
            <a:tbl>
              <a:tblPr firstRow="1" bandRow="1">
                <a:tableStyleId>{5C22544A-7EE6-4342-B048-85BDC9FD1C3A}</a:tableStyleId>
              </a:tblPr>
              <a:tblGrid>
                <a:gridCol w="2011680"/>
                <a:gridCol w="9052560"/>
              </a:tblGrid>
              <a:tr h="457200">
                <a:tc>
                  <a:txBody>
                    <a:bodyPr/>
                    <a:lstStyle/>
                    <a:p>
                      <a:r>
                        <a:rPr sz="1050" b="1">
                          <a:solidFill>
                            <a:srgbClr val="FFFFFF"/>
                          </a:solidFill>
                          <a:latin typeface="Calibri"/>
                        </a:rPr>
                        <a:t>aspect</a:t>
                      </a:r>
                    </a:p>
                  </a:txBody>
                  <a:tcPr>
                    <a:solidFill>
                      <a:srgbClr val="202124"/>
                    </a:solidFill>
                  </a:tcPr>
                </a:tc>
                <a:tc>
                  <a:txBody>
                    <a:bodyPr/>
                    <a:lstStyle/>
                    <a:p>
                      <a:r>
                        <a:rPr sz="1050" b="1">
                          <a:solidFill>
                            <a:srgbClr val="FFFFFF"/>
                          </a:solidFill>
                          <a:latin typeface="Calibri"/>
                        </a:rPr>
                        <a:t>detail</a:t>
                      </a:r>
                    </a:p>
                  </a:txBody>
                  <a:tcPr>
                    <a:solidFill>
                      <a:srgbClr val="202124"/>
                    </a:solidFill>
                  </a:tcPr>
                </a:tc>
              </a:tr>
              <a:tr h="457200">
                <a:tc>
                  <a:txBody>
                    <a:bodyPr/>
                    <a:lstStyle/>
                    <a:p>
                      <a:r>
                        <a:rPr sz="1050" b="1">
                          <a:latin typeface="Calibri"/>
                        </a:rPr>
                        <a:t>the observation</a:t>
                      </a:r>
                    </a:p>
                  </a:txBody>
                  <a:tcPr>
                    <a:solidFill>
                      <a:srgbClr val="EFF3FA"/>
                    </a:solidFill>
                  </a:tcPr>
                </a:tc>
                <a:tc>
                  <a:txBody>
                    <a:bodyPr/>
                    <a:lstStyle/>
                    <a:p>
                      <a:r>
                        <a:rPr sz="1050" b="0">
                          <a:latin typeface="Calibri"/>
                        </a:rPr>
                        <a:t>a memory-stalling workload drew 760 mW on the core rail; a compute workload retiring MORE instructions drew 474 mW</a:t>
                      </a:r>
                    </a:p>
                  </a:txBody>
                  <a:tcPr>
                    <a:solidFill>
                      <a:srgbClr val="EFF3FA"/>
                    </a:solidFill>
                  </a:tcPr>
                </a:tc>
              </a:tr>
              <a:tr h="457200">
                <a:tc>
                  <a:txBody>
                    <a:bodyPr/>
                    <a:lstStyle/>
                    <a:p>
                      <a:r>
                        <a:rPr sz="1050" b="1">
                          <a:latin typeface="Calibri"/>
                        </a:rPr>
                        <a:t>why</a:t>
                      </a:r>
                    </a:p>
                  </a:txBody>
                  <a:tcPr>
                    <a:solidFill>
                      <a:srgbClr val="FFFFFF"/>
                    </a:solidFill>
                  </a:tcPr>
                </a:tc>
                <a:tc>
                  <a:txBody>
                    <a:bodyPr/>
                    <a:lstStyle/>
                    <a:p>
                      <a:r>
                        <a:rPr sz="1050" b="0">
                          <a:latin typeface="Calibri"/>
                        </a:rPr>
                        <a:t>a stalled core still burns clock trees, speculation, replayed loads, prefetchers and the L2/bus interface</a:t>
                      </a:r>
                    </a:p>
                  </a:txBody>
                  <a:tcPr>
                    <a:solidFill>
                      <a:srgbClr val="FFFFFF"/>
                    </a:solidFill>
                  </a:tcPr>
                </a:tc>
              </a:tr>
              <a:tr h="457200">
                <a:tc>
                  <a:txBody>
                    <a:bodyPr/>
                    <a:lstStyle/>
                    <a:p>
                      <a:r>
                        <a:rPr sz="1050" b="1">
                          <a:latin typeface="Calibri"/>
                        </a:rPr>
                        <a:t>confirmed twice</a:t>
                      </a:r>
                    </a:p>
                  </a:txBody>
                  <a:tcPr>
                    <a:solidFill>
                      <a:srgbClr val="EFF3FA"/>
                    </a:solidFill>
                  </a:tcPr>
                </a:tc>
                <a:tc>
                  <a:txBody>
                    <a:bodyPr/>
                    <a:lstStyle/>
                    <a:p>
                      <a:r>
                        <a:rPr sz="1050" b="0">
                          <a:latin typeface="Calibri"/>
                        </a:rPr>
                        <a:t>real Dhrystone vs real STREAM: vdd_arm ratio 1.02 — same core power, utterly different instruction mix</a:t>
                      </a:r>
                    </a:p>
                  </a:txBody>
                  <a:tcPr>
                    <a:solidFill>
                      <a:srgbClr val="EFF3FA"/>
                    </a:solidFill>
                  </a:tcPr>
                </a:tc>
              </a:tr>
              <a:tr h="457200">
                <a:tc>
                  <a:txBody>
                    <a:bodyPr/>
                    <a:lstStyle/>
                    <a:p>
                      <a:r>
                        <a:rPr sz="1050" b="1">
                          <a:latin typeface="Calibri"/>
                        </a:rPr>
                        <a:t>independent</a:t>
                      </a:r>
                    </a:p>
                  </a:txBody>
                  <a:tcPr>
                    <a:solidFill>
                      <a:srgbClr val="FFFFFF"/>
                    </a:solidFill>
                  </a:tcPr>
                </a:tc>
                <a:tc>
                  <a:txBody>
                    <a:bodyPr/>
                    <a:lstStyle/>
                    <a:p>
                      <a:r>
                        <a:rPr sz="1050" b="0">
                          <a:latin typeface="Calibri"/>
                        </a:rPr>
                        <a:t>Walker et al. (TCAD 2017) regressed PMCs against ODROID-XU3 per-cluster rails. Retired instruction count is NOT in their model either.</a:t>
                      </a:r>
                    </a:p>
                  </a:txBody>
                  <a:tcPr>
                    <a:solidFill>
                      <a:srgbClr val="FFFFFF"/>
                    </a:solidFill>
                  </a:tcPr>
                </a:tc>
              </a:tr>
            </a:tbl>
          </a:graphicData>
        </a:graphic>
      </p:graphicFrame>
      <p:sp>
        <p:nvSpPr>
          <p:cNvPr id="13" name="TextBox 12"/>
          <p:cNvSpPr txBox="1"/>
          <p:nvPr/>
        </p:nvSpPr>
        <p:spPr>
          <a:xfrm>
            <a:off x="548640" y="4937760"/>
            <a:ext cx="11064240" cy="365760"/>
          </a:xfrm>
          <a:prstGeom prst="rect">
            <a:avLst/>
          </a:prstGeom>
          <a:noFill/>
        </p:spPr>
        <p:txBody>
          <a:bodyPr wrap="square">
            <a:spAutoFit/>
          </a:bodyPr>
          <a:lstStyle/>
          <a:p>
            <a:pPr algn="l"/>
            <a:r>
              <a:rPr sz="1200" b="1">
                <a:solidFill>
                  <a:srgbClr val="187A33"/>
                </a:solidFill>
                <a:latin typeface="Calibri"/>
              </a:rPr>
              <a:t>Consequence: an activity factor built on instruction count alone MIS-RANKS exactly the memory-bound workloads that dominate a real power budget.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The blind test, 50 applications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Predictions committed to git before the board was touched. This is the headline result.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8</a:t>
            </a:r>
          </a:p>
        </p:txBody>
      </p:sp>
      <p:sp>
        <p:nvSpPr>
          <p:cNvPr id="8" name="TextBox 7"/>
          <p:cNvSpPr txBox="1"/>
          <p:nvPr/>
        </p:nvSpPr>
        <p:spPr>
          <a:xfrm>
            <a:off x="548640" y="1371600"/>
            <a:ext cx="11064240" cy="310896"/>
          </a:xfrm>
          <a:prstGeom prst="rect">
            <a:avLst/>
          </a:prstGeom>
          <a:noFill/>
        </p:spPr>
        <p:txBody>
          <a:bodyPr wrap="square">
            <a:spAutoFit/>
          </a:bodyPr>
          <a:lstStyle/>
          <a:p>
            <a:pPr algn="l"/>
            <a:r>
              <a:rPr sz="1200" b="1">
                <a:solidFill>
                  <a:srgbClr val="202124"/>
                </a:solidFill>
                <a:latin typeface="Calibri"/>
              </a:rPr>
              <a:t>Coefficients fitted on an 11-point synthetic alu/mem grid. None of these 50 applications appear in it.</a:t>
            </a:r>
          </a:p>
        </p:txBody>
      </p:sp>
      <p:graphicFrame>
        <p:nvGraphicFramePr>
          <p:cNvPr id="9" name="Table 8"/>
          <p:cNvGraphicFramePr>
            <a:graphicFrameLocks noGrp="1"/>
          </p:cNvGraphicFramePr>
          <p:nvPr/>
        </p:nvGraphicFramePr>
        <p:xfrm>
          <a:off x="548640" y="1828800"/>
          <a:ext cx="5486400" cy="3419856"/>
        </p:xfrm>
        <a:graphic>
          <a:graphicData uri="http://schemas.openxmlformats.org/drawingml/2006/table">
            <a:tbl>
              <a:tblPr firstRow="1" bandRow="1">
                <a:tableStyleId>{5C22544A-7EE6-4342-B048-85BDC9FD1C3A}</a:tableStyleId>
              </a:tblPr>
              <a:tblGrid>
                <a:gridCol w="1737360"/>
                <a:gridCol w="1280160"/>
                <a:gridCol w="1280160"/>
                <a:gridCol w="1188720"/>
              </a:tblGrid>
              <a:tr h="310896">
                <a:tc>
                  <a:txBody>
                    <a:bodyPr/>
                    <a:lstStyle/>
                    <a:p>
                      <a:r>
                        <a:rPr sz="1050" b="1">
                          <a:solidFill>
                            <a:srgbClr val="FFFFFF"/>
                          </a:solidFill>
                          <a:latin typeface="Calibri"/>
                        </a:rPr>
                        <a:t>application</a:t>
                      </a:r>
                    </a:p>
                  </a:txBody>
                  <a:tcPr>
                    <a:solidFill>
                      <a:srgbClr val="202124"/>
                    </a:solidFill>
                  </a:tcPr>
                </a:tc>
                <a:tc>
                  <a:txBody>
                    <a:bodyPr/>
                    <a:lstStyle/>
                    <a:p>
                      <a:r>
                        <a:rPr sz="1050" b="1">
                          <a:solidFill>
                            <a:srgbClr val="FFFFFF"/>
                          </a:solidFill>
                          <a:latin typeface="Calibri"/>
                        </a:rPr>
                        <a:t>pred mW</a:t>
                      </a:r>
                    </a:p>
                  </a:txBody>
                  <a:tcPr>
                    <a:solidFill>
                      <a:srgbClr val="202124"/>
                    </a:solidFill>
                  </a:tcPr>
                </a:tc>
                <a:tc>
                  <a:txBody>
                    <a:bodyPr/>
                    <a:lstStyle/>
                    <a:p>
                      <a:r>
                        <a:rPr sz="1050" b="1">
                          <a:solidFill>
                            <a:srgbClr val="FFFFFF"/>
                          </a:solidFill>
                          <a:latin typeface="Calibri"/>
                        </a:rPr>
                        <a:t>meas mW</a:t>
                      </a:r>
                    </a:p>
                  </a:txBody>
                  <a:tcPr>
                    <a:solidFill>
                      <a:srgbClr val="202124"/>
                    </a:solidFill>
                  </a:tcPr>
                </a:tc>
                <a:tc>
                  <a:txBody>
                    <a:bodyPr/>
                    <a:lstStyle/>
                    <a:p>
                      <a:r>
                        <a:rPr sz="1050" b="1">
                          <a:solidFill>
                            <a:srgbClr val="FFFFFF"/>
                          </a:solidFill>
                          <a:latin typeface="Calibri"/>
                        </a:rPr>
                        <a:t>err</a:t>
                      </a:r>
                    </a:p>
                  </a:txBody>
                  <a:tcPr>
                    <a:solidFill>
                      <a:srgbClr val="202124"/>
                    </a:solidFill>
                  </a:tcPr>
                </a:tc>
              </a:tr>
              <a:tr h="310896">
                <a:tc>
                  <a:txBody>
                    <a:bodyPr/>
                    <a:lstStyle/>
                    <a:p>
                      <a:r>
                        <a:rPr sz="1050" b="1">
                          <a:latin typeface="Calibri"/>
                        </a:rPr>
                        <a:t>mem-w</a:t>
                      </a:r>
                    </a:p>
                  </a:txBody>
                  <a:tcPr>
                    <a:solidFill>
                      <a:srgbClr val="EFF3FA"/>
                    </a:solidFill>
                  </a:tcPr>
                </a:tc>
                <a:tc>
                  <a:txBody>
                    <a:bodyPr/>
                    <a:lstStyle/>
                    <a:p>
                      <a:r>
                        <a:rPr sz="1050" b="0">
                          <a:latin typeface="Calibri"/>
                        </a:rPr>
                        <a:t>1744</a:t>
                      </a:r>
                    </a:p>
                  </a:txBody>
                  <a:tcPr>
                    <a:solidFill>
                      <a:srgbClr val="EFF3FA"/>
                    </a:solidFill>
                  </a:tcPr>
                </a:tc>
                <a:tc>
                  <a:txBody>
                    <a:bodyPr/>
                    <a:lstStyle/>
                    <a:p>
                      <a:r>
                        <a:rPr sz="1050" b="0">
                          <a:latin typeface="Calibri"/>
                        </a:rPr>
                        <a:t>1795</a:t>
                      </a:r>
                    </a:p>
                  </a:txBody>
                  <a:tcPr>
                    <a:solidFill>
                      <a:srgbClr val="EFF3FA"/>
                    </a:solidFill>
                  </a:tcPr>
                </a:tc>
                <a:tc>
                  <a:txBody>
                    <a:bodyPr/>
                    <a:lstStyle/>
                    <a:p>
                      <a:r>
                        <a:rPr sz="1050" b="0">
                          <a:solidFill>
                            <a:srgbClr val="187A33"/>
                          </a:solidFill>
                          <a:latin typeface="Calibri"/>
                        </a:rPr>
                        <a:t>3%</a:t>
                      </a:r>
                    </a:p>
                  </a:txBody>
                  <a:tcPr>
                    <a:solidFill>
                      <a:srgbClr val="EFF3FA"/>
                    </a:solidFill>
                  </a:tcPr>
                </a:tc>
              </a:tr>
              <a:tr h="310896">
                <a:tc>
                  <a:txBody>
                    <a:bodyPr/>
                    <a:lstStyle/>
                    <a:p>
                      <a:r>
                        <a:rPr sz="1050" b="1">
                          <a:latin typeface="Calibri"/>
                        </a:rPr>
                        <a:t>mem</a:t>
                      </a:r>
                    </a:p>
                  </a:txBody>
                  <a:tcPr>
                    <a:solidFill>
                      <a:srgbClr val="FFFFFF"/>
                    </a:solidFill>
                  </a:tcPr>
                </a:tc>
                <a:tc>
                  <a:txBody>
                    <a:bodyPr/>
                    <a:lstStyle/>
                    <a:p>
                      <a:r>
                        <a:rPr sz="1050" b="0">
                          <a:latin typeface="Calibri"/>
                        </a:rPr>
                        <a:t>1771</a:t>
                      </a:r>
                    </a:p>
                  </a:txBody>
                  <a:tcPr>
                    <a:solidFill>
                      <a:srgbClr val="FFFFFF"/>
                    </a:solidFill>
                  </a:tcPr>
                </a:tc>
                <a:tc>
                  <a:txBody>
                    <a:bodyPr/>
                    <a:lstStyle/>
                    <a:p>
                      <a:r>
                        <a:rPr sz="1050" b="0">
                          <a:latin typeface="Calibri"/>
                        </a:rPr>
                        <a:t>1767</a:t>
                      </a:r>
                    </a:p>
                  </a:txBody>
                  <a:tcPr>
                    <a:solidFill>
                      <a:srgbClr val="FFFFFF"/>
                    </a:solidFill>
                  </a:tcPr>
                </a:tc>
                <a:tc>
                  <a:txBody>
                    <a:bodyPr/>
                    <a:lstStyle/>
                    <a:p>
                      <a:r>
                        <a:rPr sz="1050" b="0">
                          <a:solidFill>
                            <a:srgbClr val="187A33"/>
                          </a:solidFill>
                          <a:latin typeface="Calibri"/>
                        </a:rPr>
                        <a:t>0%</a:t>
                      </a:r>
                    </a:p>
                  </a:txBody>
                  <a:tcPr>
                    <a:solidFill>
                      <a:srgbClr val="FFFFFF"/>
                    </a:solidFill>
                  </a:tcPr>
                </a:tc>
              </a:tr>
              <a:tr h="310896">
                <a:tc>
                  <a:txBody>
                    <a:bodyPr/>
                    <a:lstStyle/>
                    <a:p>
                      <a:r>
                        <a:rPr sz="1050" b="1">
                          <a:latin typeface="Calibri"/>
                        </a:rPr>
                        <a:t>sgm</a:t>
                      </a:r>
                    </a:p>
                  </a:txBody>
                  <a:tcPr>
                    <a:solidFill>
                      <a:srgbClr val="EFF3FA"/>
                    </a:solidFill>
                  </a:tcPr>
                </a:tc>
                <a:tc>
                  <a:txBody>
                    <a:bodyPr/>
                    <a:lstStyle/>
                    <a:p>
                      <a:r>
                        <a:rPr sz="1050" b="0">
                          <a:latin typeface="Calibri"/>
                        </a:rPr>
                        <a:t>1375</a:t>
                      </a:r>
                    </a:p>
                  </a:txBody>
                  <a:tcPr>
                    <a:solidFill>
                      <a:srgbClr val="EFF3FA"/>
                    </a:solidFill>
                  </a:tcPr>
                </a:tc>
                <a:tc>
                  <a:txBody>
                    <a:bodyPr/>
                    <a:lstStyle/>
                    <a:p>
                      <a:r>
                        <a:rPr sz="1050" b="0">
                          <a:latin typeface="Calibri"/>
                        </a:rPr>
                        <a:t>1614</a:t>
                      </a:r>
                    </a:p>
                  </a:txBody>
                  <a:tcPr>
                    <a:solidFill>
                      <a:srgbClr val="EFF3FA"/>
                    </a:solidFill>
                  </a:tcPr>
                </a:tc>
                <a:tc>
                  <a:txBody>
                    <a:bodyPr/>
                    <a:lstStyle/>
                    <a:p>
                      <a:r>
                        <a:rPr sz="1050" b="0">
                          <a:solidFill>
                            <a:srgbClr val="B31412"/>
                          </a:solidFill>
                          <a:latin typeface="Calibri"/>
                        </a:rPr>
                        <a:t>15%</a:t>
                      </a:r>
                    </a:p>
                  </a:txBody>
                  <a:tcPr>
                    <a:solidFill>
                      <a:srgbClr val="EFF3FA"/>
                    </a:solidFill>
                  </a:tcPr>
                </a:tc>
              </a:tr>
              <a:tr h="310896">
                <a:tc>
                  <a:txBody>
                    <a:bodyPr/>
                    <a:lstStyle/>
                    <a:p>
                      <a:r>
                        <a:rPr sz="1050" b="1">
                          <a:latin typeface="Calibri"/>
                        </a:rPr>
                        <a:t>lz4-fast</a:t>
                      </a:r>
                    </a:p>
                  </a:txBody>
                  <a:tcPr>
                    <a:solidFill>
                      <a:srgbClr val="FFFFFF"/>
                    </a:solidFill>
                  </a:tcPr>
                </a:tc>
                <a:tc>
                  <a:txBody>
                    <a:bodyPr/>
                    <a:lstStyle/>
                    <a:p>
                      <a:r>
                        <a:rPr sz="1050" b="0">
                          <a:latin typeface="Calibri"/>
                        </a:rPr>
                        <a:t>1359</a:t>
                      </a:r>
                    </a:p>
                  </a:txBody>
                  <a:tcPr>
                    <a:solidFill>
                      <a:srgbClr val="FFFFFF"/>
                    </a:solidFill>
                  </a:tcPr>
                </a:tc>
                <a:tc>
                  <a:txBody>
                    <a:bodyPr/>
                    <a:lstStyle/>
                    <a:p>
                      <a:r>
                        <a:rPr sz="1050" b="0">
                          <a:latin typeface="Calibri"/>
                        </a:rPr>
                        <a:t>1565</a:t>
                      </a:r>
                    </a:p>
                  </a:txBody>
                  <a:tcPr>
                    <a:solidFill>
                      <a:srgbClr val="FFFFFF"/>
                    </a:solidFill>
                  </a:tcPr>
                </a:tc>
                <a:tc>
                  <a:txBody>
                    <a:bodyPr/>
                    <a:lstStyle/>
                    <a:p>
                      <a:r>
                        <a:rPr sz="1050" b="0">
                          <a:solidFill>
                            <a:srgbClr val="B31412"/>
                          </a:solidFill>
                          <a:latin typeface="Calibri"/>
                        </a:rPr>
                        <a:t>13%</a:t>
                      </a:r>
                    </a:p>
                  </a:txBody>
                  <a:tcPr>
                    <a:solidFill>
                      <a:srgbClr val="FFFFFF"/>
                    </a:solidFill>
                  </a:tcPr>
                </a:tc>
              </a:tr>
              <a:tr h="310896">
                <a:tc>
                  <a:txBody>
                    <a:bodyPr/>
                    <a:lstStyle/>
                    <a:p>
                      <a:r>
                        <a:rPr sz="1050" b="1">
                          <a:latin typeface="Calibri"/>
                        </a:rPr>
                        <a:t>mm-big</a:t>
                      </a:r>
                    </a:p>
                  </a:txBody>
                  <a:tcPr>
                    <a:solidFill>
                      <a:srgbClr val="EFF3FA"/>
                    </a:solidFill>
                  </a:tcPr>
                </a:tc>
                <a:tc>
                  <a:txBody>
                    <a:bodyPr/>
                    <a:lstStyle/>
                    <a:p>
                      <a:r>
                        <a:rPr sz="1050" b="0">
                          <a:latin typeface="Calibri"/>
                        </a:rPr>
                        <a:t>1449</a:t>
                      </a:r>
                    </a:p>
                  </a:txBody>
                  <a:tcPr>
                    <a:solidFill>
                      <a:srgbClr val="EFF3FA"/>
                    </a:solidFill>
                  </a:tcPr>
                </a:tc>
                <a:tc>
                  <a:txBody>
                    <a:bodyPr/>
                    <a:lstStyle/>
                    <a:p>
                      <a:r>
                        <a:rPr sz="1050" b="0">
                          <a:latin typeface="Calibri"/>
                        </a:rPr>
                        <a:t>1558</a:t>
                      </a:r>
                    </a:p>
                  </a:txBody>
                  <a:tcPr>
                    <a:solidFill>
                      <a:srgbClr val="EFF3FA"/>
                    </a:solidFill>
                  </a:tcPr>
                </a:tc>
                <a:tc>
                  <a:txBody>
                    <a:bodyPr/>
                    <a:lstStyle/>
                    <a:p>
                      <a:r>
                        <a:rPr sz="1050" b="0">
                          <a:solidFill>
                            <a:srgbClr val="B06000"/>
                          </a:solidFill>
                          <a:latin typeface="Calibri"/>
                        </a:rPr>
                        <a:t>7%</a:t>
                      </a:r>
                    </a:p>
                  </a:txBody>
                  <a:tcPr>
                    <a:solidFill>
                      <a:srgbClr val="EFF3FA"/>
                    </a:solidFill>
                  </a:tcPr>
                </a:tc>
              </a:tr>
              <a:tr h="310896">
                <a:tc>
                  <a:txBody>
                    <a:bodyPr/>
                    <a:lstStyle/>
                    <a:p>
                      <a:r>
                        <a:rPr sz="1050" b="1">
                          <a:latin typeface="Calibri"/>
                        </a:rPr>
                        <a:t>lz4</a:t>
                      </a:r>
                    </a:p>
                  </a:txBody>
                  <a:tcPr>
                    <a:solidFill>
                      <a:srgbClr val="FFFFFF"/>
                    </a:solidFill>
                  </a:tcPr>
                </a:tc>
                <a:tc>
                  <a:txBody>
                    <a:bodyPr/>
                    <a:lstStyle/>
                    <a:p>
                      <a:r>
                        <a:rPr sz="1050" b="0">
                          <a:latin typeface="Calibri"/>
                        </a:rPr>
                        <a:t>1342</a:t>
                      </a:r>
                    </a:p>
                  </a:txBody>
                  <a:tcPr>
                    <a:solidFill>
                      <a:srgbClr val="FFFFFF"/>
                    </a:solidFill>
                  </a:tcPr>
                </a:tc>
                <a:tc>
                  <a:txBody>
                    <a:bodyPr/>
                    <a:lstStyle/>
                    <a:p>
                      <a:r>
                        <a:rPr sz="1050" b="0">
                          <a:latin typeface="Calibri"/>
                        </a:rPr>
                        <a:t>1529</a:t>
                      </a:r>
                    </a:p>
                  </a:txBody>
                  <a:tcPr>
                    <a:solidFill>
                      <a:srgbClr val="FFFFFF"/>
                    </a:solidFill>
                  </a:tcPr>
                </a:tc>
                <a:tc>
                  <a:txBody>
                    <a:bodyPr/>
                    <a:lstStyle/>
                    <a:p>
                      <a:r>
                        <a:rPr sz="1050" b="0">
                          <a:solidFill>
                            <a:srgbClr val="B31412"/>
                          </a:solidFill>
                          <a:latin typeface="Calibri"/>
                        </a:rPr>
                        <a:t>12%</a:t>
                      </a:r>
                    </a:p>
                  </a:txBody>
                  <a:tcPr>
                    <a:solidFill>
                      <a:srgbClr val="FFFFFF"/>
                    </a:solidFill>
                  </a:tcPr>
                </a:tc>
              </a:tr>
              <a:tr h="310896">
                <a:tc>
                  <a:txBody>
                    <a:bodyPr/>
                    <a:lstStyle/>
                    <a:p>
                      <a:r>
                        <a:rPr sz="1050" b="1">
                          <a:latin typeface="Calibri"/>
                        </a:rPr>
                        <a:t>chase</a:t>
                      </a:r>
                    </a:p>
                  </a:txBody>
                  <a:tcPr>
                    <a:solidFill>
                      <a:srgbClr val="EFF3FA"/>
                    </a:solidFill>
                  </a:tcPr>
                </a:tc>
                <a:tc>
                  <a:txBody>
                    <a:bodyPr/>
                    <a:lstStyle/>
                    <a:p>
                      <a:r>
                        <a:rPr sz="1050" b="0">
                          <a:latin typeface="Calibri"/>
                        </a:rPr>
                        <a:t>1304</a:t>
                      </a:r>
                    </a:p>
                  </a:txBody>
                  <a:tcPr>
                    <a:solidFill>
                      <a:srgbClr val="EFF3FA"/>
                    </a:solidFill>
                  </a:tcPr>
                </a:tc>
                <a:tc>
                  <a:txBody>
                    <a:bodyPr/>
                    <a:lstStyle/>
                    <a:p>
                      <a:r>
                        <a:rPr sz="1050" b="0">
                          <a:latin typeface="Calibri"/>
                        </a:rPr>
                        <a:t>1295</a:t>
                      </a:r>
                    </a:p>
                  </a:txBody>
                  <a:tcPr>
                    <a:solidFill>
                      <a:srgbClr val="EFF3FA"/>
                    </a:solidFill>
                  </a:tcPr>
                </a:tc>
                <a:tc>
                  <a:txBody>
                    <a:bodyPr/>
                    <a:lstStyle/>
                    <a:p>
                      <a:r>
                        <a:rPr sz="1050" b="0">
                          <a:solidFill>
                            <a:srgbClr val="187A33"/>
                          </a:solidFill>
                          <a:latin typeface="Calibri"/>
                        </a:rPr>
                        <a:t>1%</a:t>
                      </a:r>
                    </a:p>
                  </a:txBody>
                  <a:tcPr>
                    <a:solidFill>
                      <a:srgbClr val="EFF3FA"/>
                    </a:solidFill>
                  </a:tcPr>
                </a:tc>
              </a:tr>
              <a:tr h="310896">
                <a:tc>
                  <a:txBody>
                    <a:bodyPr/>
                    <a:lstStyle/>
                    <a:p>
                      <a:r>
                        <a:rPr sz="1050" b="1">
                          <a:latin typeface="Calibri"/>
                        </a:rPr>
                        <a:t>chase-big</a:t>
                      </a:r>
                    </a:p>
                  </a:txBody>
                  <a:tcPr>
                    <a:solidFill>
                      <a:srgbClr val="FFFFFF"/>
                    </a:solidFill>
                  </a:tcPr>
                </a:tc>
                <a:tc>
                  <a:txBody>
                    <a:bodyPr/>
                    <a:lstStyle/>
                    <a:p>
                      <a:r>
                        <a:rPr sz="1050" b="0">
                          <a:latin typeface="Calibri"/>
                        </a:rPr>
                        <a:t>1306</a:t>
                      </a:r>
                    </a:p>
                  </a:txBody>
                  <a:tcPr>
                    <a:solidFill>
                      <a:srgbClr val="FFFFFF"/>
                    </a:solidFill>
                  </a:tcPr>
                </a:tc>
                <a:tc>
                  <a:txBody>
                    <a:bodyPr/>
                    <a:lstStyle/>
                    <a:p>
                      <a:r>
                        <a:rPr sz="1050" b="0">
                          <a:latin typeface="Calibri"/>
                        </a:rPr>
                        <a:t>1314</a:t>
                      </a:r>
                    </a:p>
                  </a:txBody>
                  <a:tcPr>
                    <a:solidFill>
                      <a:srgbClr val="FFFFFF"/>
                    </a:solidFill>
                  </a:tcPr>
                </a:tc>
                <a:tc>
                  <a:txBody>
                    <a:bodyPr/>
                    <a:lstStyle/>
                    <a:p>
                      <a:r>
                        <a:rPr sz="1050" b="0">
                          <a:solidFill>
                            <a:srgbClr val="187A33"/>
                          </a:solidFill>
                          <a:latin typeface="Calibri"/>
                        </a:rPr>
                        <a:t>1%</a:t>
                      </a:r>
                    </a:p>
                  </a:txBody>
                  <a:tcPr>
                    <a:solidFill>
                      <a:srgbClr val="FFFFFF"/>
                    </a:solidFill>
                  </a:tcPr>
                </a:tc>
              </a:tr>
              <a:tr h="310896">
                <a:tc>
                  <a:txBody>
                    <a:bodyPr/>
                    <a:lstStyle/>
                    <a:p>
                      <a:r>
                        <a:rPr sz="1050" b="1">
                          <a:latin typeface="Calibri"/>
                        </a:rPr>
                        <a:t>alu</a:t>
                      </a:r>
                    </a:p>
                  </a:txBody>
                  <a:tcPr>
                    <a:solidFill>
                      <a:srgbClr val="EFF3FA"/>
                    </a:solidFill>
                  </a:tcPr>
                </a:tc>
                <a:tc>
                  <a:txBody>
                    <a:bodyPr/>
                    <a:lstStyle/>
                    <a:p>
                      <a:r>
                        <a:rPr sz="1050" b="0">
                          <a:latin typeface="Calibri"/>
                        </a:rPr>
                        <a:t>1342</a:t>
                      </a:r>
                    </a:p>
                  </a:txBody>
                  <a:tcPr>
                    <a:solidFill>
                      <a:srgbClr val="EFF3FA"/>
                    </a:solidFill>
                  </a:tcPr>
                </a:tc>
                <a:tc>
                  <a:txBody>
                    <a:bodyPr/>
                    <a:lstStyle/>
                    <a:p>
                      <a:r>
                        <a:rPr sz="1050" b="0">
                          <a:latin typeface="Calibri"/>
                        </a:rPr>
                        <a:t>1355</a:t>
                      </a:r>
                    </a:p>
                  </a:txBody>
                  <a:tcPr>
                    <a:solidFill>
                      <a:srgbClr val="EFF3FA"/>
                    </a:solidFill>
                  </a:tcPr>
                </a:tc>
                <a:tc>
                  <a:txBody>
                    <a:bodyPr/>
                    <a:lstStyle/>
                    <a:p>
                      <a:r>
                        <a:rPr sz="1050" b="0">
                          <a:solidFill>
                            <a:srgbClr val="187A33"/>
                          </a:solidFill>
                          <a:latin typeface="Calibri"/>
                        </a:rPr>
                        <a:t>1%</a:t>
                      </a:r>
                    </a:p>
                  </a:txBody>
                  <a:tcPr>
                    <a:solidFill>
                      <a:srgbClr val="EFF3FA"/>
                    </a:solidFill>
                  </a:tcPr>
                </a:tc>
              </a:tr>
              <a:tr h="310896">
                <a:tc>
                  <a:txBody>
                    <a:bodyPr/>
                    <a:lstStyle/>
                    <a:p>
                      <a:r>
                        <a:rPr sz="1050" b="1">
                          <a:latin typeface="Calibri"/>
                        </a:rPr>
                        <a:t>rd-ray</a:t>
                      </a:r>
                    </a:p>
                  </a:txBody>
                  <a:tcPr>
                    <a:solidFill>
                      <a:srgbClr val="FFFFFF"/>
                    </a:solidFill>
                  </a:tcPr>
                </a:tc>
                <a:tc>
                  <a:txBody>
                    <a:bodyPr/>
                    <a:lstStyle/>
                    <a:p>
                      <a:r>
                        <a:rPr sz="1050" b="0">
                          <a:latin typeface="Calibri"/>
                        </a:rPr>
                        <a:t>1289</a:t>
                      </a:r>
                    </a:p>
                  </a:txBody>
                  <a:tcPr>
                    <a:solidFill>
                      <a:srgbClr val="FFFFFF"/>
                    </a:solidFill>
                  </a:tcPr>
                </a:tc>
                <a:tc>
                  <a:txBody>
                    <a:bodyPr/>
                    <a:lstStyle/>
                    <a:p>
                      <a:r>
                        <a:rPr sz="1050" b="0">
                          <a:latin typeface="Calibri"/>
                        </a:rPr>
                        <a:t>1367</a:t>
                      </a:r>
                    </a:p>
                  </a:txBody>
                  <a:tcPr>
                    <a:solidFill>
                      <a:srgbClr val="FFFFFF"/>
                    </a:solidFill>
                  </a:tcPr>
                </a:tc>
                <a:tc>
                  <a:txBody>
                    <a:bodyPr/>
                    <a:lstStyle/>
                    <a:p>
                      <a:r>
                        <a:rPr sz="1050" b="0">
                          <a:solidFill>
                            <a:srgbClr val="B06000"/>
                          </a:solidFill>
                          <a:latin typeface="Calibri"/>
                        </a:rPr>
                        <a:t>6%</a:t>
                      </a:r>
                    </a:p>
                  </a:txBody>
                  <a:tcPr>
                    <a:solidFill>
                      <a:srgbClr val="FFFFFF"/>
                    </a:solidFill>
                  </a:tcPr>
                </a:tc>
              </a:tr>
            </a:tbl>
          </a:graphicData>
        </a:graphic>
      </p:graphicFrame>
      <p:graphicFrame>
        <p:nvGraphicFramePr>
          <p:cNvPr id="10" name="Table 9"/>
          <p:cNvGraphicFramePr>
            <a:graphicFrameLocks noGrp="1"/>
          </p:cNvGraphicFramePr>
          <p:nvPr/>
        </p:nvGraphicFramePr>
        <p:xfrm>
          <a:off x="6400800" y="1828800"/>
          <a:ext cx="5212080" cy="2304288"/>
        </p:xfrm>
        <a:graphic>
          <a:graphicData uri="http://schemas.openxmlformats.org/drawingml/2006/table">
            <a:tbl>
              <a:tblPr firstRow="1" bandRow="1">
                <a:tableStyleId>{5C22544A-7EE6-4342-B048-85BDC9FD1C3A}</a:tableStyleId>
              </a:tblPr>
              <a:tblGrid>
                <a:gridCol w="2926080"/>
                <a:gridCol w="2286000"/>
              </a:tblGrid>
              <a:tr h="384048">
                <a:tc>
                  <a:txBody>
                    <a:bodyPr/>
                    <a:lstStyle/>
                    <a:p>
                      <a:r>
                        <a:rPr sz="1150" b="1">
                          <a:solidFill>
                            <a:srgbClr val="FFFFFF"/>
                          </a:solidFill>
                          <a:latin typeface="Calibri"/>
                        </a:rPr>
                        <a:t>prediction error</a:t>
                      </a:r>
                    </a:p>
                  </a:txBody>
                  <a:tcPr>
                    <a:solidFill>
                      <a:srgbClr val="202124"/>
                    </a:solidFill>
                  </a:tcPr>
                </a:tc>
                <a:tc>
                  <a:txBody>
                    <a:bodyPr/>
                    <a:lstStyle/>
                    <a:p>
                      <a:r>
                        <a:rPr sz="1150" b="1">
                          <a:solidFill>
                            <a:srgbClr val="FFFFFF"/>
                          </a:solidFill>
                          <a:latin typeface="Calibri"/>
                        </a:rPr>
                        <a:t>value</a:t>
                      </a:r>
                    </a:p>
                  </a:txBody>
                  <a:tcPr>
                    <a:solidFill>
                      <a:srgbClr val="202124"/>
                    </a:solidFill>
                  </a:tcPr>
                </a:tc>
              </a:tr>
              <a:tr h="384048">
                <a:tc>
                  <a:txBody>
                    <a:bodyPr/>
                    <a:lstStyle/>
                    <a:p>
                      <a:r>
                        <a:rPr sz="1150" b="1">
                          <a:latin typeface="Calibri"/>
                        </a:rPr>
                        <a:t>MAPE, total power</a:t>
                      </a:r>
                    </a:p>
                  </a:txBody>
                  <a:tcPr>
                    <a:solidFill>
                      <a:srgbClr val="EFF3FA"/>
                    </a:solidFill>
                  </a:tcPr>
                </a:tc>
                <a:tc>
                  <a:txBody>
                    <a:bodyPr/>
                    <a:lstStyle/>
                    <a:p>
                      <a:r>
                        <a:rPr sz="1150" b="1">
                          <a:latin typeface="Calibri"/>
                        </a:rPr>
                        <a:t>6.4%</a:t>
                      </a:r>
                    </a:p>
                  </a:txBody>
                  <a:tcPr>
                    <a:solidFill>
                      <a:srgbClr val="EFF3FA"/>
                    </a:solidFill>
                  </a:tcPr>
                </a:tc>
              </a:tr>
              <a:tr h="384048">
                <a:tc>
                  <a:txBody>
                    <a:bodyPr/>
                    <a:lstStyle/>
                    <a:p>
                      <a:r>
                        <a:rPr sz="1150" b="1">
                          <a:latin typeface="Calibri"/>
                        </a:rPr>
                        <a:t>median</a:t>
                      </a:r>
                    </a:p>
                  </a:txBody>
                  <a:tcPr>
                    <a:solidFill>
                      <a:srgbClr val="FFFFFF"/>
                    </a:solidFill>
                  </a:tcPr>
                </a:tc>
                <a:tc>
                  <a:txBody>
                    <a:bodyPr/>
                    <a:lstStyle/>
                    <a:p>
                      <a:r>
                        <a:rPr sz="1150" b="1">
                          <a:latin typeface="Calibri"/>
                        </a:rPr>
                        <a:t>6.5%</a:t>
                      </a:r>
                    </a:p>
                  </a:txBody>
                  <a:tcPr>
                    <a:solidFill>
                      <a:srgbClr val="FFFFFF"/>
                    </a:solidFill>
                  </a:tcPr>
                </a:tc>
              </a:tr>
              <a:tr h="384048">
                <a:tc>
                  <a:txBody>
                    <a:bodyPr/>
                    <a:lstStyle/>
                    <a:p>
                      <a:r>
                        <a:rPr sz="1150" b="1">
                          <a:latin typeface="Calibri"/>
                        </a:rPr>
                        <a:t>p90</a:t>
                      </a:r>
                    </a:p>
                  </a:txBody>
                  <a:tcPr>
                    <a:solidFill>
                      <a:srgbClr val="EFF3FA"/>
                    </a:solidFill>
                  </a:tcPr>
                </a:tc>
                <a:tc>
                  <a:txBody>
                    <a:bodyPr/>
                    <a:lstStyle/>
                    <a:p>
                      <a:r>
                        <a:rPr sz="1150" b="1">
                          <a:latin typeface="Calibri"/>
                        </a:rPr>
                        <a:t>10.2%</a:t>
                      </a:r>
                    </a:p>
                  </a:txBody>
                  <a:tcPr>
                    <a:solidFill>
                      <a:srgbClr val="EFF3FA"/>
                    </a:solidFill>
                  </a:tcPr>
                </a:tc>
              </a:tr>
              <a:tr h="384048">
                <a:tc>
                  <a:txBody>
                    <a:bodyPr/>
                    <a:lstStyle/>
                    <a:p>
                      <a:r>
                        <a:rPr sz="1150" b="1">
                          <a:latin typeface="Calibri"/>
                        </a:rPr>
                        <a:t>worst, any single app</a:t>
                      </a:r>
                    </a:p>
                  </a:txBody>
                  <a:tcPr>
                    <a:solidFill>
                      <a:srgbClr val="FFFFFF"/>
                    </a:solidFill>
                  </a:tcPr>
                </a:tc>
                <a:tc>
                  <a:txBody>
                    <a:bodyPr/>
                    <a:lstStyle/>
                    <a:p>
                      <a:r>
                        <a:rPr sz="1150" b="1">
                          <a:latin typeface="Calibri"/>
                        </a:rPr>
                        <a:t>15%</a:t>
                      </a:r>
                    </a:p>
                  </a:txBody>
                  <a:tcPr>
                    <a:solidFill>
                      <a:srgbClr val="FFFFFF"/>
                    </a:solidFill>
                  </a:tcPr>
                </a:tc>
              </a:tr>
              <a:tr h="384048">
                <a:tc>
                  <a:txBody>
                    <a:bodyPr/>
                    <a:lstStyle/>
                    <a:p>
                      <a:r>
                        <a:rPr sz="1150" b="1">
                          <a:latin typeface="Calibri"/>
                        </a:rPr>
                        <a:t>bias (signed)</a:t>
                      </a:r>
                    </a:p>
                  </a:txBody>
                  <a:tcPr>
                    <a:solidFill>
                      <a:srgbClr val="EFF3FA"/>
                    </a:solidFill>
                  </a:tcPr>
                </a:tc>
                <a:tc>
                  <a:txBody>
                    <a:bodyPr/>
                    <a:lstStyle/>
                    <a:p>
                      <a:r>
                        <a:rPr sz="1150" b="1">
                          <a:latin typeface="Calibri"/>
                        </a:rPr>
                        <a:t>-6.4%</a:t>
                      </a:r>
                    </a:p>
                  </a:txBody>
                  <a:tcPr>
                    <a:solidFill>
                      <a:srgbClr val="EFF3FA"/>
                    </a:solidFill>
                  </a:tcPr>
                </a:tc>
              </a:tr>
            </a:tbl>
          </a:graphicData>
        </a:graphic>
      </p:graphicFrame>
      <p:sp>
        <p:nvSpPr>
          <p:cNvPr id="11" name="TextBox 10"/>
          <p:cNvSpPr txBox="1"/>
          <p:nvPr/>
        </p:nvSpPr>
        <p:spPr>
          <a:xfrm>
            <a:off x="6400800" y="4069080"/>
            <a:ext cx="5212080" cy="310896"/>
          </a:xfrm>
          <a:prstGeom prst="rect">
            <a:avLst/>
          </a:prstGeom>
          <a:noFill/>
        </p:spPr>
        <p:txBody>
          <a:bodyPr wrap="square">
            <a:spAutoFit/>
          </a:bodyPr>
          <a:lstStyle/>
          <a:p>
            <a:pPr algn="l"/>
            <a:r>
              <a:rPr sz="1150" b="1">
                <a:solidFill>
                  <a:srgbClr val="1A53A0"/>
                </a:solidFill>
                <a:latin typeface="Calibri"/>
              </a:rPr>
              <a:t>Every number above is a PREDICTION ERROR.</a:t>
            </a:r>
          </a:p>
        </p:txBody>
      </p:sp>
      <p:graphicFrame>
        <p:nvGraphicFramePr>
          <p:cNvPr id="12" name="Table 11"/>
          <p:cNvGraphicFramePr>
            <a:graphicFrameLocks noGrp="1"/>
          </p:cNvGraphicFramePr>
          <p:nvPr/>
        </p:nvGraphicFramePr>
        <p:xfrm>
          <a:off x="6400800" y="4434840"/>
          <a:ext cx="5212080" cy="1152144"/>
        </p:xfrm>
        <a:graphic>
          <a:graphicData uri="http://schemas.openxmlformats.org/drawingml/2006/table">
            <a:tbl>
              <a:tblPr firstRow="1" bandRow="1">
                <a:tableStyleId>{5C22544A-7EE6-4342-B048-85BDC9FD1C3A}</a:tableStyleId>
              </a:tblPr>
              <a:tblGrid>
                <a:gridCol w="2926080"/>
                <a:gridCol w="2286000"/>
              </a:tblGrid>
              <a:tr h="384048">
                <a:tc>
                  <a:txBody>
                    <a:bodyPr/>
                    <a:lstStyle/>
                    <a:p>
                      <a:r>
                        <a:rPr sz="1150" b="1">
                          <a:solidFill>
                            <a:srgbClr val="FFFFFF"/>
                          </a:solidFill>
                          <a:latin typeface="Calibri"/>
                        </a:rPr>
                        <a:t>workload power range</a:t>
                      </a:r>
                    </a:p>
                  </a:txBody>
                  <a:tcPr>
                    <a:solidFill>
                      <a:srgbClr val="202124"/>
                    </a:solidFill>
                  </a:tcPr>
                </a:tc>
                <a:tc>
                  <a:txBody>
                    <a:bodyPr/>
                    <a:lstStyle/>
                    <a:p>
                      <a:r>
                        <a:rPr sz="1150" b="1">
                          <a:solidFill>
                            <a:srgbClr val="FFFFFF"/>
                          </a:solidFill>
                          <a:latin typeface="Calibri"/>
                        </a:rPr>
                        <a:t>mW</a:t>
                      </a:r>
                    </a:p>
                  </a:txBody>
                  <a:tcPr>
                    <a:solidFill>
                      <a:srgbClr val="202124"/>
                    </a:solidFill>
                  </a:tcPr>
                </a:tc>
              </a:tr>
              <a:tr h="384048">
                <a:tc>
                  <a:txBody>
                    <a:bodyPr/>
                    <a:lstStyle/>
                    <a:p>
                      <a:r>
                        <a:rPr sz="1150" b="1">
                          <a:latin typeface="Calibri"/>
                        </a:rPr>
                        <a:t>what the 50 apps actually draw</a:t>
                      </a:r>
                    </a:p>
                  </a:txBody>
                  <a:tcPr>
                    <a:solidFill>
                      <a:srgbClr val="EFF3FA"/>
                    </a:solidFill>
                  </a:tcPr>
                </a:tc>
                <a:tc>
                  <a:txBody>
                    <a:bodyPr/>
                    <a:lstStyle/>
                    <a:p>
                      <a:r>
                        <a:rPr sz="1150" b="1">
                          <a:latin typeface="Calibri"/>
                        </a:rPr>
                        <a:t>1295 – 1795 mW</a:t>
                      </a:r>
                    </a:p>
                  </a:txBody>
                  <a:tcPr>
                    <a:solidFill>
                      <a:srgbClr val="EFF3FA"/>
                    </a:solidFill>
                  </a:tcPr>
                </a:tc>
              </a:tr>
              <a:tr h="384048">
                <a:tc>
                  <a:txBody>
                    <a:bodyPr/>
                    <a:lstStyle/>
                    <a:p>
                      <a:r>
                        <a:rPr sz="1150" b="1">
                          <a:latin typeface="Calibri"/>
                        </a:rPr>
                        <a:t>what the model predicted they draw</a:t>
                      </a:r>
                    </a:p>
                  </a:txBody>
                  <a:tcPr>
                    <a:solidFill>
                      <a:srgbClr val="FFFFFF"/>
                    </a:solidFill>
                  </a:tcPr>
                </a:tc>
                <a:tc>
                  <a:txBody>
                    <a:bodyPr/>
                    <a:lstStyle/>
                    <a:p>
                      <a:r>
                        <a:rPr sz="1150" b="1">
                          <a:latin typeface="Calibri"/>
                        </a:rPr>
                        <a:t>1289 – 1771 mW</a:t>
                      </a:r>
                    </a:p>
                  </a:txBody>
                  <a:tcPr>
                    <a:solidFill>
                      <a:srgbClr val="FFFFFF"/>
                    </a:solidFill>
                  </a:tcPr>
                </a:tc>
              </a:tr>
            </a:tbl>
          </a:graphicData>
        </a:graphic>
      </p:graphicFrame>
      <p:sp>
        <p:nvSpPr>
          <p:cNvPr id="13" name="TextBox 12"/>
          <p:cNvSpPr txBox="1"/>
          <p:nvPr/>
        </p:nvSpPr>
        <p:spPr>
          <a:xfrm>
            <a:off x="6400800" y="5257800"/>
            <a:ext cx="5212080" cy="457200"/>
          </a:xfrm>
          <a:prstGeom prst="rect">
            <a:avLst/>
          </a:prstGeom>
          <a:noFill/>
        </p:spPr>
        <p:txBody>
          <a:bodyPr wrap="square">
            <a:spAutoFit/>
          </a:bodyPr>
          <a:lstStyle/>
          <a:p>
            <a:pPr algn="l"/>
            <a:r>
              <a:rPr sz="1050" b="0">
                <a:solidFill>
                  <a:srgbClr val="5F6368"/>
                </a:solidFill>
                <a:latin typeface="Calibri"/>
              </a:rPr>
              <a:t>Stated in mW, not as a ratio: the model must reproduce the RANGE, not just the average. A model predicting every app near the mean would still score a good MAPE.</a:t>
            </a:r>
          </a:p>
        </p:txBody>
      </p:sp>
      <p:sp>
        <p:nvSpPr>
          <p:cNvPr id="14" name="TextBox 13"/>
          <p:cNvSpPr txBox="1"/>
          <p:nvPr/>
        </p:nvSpPr>
        <p:spPr>
          <a:xfrm>
            <a:off x="548640" y="5669280"/>
            <a:ext cx="11064240" cy="365760"/>
          </a:xfrm>
          <a:prstGeom prst="rect">
            <a:avLst/>
          </a:prstGeom>
          <a:noFill/>
        </p:spPr>
        <p:txBody>
          <a:bodyPr wrap="square">
            <a:spAutoFit/>
          </a:bodyPr>
          <a:lstStyle/>
          <a:p>
            <a:pPr algn="l"/>
            <a:r>
              <a:rPr sz="1150" b="0">
                <a:solidFill>
                  <a:srgbClr val="202124"/>
                </a:solidFill>
                <a:latin typeface="Calibri"/>
              </a:rPr>
              <a:t>Predictions run 6.4% low on average — a systematic offset, not scatter, and therefore correctable if a future revision wants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Part 2 — All fifty applications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Every prediction, every measurement. Nothing selected, nothing dropped.</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9</a:t>
            </a:r>
          </a:p>
        </p:txBody>
      </p:sp>
      <p:sp>
        <p:nvSpPr>
          <p:cNvPr id="8" name="TextBox 7"/>
          <p:cNvSpPr txBox="1"/>
          <p:nvPr/>
        </p:nvSpPr>
        <p:spPr>
          <a:xfrm>
            <a:off x="548640" y="1316736"/>
            <a:ext cx="11064240" cy="274320"/>
          </a:xfrm>
          <a:prstGeom prst="rect">
            <a:avLst/>
          </a:prstGeom>
          <a:noFill/>
        </p:spPr>
        <p:txBody>
          <a:bodyPr wrap="square">
            <a:spAutoFit/>
          </a:bodyPr>
          <a:lstStyle/>
          <a:p>
            <a:pPr algn="l"/>
            <a:r>
              <a:rPr sz="1050" b="1">
                <a:solidFill>
                  <a:srgbClr val="5F6368"/>
                </a:solidFill>
                <a:latin typeface="Calibri"/>
              </a:rPr>
              <a:t>GREEN ≤ 8% error   ·   AMBER 8–12%   ·   RED &gt; 12%      — the 8% line is the published bar for a good per-rail model, and is this corpus's own p90 (8.3%).</a:t>
            </a:r>
          </a:p>
        </p:txBody>
      </p:sp>
      <p:graphicFrame>
        <p:nvGraphicFramePr>
          <p:cNvPr id="9" name="Table 8"/>
          <p:cNvGraphicFramePr>
            <a:graphicFrameLocks noGrp="1"/>
          </p:cNvGraphicFramePr>
          <p:nvPr/>
        </p:nvGraphicFramePr>
        <p:xfrm>
          <a:off x="548640" y="1664208"/>
          <a:ext cx="3703320" cy="4032504"/>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mem-w</a:t>
                      </a:r>
                    </a:p>
                  </a:txBody>
                  <a:tcPr>
                    <a:solidFill>
                      <a:srgbClr val="EFF3FA"/>
                    </a:solidFill>
                  </a:tcPr>
                </a:tc>
                <a:tc>
                  <a:txBody>
                    <a:bodyPr/>
                    <a:lstStyle/>
                    <a:p>
                      <a:r>
                        <a:rPr sz="850" b="0">
                          <a:latin typeface="Calibri"/>
                        </a:rPr>
                        <a:t>1744</a:t>
                      </a:r>
                    </a:p>
                  </a:txBody>
                  <a:tcPr>
                    <a:solidFill>
                      <a:srgbClr val="EFF3FA"/>
                    </a:solidFill>
                  </a:tcPr>
                </a:tc>
                <a:tc>
                  <a:txBody>
                    <a:bodyPr/>
                    <a:lstStyle/>
                    <a:p>
                      <a:r>
                        <a:rPr sz="850" b="0">
                          <a:latin typeface="Calibri"/>
                        </a:rPr>
                        <a:t>1795</a:t>
                      </a:r>
                    </a:p>
                  </a:txBody>
                  <a:tcPr>
                    <a:solidFill>
                      <a:srgbClr val="EFF3FA"/>
                    </a:solidFill>
                  </a:tcPr>
                </a:tc>
                <a:tc>
                  <a:txBody>
                    <a:bodyPr/>
                    <a:lstStyle/>
                    <a:p>
                      <a:r>
                        <a:rPr sz="850" b="0">
                          <a:solidFill>
                            <a:srgbClr val="187A33"/>
                          </a:solidFill>
                          <a:latin typeface="Calibri"/>
                        </a:rPr>
                        <a:t>3%</a:t>
                      </a:r>
                    </a:p>
                  </a:txBody>
                  <a:tcPr>
                    <a:solidFill>
                      <a:srgbClr val="EFF3FA"/>
                    </a:solidFill>
                  </a:tcPr>
                </a:tc>
              </a:tr>
              <a:tr h="224028">
                <a:tc>
                  <a:txBody>
                    <a:bodyPr/>
                    <a:lstStyle/>
                    <a:p>
                      <a:r>
                        <a:rPr sz="850" b="1">
                          <a:latin typeface="Calibri"/>
                        </a:rPr>
                        <a:t>mem</a:t>
                      </a:r>
                    </a:p>
                  </a:txBody>
                  <a:tcPr>
                    <a:solidFill>
                      <a:srgbClr val="FFFFFF"/>
                    </a:solidFill>
                  </a:tcPr>
                </a:tc>
                <a:tc>
                  <a:txBody>
                    <a:bodyPr/>
                    <a:lstStyle/>
                    <a:p>
                      <a:r>
                        <a:rPr sz="850" b="0">
                          <a:latin typeface="Calibri"/>
                        </a:rPr>
                        <a:t>1771</a:t>
                      </a:r>
                    </a:p>
                  </a:txBody>
                  <a:tcPr>
                    <a:solidFill>
                      <a:srgbClr val="FFFFFF"/>
                    </a:solidFill>
                  </a:tcPr>
                </a:tc>
                <a:tc>
                  <a:txBody>
                    <a:bodyPr/>
                    <a:lstStyle/>
                    <a:p>
                      <a:r>
                        <a:rPr sz="850" b="0">
                          <a:latin typeface="Calibri"/>
                        </a:rPr>
                        <a:t>1767</a:t>
                      </a:r>
                    </a:p>
                  </a:txBody>
                  <a:tcPr>
                    <a:solidFill>
                      <a:srgbClr val="FFFFFF"/>
                    </a:solidFill>
                  </a:tcPr>
                </a:tc>
                <a:tc>
                  <a:txBody>
                    <a:bodyPr/>
                    <a:lstStyle/>
                    <a:p>
                      <a:r>
                        <a:rPr sz="850" b="0">
                          <a:solidFill>
                            <a:srgbClr val="187A33"/>
                          </a:solidFill>
                          <a:latin typeface="Calibri"/>
                        </a:rPr>
                        <a:t>0%</a:t>
                      </a:r>
                    </a:p>
                  </a:txBody>
                  <a:tcPr>
                    <a:solidFill>
                      <a:srgbClr val="FFFFFF"/>
                    </a:solidFill>
                  </a:tcPr>
                </a:tc>
              </a:tr>
              <a:tr h="224028">
                <a:tc>
                  <a:txBody>
                    <a:bodyPr/>
                    <a:lstStyle/>
                    <a:p>
                      <a:r>
                        <a:rPr sz="850" b="1">
                          <a:latin typeface="Calibri"/>
                        </a:rPr>
                        <a:t>sgm</a:t>
                      </a:r>
                    </a:p>
                  </a:txBody>
                  <a:tcPr>
                    <a:solidFill>
                      <a:srgbClr val="EFF3FA"/>
                    </a:solidFill>
                  </a:tcPr>
                </a:tc>
                <a:tc>
                  <a:txBody>
                    <a:bodyPr/>
                    <a:lstStyle/>
                    <a:p>
                      <a:r>
                        <a:rPr sz="850" b="0">
                          <a:latin typeface="Calibri"/>
                        </a:rPr>
                        <a:t>1375</a:t>
                      </a:r>
                    </a:p>
                  </a:txBody>
                  <a:tcPr>
                    <a:solidFill>
                      <a:srgbClr val="EFF3FA"/>
                    </a:solidFill>
                  </a:tcPr>
                </a:tc>
                <a:tc>
                  <a:txBody>
                    <a:bodyPr/>
                    <a:lstStyle/>
                    <a:p>
                      <a:r>
                        <a:rPr sz="850" b="0">
                          <a:latin typeface="Calibri"/>
                        </a:rPr>
                        <a:t>1614</a:t>
                      </a:r>
                    </a:p>
                  </a:txBody>
                  <a:tcPr>
                    <a:solidFill>
                      <a:srgbClr val="EFF3FA"/>
                    </a:solidFill>
                  </a:tcPr>
                </a:tc>
                <a:tc>
                  <a:txBody>
                    <a:bodyPr/>
                    <a:lstStyle/>
                    <a:p>
                      <a:r>
                        <a:rPr sz="850" b="0">
                          <a:solidFill>
                            <a:srgbClr val="B31412"/>
                          </a:solidFill>
                          <a:latin typeface="Calibri"/>
                        </a:rPr>
                        <a:t>15%</a:t>
                      </a:r>
                    </a:p>
                  </a:txBody>
                  <a:tcPr>
                    <a:solidFill>
                      <a:srgbClr val="EFF3FA"/>
                    </a:solidFill>
                  </a:tcPr>
                </a:tc>
              </a:tr>
              <a:tr h="224028">
                <a:tc>
                  <a:txBody>
                    <a:bodyPr/>
                    <a:lstStyle/>
                    <a:p>
                      <a:r>
                        <a:rPr sz="850" b="1">
                          <a:latin typeface="Calibri"/>
                        </a:rPr>
                        <a:t>lz4-fast</a:t>
                      </a:r>
                    </a:p>
                  </a:txBody>
                  <a:tcPr>
                    <a:solidFill>
                      <a:srgbClr val="FFFFFF"/>
                    </a:solidFill>
                  </a:tcPr>
                </a:tc>
                <a:tc>
                  <a:txBody>
                    <a:bodyPr/>
                    <a:lstStyle/>
                    <a:p>
                      <a:r>
                        <a:rPr sz="850" b="0">
                          <a:latin typeface="Calibri"/>
                        </a:rPr>
                        <a:t>1359</a:t>
                      </a:r>
                    </a:p>
                  </a:txBody>
                  <a:tcPr>
                    <a:solidFill>
                      <a:srgbClr val="FFFFFF"/>
                    </a:solidFill>
                  </a:tcPr>
                </a:tc>
                <a:tc>
                  <a:txBody>
                    <a:bodyPr/>
                    <a:lstStyle/>
                    <a:p>
                      <a:r>
                        <a:rPr sz="850" b="0">
                          <a:latin typeface="Calibri"/>
                        </a:rPr>
                        <a:t>1565</a:t>
                      </a:r>
                    </a:p>
                  </a:txBody>
                  <a:tcPr>
                    <a:solidFill>
                      <a:srgbClr val="FFFFFF"/>
                    </a:solidFill>
                  </a:tcPr>
                </a:tc>
                <a:tc>
                  <a:txBody>
                    <a:bodyPr/>
                    <a:lstStyle/>
                    <a:p>
                      <a:r>
                        <a:rPr sz="850" b="0">
                          <a:solidFill>
                            <a:srgbClr val="B31412"/>
                          </a:solidFill>
                          <a:latin typeface="Calibri"/>
                        </a:rPr>
                        <a:t>13%</a:t>
                      </a:r>
                    </a:p>
                  </a:txBody>
                  <a:tcPr>
                    <a:solidFill>
                      <a:srgbClr val="FFFFFF"/>
                    </a:solidFill>
                  </a:tcPr>
                </a:tc>
              </a:tr>
              <a:tr h="224028">
                <a:tc>
                  <a:txBody>
                    <a:bodyPr/>
                    <a:lstStyle/>
                    <a:p>
                      <a:r>
                        <a:rPr sz="850" b="1">
                          <a:latin typeface="Calibri"/>
                        </a:rPr>
                        <a:t>mm-big</a:t>
                      </a:r>
                    </a:p>
                  </a:txBody>
                  <a:tcPr>
                    <a:solidFill>
                      <a:srgbClr val="EFF3FA"/>
                    </a:solidFill>
                  </a:tcPr>
                </a:tc>
                <a:tc>
                  <a:txBody>
                    <a:bodyPr/>
                    <a:lstStyle/>
                    <a:p>
                      <a:r>
                        <a:rPr sz="850" b="0">
                          <a:latin typeface="Calibri"/>
                        </a:rPr>
                        <a:t>1449</a:t>
                      </a:r>
                    </a:p>
                  </a:txBody>
                  <a:tcPr>
                    <a:solidFill>
                      <a:srgbClr val="EFF3FA"/>
                    </a:solidFill>
                  </a:tcPr>
                </a:tc>
                <a:tc>
                  <a:txBody>
                    <a:bodyPr/>
                    <a:lstStyle/>
                    <a:p>
                      <a:r>
                        <a:rPr sz="850" b="0">
                          <a:latin typeface="Calibri"/>
                        </a:rPr>
                        <a:t>1558</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lz4</a:t>
                      </a:r>
                    </a:p>
                  </a:txBody>
                  <a:tcPr>
                    <a:solidFill>
                      <a:srgbClr val="FFFFFF"/>
                    </a:solidFill>
                  </a:tcPr>
                </a:tc>
                <a:tc>
                  <a:txBody>
                    <a:bodyPr/>
                    <a:lstStyle/>
                    <a:p>
                      <a:r>
                        <a:rPr sz="850" b="0">
                          <a:latin typeface="Calibri"/>
                        </a:rPr>
                        <a:t>1342</a:t>
                      </a:r>
                    </a:p>
                  </a:txBody>
                  <a:tcPr>
                    <a:solidFill>
                      <a:srgbClr val="FFFFFF"/>
                    </a:solidFill>
                  </a:tcPr>
                </a:tc>
                <a:tc>
                  <a:txBody>
                    <a:bodyPr/>
                    <a:lstStyle/>
                    <a:p>
                      <a:r>
                        <a:rPr sz="850" b="0">
                          <a:latin typeface="Calibri"/>
                        </a:rPr>
                        <a:t>1529</a:t>
                      </a:r>
                    </a:p>
                  </a:txBody>
                  <a:tcPr>
                    <a:solidFill>
                      <a:srgbClr val="FFFFFF"/>
                    </a:solidFill>
                  </a:tcPr>
                </a:tc>
                <a:tc>
                  <a:txBody>
                    <a:bodyPr/>
                    <a:lstStyle/>
                    <a:p>
                      <a:r>
                        <a:rPr sz="850" b="0">
                          <a:solidFill>
                            <a:srgbClr val="B06000"/>
                          </a:solidFill>
                          <a:latin typeface="Calibri"/>
                        </a:rPr>
                        <a:t>12%</a:t>
                      </a:r>
                    </a:p>
                  </a:txBody>
                  <a:tcPr>
                    <a:solidFill>
                      <a:srgbClr val="FFFFFF"/>
                    </a:solidFill>
                  </a:tcPr>
                </a:tc>
              </a:tr>
              <a:tr h="224028">
                <a:tc>
                  <a:txBody>
                    <a:bodyPr/>
                    <a:lstStyle/>
                    <a:p>
                      <a:r>
                        <a:rPr sz="850" b="1">
                          <a:latin typeface="Calibri"/>
                        </a:rPr>
                        <a:t>rd-life</a:t>
                      </a:r>
                    </a:p>
                  </a:txBody>
                  <a:tcPr>
                    <a:solidFill>
                      <a:srgbClr val="EFF3FA"/>
                    </a:solidFill>
                  </a:tcPr>
                </a:tc>
                <a:tc>
                  <a:txBody>
                    <a:bodyPr/>
                    <a:lstStyle/>
                    <a:p>
                      <a:r>
                        <a:rPr sz="850" b="0">
                          <a:latin typeface="Calibri"/>
                        </a:rPr>
                        <a:t>1425</a:t>
                      </a:r>
                    </a:p>
                  </a:txBody>
                  <a:tcPr>
                    <a:solidFill>
                      <a:srgbClr val="EFF3FA"/>
                    </a:solidFill>
                  </a:tcPr>
                </a:tc>
                <a:tc>
                  <a:txBody>
                    <a:bodyPr/>
                    <a:lstStyle/>
                    <a:p>
                      <a:r>
                        <a:rPr sz="850" b="0">
                          <a:latin typeface="Calibri"/>
                        </a:rPr>
                        <a:t>1525</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qoi</a:t>
                      </a:r>
                    </a:p>
                  </a:txBody>
                  <a:tcPr>
                    <a:solidFill>
                      <a:srgbClr val="FFFFFF"/>
                    </a:solidFill>
                  </a:tcPr>
                </a:tc>
                <a:tc>
                  <a:txBody>
                    <a:bodyPr/>
                    <a:lstStyle/>
                    <a:p>
                      <a:r>
                        <a:rPr sz="850" b="0">
                          <a:latin typeface="Calibri"/>
                        </a:rPr>
                        <a:t>1397</a:t>
                      </a:r>
                    </a:p>
                  </a:txBody>
                  <a:tcPr>
                    <a:solidFill>
                      <a:srgbClr val="FFFFFF"/>
                    </a:solidFill>
                  </a:tcPr>
                </a:tc>
                <a:tc>
                  <a:txBody>
                    <a:bodyPr/>
                    <a:lstStyle/>
                    <a:p>
                      <a:r>
                        <a:rPr sz="850" b="0">
                          <a:latin typeface="Calibri"/>
                        </a:rPr>
                        <a:t>1524</a:t>
                      </a:r>
                    </a:p>
                  </a:txBody>
                  <a:tcPr>
                    <a:solidFill>
                      <a:srgbClr val="FFFFFF"/>
                    </a:solidFill>
                  </a:tcPr>
                </a:tc>
                <a:tc>
                  <a:txBody>
                    <a:bodyPr/>
                    <a:lstStyle/>
                    <a:p>
                      <a:r>
                        <a:rPr sz="850" b="0">
                          <a:solidFill>
                            <a:srgbClr val="187A33"/>
                          </a:solidFill>
                          <a:latin typeface="Calibri"/>
                        </a:rPr>
                        <a:t>8%</a:t>
                      </a:r>
                    </a:p>
                  </a:txBody>
                  <a:tcPr>
                    <a:solidFill>
                      <a:srgbClr val="FFFFFF"/>
                    </a:solidFill>
                  </a:tcPr>
                </a:tc>
              </a:tr>
              <a:tr h="224028">
                <a:tc>
                  <a:txBody>
                    <a:bodyPr/>
                    <a:lstStyle/>
                    <a:p>
                      <a:r>
                        <a:rPr sz="850" b="1">
                          <a:latin typeface="Calibri"/>
                        </a:rPr>
                        <a:t>cr-blowfish</a:t>
                      </a:r>
                    </a:p>
                  </a:txBody>
                  <a:tcPr>
                    <a:solidFill>
                      <a:srgbClr val="EFF3FA"/>
                    </a:solidFill>
                  </a:tcPr>
                </a:tc>
                <a:tc>
                  <a:txBody>
                    <a:bodyPr/>
                    <a:lstStyle/>
                    <a:p>
                      <a:r>
                        <a:rPr sz="850" b="0">
                          <a:latin typeface="Calibri"/>
                        </a:rPr>
                        <a:t>1374</a:t>
                      </a:r>
                    </a:p>
                  </a:txBody>
                  <a:tcPr>
                    <a:solidFill>
                      <a:srgbClr val="EFF3FA"/>
                    </a:solidFill>
                  </a:tcPr>
                </a:tc>
                <a:tc>
                  <a:txBody>
                    <a:bodyPr/>
                    <a:lstStyle/>
                    <a:p>
                      <a:r>
                        <a:rPr sz="850" b="0">
                          <a:latin typeface="Calibri"/>
                        </a:rPr>
                        <a:t>1517</a:t>
                      </a:r>
                    </a:p>
                  </a:txBody>
                  <a:tcPr>
                    <a:solidFill>
                      <a:srgbClr val="EFF3FA"/>
                    </a:solidFill>
                  </a:tcPr>
                </a:tc>
                <a:tc>
                  <a:txBody>
                    <a:bodyPr/>
                    <a:lstStyle/>
                    <a:p>
                      <a:r>
                        <a:rPr sz="850" b="0">
                          <a:solidFill>
                            <a:srgbClr val="B06000"/>
                          </a:solidFill>
                          <a:latin typeface="Calibri"/>
                        </a:rPr>
                        <a:t>9%</a:t>
                      </a:r>
                    </a:p>
                  </a:txBody>
                  <a:tcPr>
                    <a:solidFill>
                      <a:srgbClr val="EFF3FA"/>
                    </a:solidFill>
                  </a:tcPr>
                </a:tc>
              </a:tr>
              <a:tr h="224028">
                <a:tc>
                  <a:txBody>
                    <a:bodyPr/>
                    <a:lstStyle/>
                    <a:p>
                      <a:r>
                        <a:rPr sz="850" b="1">
                          <a:latin typeface="Calibri"/>
                        </a:rPr>
                        <a:t>mm</a:t>
                      </a:r>
                    </a:p>
                  </a:txBody>
                  <a:tcPr>
                    <a:solidFill>
                      <a:srgbClr val="FFFFFF"/>
                    </a:solidFill>
                  </a:tcPr>
                </a:tc>
                <a:tc>
                  <a:txBody>
                    <a:bodyPr/>
                    <a:lstStyle/>
                    <a:p>
                      <a:r>
                        <a:rPr sz="850" b="0">
                          <a:latin typeface="Calibri"/>
                        </a:rPr>
                        <a:t>1346</a:t>
                      </a:r>
                    </a:p>
                  </a:txBody>
                  <a:tcPr>
                    <a:solidFill>
                      <a:srgbClr val="FFFFFF"/>
                    </a:solidFill>
                  </a:tcPr>
                </a:tc>
                <a:tc>
                  <a:txBody>
                    <a:bodyPr/>
                    <a:lstStyle/>
                    <a:p>
                      <a:r>
                        <a:rPr sz="850" b="0">
                          <a:latin typeface="Calibri"/>
                        </a:rPr>
                        <a:t>1515</a:t>
                      </a:r>
                    </a:p>
                  </a:txBody>
                  <a:tcPr>
                    <a:solidFill>
                      <a:srgbClr val="FFFFFF"/>
                    </a:solidFill>
                  </a:tcPr>
                </a:tc>
                <a:tc>
                  <a:txBody>
                    <a:bodyPr/>
                    <a:lstStyle/>
                    <a:p>
                      <a:r>
                        <a:rPr sz="850" b="0">
                          <a:solidFill>
                            <a:srgbClr val="B06000"/>
                          </a:solidFill>
                          <a:latin typeface="Calibri"/>
                        </a:rPr>
                        <a:t>11%</a:t>
                      </a:r>
                    </a:p>
                  </a:txBody>
                  <a:tcPr>
                    <a:solidFill>
                      <a:srgbClr val="FFFFFF"/>
                    </a:solidFill>
                  </a:tcPr>
                </a:tc>
              </a:tr>
              <a:tr h="224028">
                <a:tc>
                  <a:txBody>
                    <a:bodyPr/>
                    <a:lstStyle/>
                    <a:p>
                      <a:r>
                        <a:rPr sz="850" b="1">
                          <a:latin typeface="Calibri"/>
                        </a:rPr>
                        <a:t>sgm-a55-1t</a:t>
                      </a:r>
                    </a:p>
                  </a:txBody>
                  <a:tcPr>
                    <a:solidFill>
                      <a:srgbClr val="EFF3FA"/>
                    </a:solidFill>
                  </a:tcPr>
                </a:tc>
                <a:tc>
                  <a:txBody>
                    <a:bodyPr/>
                    <a:lstStyle/>
                    <a:p>
                      <a:r>
                        <a:rPr sz="850" b="0">
                          <a:latin typeface="Calibri"/>
                        </a:rPr>
                        <a:t>1357</a:t>
                      </a:r>
                    </a:p>
                  </a:txBody>
                  <a:tcPr>
                    <a:solidFill>
                      <a:srgbClr val="EFF3FA"/>
                    </a:solidFill>
                  </a:tcPr>
                </a:tc>
                <a:tc>
                  <a:txBody>
                    <a:bodyPr/>
                    <a:lstStyle/>
                    <a:p>
                      <a:r>
                        <a:rPr sz="850" b="0">
                          <a:latin typeface="Calibri"/>
                        </a:rPr>
                        <a:t>1512</a:t>
                      </a:r>
                    </a:p>
                  </a:txBody>
                  <a:tcPr>
                    <a:solidFill>
                      <a:srgbClr val="EFF3FA"/>
                    </a:solidFill>
                  </a:tcPr>
                </a:tc>
                <a:tc>
                  <a:txBody>
                    <a:bodyPr/>
                    <a:lstStyle/>
                    <a:p>
                      <a:r>
                        <a:rPr sz="850" b="0">
                          <a:solidFill>
                            <a:srgbClr val="B06000"/>
                          </a:solidFill>
                          <a:latin typeface="Calibri"/>
                        </a:rPr>
                        <a:t>10%</a:t>
                      </a:r>
                    </a:p>
                  </a:txBody>
                  <a:tcPr>
                    <a:solidFill>
                      <a:srgbClr val="EFF3FA"/>
                    </a:solidFill>
                  </a:tcPr>
                </a:tc>
              </a:tr>
              <a:tr h="224028">
                <a:tc>
                  <a:txBody>
                    <a:bodyPr/>
                    <a:lstStyle/>
                    <a:p>
                      <a:r>
                        <a:rPr sz="850" b="1">
                          <a:latin typeface="Calibri"/>
                        </a:rPr>
                        <a:t>cr-b64</a:t>
                      </a:r>
                    </a:p>
                  </a:txBody>
                  <a:tcPr>
                    <a:solidFill>
                      <a:srgbClr val="FFFFFF"/>
                    </a:solidFill>
                  </a:tcPr>
                </a:tc>
                <a:tc>
                  <a:txBody>
                    <a:bodyPr/>
                    <a:lstStyle/>
                    <a:p>
                      <a:r>
                        <a:rPr sz="850" b="0">
                          <a:latin typeface="Calibri"/>
                        </a:rPr>
                        <a:t>1377</a:t>
                      </a:r>
                    </a:p>
                  </a:txBody>
                  <a:tcPr>
                    <a:solidFill>
                      <a:srgbClr val="FFFFFF"/>
                    </a:solidFill>
                  </a:tcPr>
                </a:tc>
                <a:tc>
                  <a:txBody>
                    <a:bodyPr/>
                    <a:lstStyle/>
                    <a:p>
                      <a:r>
                        <a:rPr sz="850" b="0">
                          <a:latin typeface="Calibri"/>
                        </a:rPr>
                        <a:t>1506</a:t>
                      </a:r>
                    </a:p>
                  </a:txBody>
                  <a:tcPr>
                    <a:solidFill>
                      <a:srgbClr val="FFFFFF"/>
                    </a:solidFill>
                  </a:tcPr>
                </a:tc>
                <a:tc>
                  <a:txBody>
                    <a:bodyPr/>
                    <a:lstStyle/>
                    <a:p>
                      <a:r>
                        <a:rPr sz="850" b="0">
                          <a:solidFill>
                            <a:srgbClr val="B06000"/>
                          </a:solidFill>
                          <a:latin typeface="Calibri"/>
                        </a:rPr>
                        <a:t>9%</a:t>
                      </a:r>
                    </a:p>
                  </a:txBody>
                  <a:tcPr>
                    <a:solidFill>
                      <a:srgbClr val="FFFFFF"/>
                    </a:solidFill>
                  </a:tcPr>
                </a:tc>
              </a:tr>
              <a:tr h="224028">
                <a:tc>
                  <a:txBody>
                    <a:bodyPr/>
                    <a:lstStyle/>
                    <a:p>
                      <a:r>
                        <a:rPr sz="850" b="1">
                          <a:latin typeface="Calibri"/>
                        </a:rPr>
                        <a:t>bb-md5</a:t>
                      </a:r>
                    </a:p>
                  </a:txBody>
                  <a:tcPr>
                    <a:solidFill>
                      <a:srgbClr val="EFF3FA"/>
                    </a:solidFill>
                  </a:tcPr>
                </a:tc>
                <a:tc>
                  <a:txBody>
                    <a:bodyPr/>
                    <a:lstStyle/>
                    <a:p>
                      <a:r>
                        <a:rPr sz="850" b="0">
                          <a:latin typeface="Calibri"/>
                        </a:rPr>
                        <a:t>1358</a:t>
                      </a:r>
                    </a:p>
                  </a:txBody>
                  <a:tcPr>
                    <a:solidFill>
                      <a:srgbClr val="EFF3FA"/>
                    </a:solidFill>
                  </a:tcPr>
                </a:tc>
                <a:tc>
                  <a:txBody>
                    <a:bodyPr/>
                    <a:lstStyle/>
                    <a:p>
                      <a:r>
                        <a:rPr sz="850" b="0">
                          <a:latin typeface="Calibri"/>
                        </a:rPr>
                        <a:t>1484</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sort-big</a:t>
                      </a:r>
                    </a:p>
                  </a:txBody>
                  <a:tcPr>
                    <a:solidFill>
                      <a:srgbClr val="FFFFFF"/>
                    </a:solidFill>
                  </a:tcPr>
                </a:tc>
                <a:tc>
                  <a:txBody>
                    <a:bodyPr/>
                    <a:lstStyle/>
                    <a:p>
                      <a:r>
                        <a:rPr sz="850" b="0">
                          <a:latin typeface="Calibri"/>
                        </a:rPr>
                        <a:t>1384</a:t>
                      </a:r>
                    </a:p>
                  </a:txBody>
                  <a:tcPr>
                    <a:solidFill>
                      <a:srgbClr val="FFFFFF"/>
                    </a:solidFill>
                  </a:tcPr>
                </a:tc>
                <a:tc>
                  <a:txBody>
                    <a:bodyPr/>
                    <a:lstStyle/>
                    <a:p>
                      <a:r>
                        <a:rPr sz="850" b="0">
                          <a:latin typeface="Calibri"/>
                        </a:rPr>
                        <a:t>1482</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bb-gunzip</a:t>
                      </a:r>
                    </a:p>
                  </a:txBody>
                  <a:tcPr>
                    <a:solidFill>
                      <a:srgbClr val="EFF3FA"/>
                    </a:solidFill>
                  </a:tcPr>
                </a:tc>
                <a:tc>
                  <a:txBody>
                    <a:bodyPr/>
                    <a:lstStyle/>
                    <a:p>
                      <a:r>
                        <a:rPr sz="850" b="0">
                          <a:latin typeface="Calibri"/>
                        </a:rPr>
                        <a:t>1342</a:t>
                      </a:r>
                    </a:p>
                  </a:txBody>
                  <a:tcPr>
                    <a:solidFill>
                      <a:srgbClr val="EFF3FA"/>
                    </a:solidFill>
                  </a:tcPr>
                </a:tc>
                <a:tc>
                  <a:txBody>
                    <a:bodyPr/>
                    <a:lstStyle/>
                    <a:p>
                      <a:r>
                        <a:rPr sz="850" b="0">
                          <a:latin typeface="Calibri"/>
                        </a:rPr>
                        <a:t>1478</a:t>
                      </a:r>
                    </a:p>
                  </a:txBody>
                  <a:tcPr>
                    <a:solidFill>
                      <a:srgbClr val="EFF3FA"/>
                    </a:solidFill>
                  </a:tcPr>
                </a:tc>
                <a:tc>
                  <a:txBody>
                    <a:bodyPr/>
                    <a:lstStyle/>
                    <a:p>
                      <a:r>
                        <a:rPr sz="850" b="0">
                          <a:solidFill>
                            <a:srgbClr val="B06000"/>
                          </a:solidFill>
                          <a:latin typeface="Calibri"/>
                        </a:rPr>
                        <a:t>9%</a:t>
                      </a:r>
                    </a:p>
                  </a:txBody>
                  <a:tcPr>
                    <a:solidFill>
                      <a:srgbClr val="EFF3FA"/>
                    </a:solidFill>
                  </a:tcPr>
                </a:tc>
              </a:tr>
              <a:tr h="224028">
                <a:tc>
                  <a:txBody>
                    <a:bodyPr/>
                    <a:lstStyle/>
                    <a:p>
                      <a:r>
                        <a:rPr sz="850" b="1">
                          <a:latin typeface="Calibri"/>
                        </a:rPr>
                        <a:t>cr-md5</a:t>
                      </a:r>
                    </a:p>
                  </a:txBody>
                  <a:tcPr>
                    <a:solidFill>
                      <a:srgbClr val="FFFFFF"/>
                    </a:solidFill>
                  </a:tcPr>
                </a:tc>
                <a:tc>
                  <a:txBody>
                    <a:bodyPr/>
                    <a:lstStyle/>
                    <a:p>
                      <a:r>
                        <a:rPr sz="850" b="0">
                          <a:latin typeface="Calibri"/>
                        </a:rPr>
                        <a:t>1379</a:t>
                      </a:r>
                    </a:p>
                  </a:txBody>
                  <a:tcPr>
                    <a:solidFill>
                      <a:srgbClr val="FFFFFF"/>
                    </a:solidFill>
                  </a:tcPr>
                </a:tc>
                <a:tc>
                  <a:txBody>
                    <a:bodyPr/>
                    <a:lstStyle/>
                    <a:p>
                      <a:r>
                        <a:rPr sz="850" b="0">
                          <a:latin typeface="Calibri"/>
                        </a:rPr>
                        <a:t>1478</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cr-rc4</a:t>
                      </a:r>
                    </a:p>
                  </a:txBody>
                  <a:tcPr>
                    <a:solidFill>
                      <a:srgbClr val="EFF3FA"/>
                    </a:solidFill>
                  </a:tcPr>
                </a:tc>
                <a:tc>
                  <a:txBody>
                    <a:bodyPr/>
                    <a:lstStyle/>
                    <a:p>
                      <a:r>
                        <a:rPr sz="850" b="0">
                          <a:latin typeface="Calibri"/>
                        </a:rPr>
                        <a:t>1336</a:t>
                      </a:r>
                    </a:p>
                  </a:txBody>
                  <a:tcPr>
                    <a:solidFill>
                      <a:srgbClr val="EFF3FA"/>
                    </a:solidFill>
                  </a:tcPr>
                </a:tc>
                <a:tc>
                  <a:txBody>
                    <a:bodyPr/>
                    <a:lstStyle/>
                    <a:p>
                      <a:r>
                        <a:rPr sz="850" b="0">
                          <a:latin typeface="Calibri"/>
                        </a:rPr>
                        <a:t>1477</a:t>
                      </a:r>
                    </a:p>
                  </a:txBody>
                  <a:tcPr>
                    <a:solidFill>
                      <a:srgbClr val="EFF3FA"/>
                    </a:solidFill>
                  </a:tcPr>
                </a:tc>
                <a:tc>
                  <a:txBody>
                    <a:bodyPr/>
                    <a:lstStyle/>
                    <a:p>
                      <a:r>
                        <a:rPr sz="850" b="0">
                          <a:solidFill>
                            <a:srgbClr val="B06000"/>
                          </a:solidFill>
                          <a:latin typeface="Calibri"/>
                        </a:rPr>
                        <a:t>10%</a:t>
                      </a:r>
                    </a:p>
                  </a:txBody>
                  <a:tcPr>
                    <a:solidFill>
                      <a:srgbClr val="EFF3FA"/>
                    </a:solidFill>
                  </a:tcPr>
                </a:tc>
              </a:tr>
            </a:tbl>
          </a:graphicData>
        </a:graphic>
      </p:graphicFrame>
      <p:graphicFrame>
        <p:nvGraphicFramePr>
          <p:cNvPr id="10" name="Table 9"/>
          <p:cNvGraphicFramePr>
            <a:graphicFrameLocks noGrp="1"/>
          </p:cNvGraphicFramePr>
          <p:nvPr/>
        </p:nvGraphicFramePr>
        <p:xfrm>
          <a:off x="4434840" y="1664208"/>
          <a:ext cx="3703320" cy="4032504"/>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sha256-big</a:t>
                      </a:r>
                    </a:p>
                  </a:txBody>
                  <a:tcPr>
                    <a:solidFill>
                      <a:srgbClr val="EFF3FA"/>
                    </a:solidFill>
                  </a:tcPr>
                </a:tc>
                <a:tc>
                  <a:txBody>
                    <a:bodyPr/>
                    <a:lstStyle/>
                    <a:p>
                      <a:r>
                        <a:rPr sz="850" b="0">
                          <a:latin typeface="Calibri"/>
                        </a:rPr>
                        <a:t>1397</a:t>
                      </a:r>
                    </a:p>
                  </a:txBody>
                  <a:tcPr>
                    <a:solidFill>
                      <a:srgbClr val="EFF3FA"/>
                    </a:solidFill>
                  </a:tcPr>
                </a:tc>
                <a:tc>
                  <a:txBody>
                    <a:bodyPr/>
                    <a:lstStyle/>
                    <a:p>
                      <a:r>
                        <a:rPr sz="850" b="0">
                          <a:latin typeface="Calibri"/>
                        </a:rPr>
                        <a:t>1476</a:t>
                      </a:r>
                    </a:p>
                  </a:txBody>
                  <a:tcPr>
                    <a:solidFill>
                      <a:srgbClr val="EFF3FA"/>
                    </a:solidFill>
                  </a:tcPr>
                </a:tc>
                <a:tc>
                  <a:txBody>
                    <a:bodyPr/>
                    <a:lstStyle/>
                    <a:p>
                      <a:r>
                        <a:rPr sz="850" b="0">
                          <a:solidFill>
                            <a:srgbClr val="187A33"/>
                          </a:solidFill>
                          <a:latin typeface="Calibri"/>
                        </a:rPr>
                        <a:t>5%</a:t>
                      </a:r>
                    </a:p>
                  </a:txBody>
                  <a:tcPr>
                    <a:solidFill>
                      <a:srgbClr val="EFF3FA"/>
                    </a:solidFill>
                  </a:tcPr>
                </a:tc>
              </a:tr>
              <a:tr h="224028">
                <a:tc>
                  <a:txBody>
                    <a:bodyPr/>
                    <a:lstStyle/>
                    <a:p>
                      <a:r>
                        <a:rPr sz="850" b="1">
                          <a:latin typeface="Calibri"/>
                        </a:rPr>
                        <a:t>bb-b64</a:t>
                      </a:r>
                    </a:p>
                  </a:txBody>
                  <a:tcPr>
                    <a:solidFill>
                      <a:srgbClr val="FFFFFF"/>
                    </a:solidFill>
                  </a:tcPr>
                </a:tc>
                <a:tc>
                  <a:txBody>
                    <a:bodyPr/>
                    <a:lstStyle/>
                    <a:p>
                      <a:r>
                        <a:rPr sz="850" b="0">
                          <a:latin typeface="Calibri"/>
                        </a:rPr>
                        <a:t>1335</a:t>
                      </a:r>
                    </a:p>
                  </a:txBody>
                  <a:tcPr>
                    <a:solidFill>
                      <a:srgbClr val="FFFFFF"/>
                    </a:solidFill>
                  </a:tcPr>
                </a:tc>
                <a:tc>
                  <a:txBody>
                    <a:bodyPr/>
                    <a:lstStyle/>
                    <a:p>
                      <a:r>
                        <a:rPr sz="850" b="0">
                          <a:latin typeface="Calibri"/>
                        </a:rPr>
                        <a:t>1476</a:t>
                      </a:r>
                    </a:p>
                  </a:txBody>
                  <a:tcPr>
                    <a:solidFill>
                      <a:srgbClr val="FFFFFF"/>
                    </a:solidFill>
                  </a:tcPr>
                </a:tc>
                <a:tc>
                  <a:txBody>
                    <a:bodyPr/>
                    <a:lstStyle/>
                    <a:p>
                      <a:r>
                        <a:rPr sz="850" b="0">
                          <a:solidFill>
                            <a:srgbClr val="B06000"/>
                          </a:solidFill>
                          <a:latin typeface="Calibri"/>
                        </a:rPr>
                        <a:t>10%</a:t>
                      </a:r>
                    </a:p>
                  </a:txBody>
                  <a:tcPr>
                    <a:solidFill>
                      <a:srgbClr val="FFFFFF"/>
                    </a:solidFill>
                  </a:tcPr>
                </a:tc>
              </a:tr>
              <a:tr h="224028">
                <a:tc>
                  <a:txBody>
                    <a:bodyPr/>
                    <a:lstStyle/>
                    <a:p>
                      <a:r>
                        <a:rPr sz="850" b="1">
                          <a:latin typeface="Calibri"/>
                        </a:rPr>
                        <a:t>sort</a:t>
                      </a:r>
                    </a:p>
                  </a:txBody>
                  <a:tcPr>
                    <a:solidFill>
                      <a:srgbClr val="EFF3FA"/>
                    </a:solidFill>
                  </a:tcPr>
                </a:tc>
                <a:tc>
                  <a:txBody>
                    <a:bodyPr/>
                    <a:lstStyle/>
                    <a:p>
                      <a:r>
                        <a:rPr sz="850" b="0">
                          <a:latin typeface="Calibri"/>
                        </a:rPr>
                        <a:t>1378</a:t>
                      </a:r>
                    </a:p>
                  </a:txBody>
                  <a:tcPr>
                    <a:solidFill>
                      <a:srgbClr val="EFF3FA"/>
                    </a:solidFill>
                  </a:tcPr>
                </a:tc>
                <a:tc>
                  <a:txBody>
                    <a:bodyPr/>
                    <a:lstStyle/>
                    <a:p>
                      <a:r>
                        <a:rPr sz="850" b="0">
                          <a:latin typeface="Calibri"/>
                        </a:rPr>
                        <a:t>1473</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bb-sha512</a:t>
                      </a:r>
                    </a:p>
                  </a:txBody>
                  <a:tcPr>
                    <a:solidFill>
                      <a:srgbClr val="FFFFFF"/>
                    </a:solidFill>
                  </a:tcPr>
                </a:tc>
                <a:tc>
                  <a:txBody>
                    <a:bodyPr/>
                    <a:lstStyle/>
                    <a:p>
                      <a:r>
                        <a:rPr sz="850" b="0">
                          <a:latin typeface="Calibri"/>
                        </a:rPr>
                        <a:t>1380</a:t>
                      </a:r>
                    </a:p>
                  </a:txBody>
                  <a:tcPr>
                    <a:solidFill>
                      <a:srgbClr val="FFFFFF"/>
                    </a:solidFill>
                  </a:tcPr>
                </a:tc>
                <a:tc>
                  <a:txBody>
                    <a:bodyPr/>
                    <a:lstStyle/>
                    <a:p>
                      <a:r>
                        <a:rPr sz="850" b="0">
                          <a:latin typeface="Calibri"/>
                        </a:rPr>
                        <a:t>1470</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bzip2-fast</a:t>
                      </a:r>
                    </a:p>
                  </a:txBody>
                  <a:tcPr>
                    <a:solidFill>
                      <a:srgbClr val="EFF3FA"/>
                    </a:solidFill>
                  </a:tcPr>
                </a:tc>
                <a:tc>
                  <a:txBody>
                    <a:bodyPr/>
                    <a:lstStyle/>
                    <a:p>
                      <a:r>
                        <a:rPr sz="850" b="0">
                          <a:latin typeface="Calibri"/>
                        </a:rPr>
                        <a:t>1349</a:t>
                      </a:r>
                    </a:p>
                  </a:txBody>
                  <a:tcPr>
                    <a:solidFill>
                      <a:srgbClr val="EFF3FA"/>
                    </a:solidFill>
                  </a:tcPr>
                </a:tc>
                <a:tc>
                  <a:txBody>
                    <a:bodyPr/>
                    <a:lstStyle/>
                    <a:p>
                      <a:r>
                        <a:rPr sz="850" b="0">
                          <a:latin typeface="Calibri"/>
                        </a:rPr>
                        <a:t>1469</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bb-wc</a:t>
                      </a:r>
                    </a:p>
                  </a:txBody>
                  <a:tcPr>
                    <a:solidFill>
                      <a:srgbClr val="FFFFFF"/>
                    </a:solidFill>
                  </a:tcPr>
                </a:tc>
                <a:tc>
                  <a:txBody>
                    <a:bodyPr/>
                    <a:lstStyle/>
                    <a:p>
                      <a:r>
                        <a:rPr sz="850" b="0">
                          <a:latin typeface="Calibri"/>
                        </a:rPr>
                        <a:t>1371</a:t>
                      </a:r>
                    </a:p>
                  </a:txBody>
                  <a:tcPr>
                    <a:solidFill>
                      <a:srgbClr val="FFFFFF"/>
                    </a:solidFill>
                  </a:tcPr>
                </a:tc>
                <a:tc>
                  <a:txBody>
                    <a:bodyPr/>
                    <a:lstStyle/>
                    <a:p>
                      <a:r>
                        <a:rPr sz="850" b="0">
                          <a:latin typeface="Calibri"/>
                        </a:rPr>
                        <a:t>1467</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sha256</a:t>
                      </a:r>
                    </a:p>
                  </a:txBody>
                  <a:tcPr>
                    <a:solidFill>
                      <a:srgbClr val="EFF3FA"/>
                    </a:solidFill>
                  </a:tcPr>
                </a:tc>
                <a:tc>
                  <a:txBody>
                    <a:bodyPr/>
                    <a:lstStyle/>
                    <a:p>
                      <a:r>
                        <a:rPr sz="850" b="0">
                          <a:latin typeface="Calibri"/>
                        </a:rPr>
                        <a:t>1398</a:t>
                      </a:r>
                    </a:p>
                  </a:txBody>
                  <a:tcPr>
                    <a:solidFill>
                      <a:srgbClr val="EFF3FA"/>
                    </a:solidFill>
                  </a:tcPr>
                </a:tc>
                <a:tc>
                  <a:txBody>
                    <a:bodyPr/>
                    <a:lstStyle/>
                    <a:p>
                      <a:r>
                        <a:rPr sz="850" b="0">
                          <a:latin typeface="Calibri"/>
                        </a:rPr>
                        <a:t>1458</a:t>
                      </a:r>
                    </a:p>
                  </a:txBody>
                  <a:tcPr>
                    <a:solidFill>
                      <a:srgbClr val="EFF3FA"/>
                    </a:solidFill>
                  </a:tcPr>
                </a:tc>
                <a:tc>
                  <a:txBody>
                    <a:bodyPr/>
                    <a:lstStyle/>
                    <a:p>
                      <a:r>
                        <a:rPr sz="850" b="0">
                          <a:solidFill>
                            <a:srgbClr val="187A33"/>
                          </a:solidFill>
                          <a:latin typeface="Calibri"/>
                        </a:rPr>
                        <a:t>4%</a:t>
                      </a:r>
                    </a:p>
                  </a:txBody>
                  <a:tcPr>
                    <a:solidFill>
                      <a:srgbClr val="EFF3FA"/>
                    </a:solidFill>
                  </a:tcPr>
                </a:tc>
              </a:tr>
              <a:tr h="224028">
                <a:tc>
                  <a:txBody>
                    <a:bodyPr/>
                    <a:lstStyle/>
                    <a:p>
                      <a:r>
                        <a:rPr sz="850" b="1">
                          <a:latin typeface="Calibri"/>
                        </a:rPr>
                        <a:t>lua</a:t>
                      </a:r>
                    </a:p>
                  </a:txBody>
                  <a:tcPr>
                    <a:solidFill>
                      <a:srgbClr val="FFFFFF"/>
                    </a:solidFill>
                  </a:tcPr>
                </a:tc>
                <a:tc>
                  <a:txBody>
                    <a:bodyPr/>
                    <a:lstStyle/>
                    <a:p>
                      <a:r>
                        <a:rPr sz="850" b="0">
                          <a:latin typeface="Calibri"/>
                        </a:rPr>
                        <a:t>1363</a:t>
                      </a:r>
                    </a:p>
                  </a:txBody>
                  <a:tcPr>
                    <a:solidFill>
                      <a:srgbClr val="FFFFFF"/>
                    </a:solidFill>
                  </a:tcPr>
                </a:tc>
                <a:tc>
                  <a:txBody>
                    <a:bodyPr/>
                    <a:lstStyle/>
                    <a:p>
                      <a:r>
                        <a:rPr sz="850" b="0">
                          <a:latin typeface="Calibri"/>
                        </a:rPr>
                        <a:t>1457</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cr-aes</a:t>
                      </a:r>
                    </a:p>
                  </a:txBody>
                  <a:tcPr>
                    <a:solidFill>
                      <a:srgbClr val="EFF3FA"/>
                    </a:solidFill>
                  </a:tcPr>
                </a:tc>
                <a:tc>
                  <a:txBody>
                    <a:bodyPr/>
                    <a:lstStyle/>
                    <a:p>
                      <a:r>
                        <a:rPr sz="850" b="0">
                          <a:latin typeface="Calibri"/>
                        </a:rPr>
                        <a:t>1378</a:t>
                      </a:r>
                    </a:p>
                  </a:txBody>
                  <a:tcPr>
                    <a:solidFill>
                      <a:srgbClr val="EFF3FA"/>
                    </a:solidFill>
                  </a:tcPr>
                </a:tc>
                <a:tc>
                  <a:txBody>
                    <a:bodyPr/>
                    <a:lstStyle/>
                    <a:p>
                      <a:r>
                        <a:rPr sz="850" b="0">
                          <a:latin typeface="Calibri"/>
                        </a:rPr>
                        <a:t>1445</a:t>
                      </a:r>
                    </a:p>
                  </a:txBody>
                  <a:tcPr>
                    <a:solidFill>
                      <a:srgbClr val="EFF3FA"/>
                    </a:solidFill>
                  </a:tcPr>
                </a:tc>
                <a:tc>
                  <a:txBody>
                    <a:bodyPr/>
                    <a:lstStyle/>
                    <a:p>
                      <a:r>
                        <a:rPr sz="850" b="0">
                          <a:solidFill>
                            <a:srgbClr val="187A33"/>
                          </a:solidFill>
                          <a:latin typeface="Calibri"/>
                        </a:rPr>
                        <a:t>5%</a:t>
                      </a:r>
                    </a:p>
                  </a:txBody>
                  <a:tcPr>
                    <a:solidFill>
                      <a:srgbClr val="EFF3FA"/>
                    </a:solidFill>
                  </a:tcPr>
                </a:tc>
              </a:tr>
              <a:tr h="224028">
                <a:tc>
                  <a:txBody>
                    <a:bodyPr/>
                    <a:lstStyle/>
                    <a:p>
                      <a:r>
                        <a:rPr sz="850" b="1">
                          <a:latin typeface="Calibri"/>
                        </a:rPr>
                        <a:t>bzip2</a:t>
                      </a:r>
                    </a:p>
                  </a:txBody>
                  <a:tcPr>
                    <a:solidFill>
                      <a:srgbClr val="FFFFFF"/>
                    </a:solidFill>
                  </a:tcPr>
                </a:tc>
                <a:tc>
                  <a:txBody>
                    <a:bodyPr/>
                    <a:lstStyle/>
                    <a:p>
                      <a:r>
                        <a:rPr sz="850" b="0">
                          <a:latin typeface="Calibri"/>
                        </a:rPr>
                        <a:t>1337</a:t>
                      </a:r>
                    </a:p>
                  </a:txBody>
                  <a:tcPr>
                    <a:solidFill>
                      <a:srgbClr val="FFFFFF"/>
                    </a:solidFill>
                  </a:tcPr>
                </a:tc>
                <a:tc>
                  <a:txBody>
                    <a:bodyPr/>
                    <a:lstStyle/>
                    <a:p>
                      <a:r>
                        <a:rPr sz="850" b="0">
                          <a:latin typeface="Calibri"/>
                        </a:rPr>
                        <a:t>1444</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heatshrink</a:t>
                      </a:r>
                    </a:p>
                  </a:txBody>
                  <a:tcPr>
                    <a:solidFill>
                      <a:srgbClr val="EFF3FA"/>
                    </a:solidFill>
                  </a:tcPr>
                </a:tc>
                <a:tc>
                  <a:txBody>
                    <a:bodyPr/>
                    <a:lstStyle/>
                    <a:p>
                      <a:r>
                        <a:rPr sz="850" b="0">
                          <a:latin typeface="Calibri"/>
                        </a:rPr>
                        <a:t>1346</a:t>
                      </a:r>
                    </a:p>
                  </a:txBody>
                  <a:tcPr>
                    <a:solidFill>
                      <a:srgbClr val="EFF3FA"/>
                    </a:solidFill>
                  </a:tcPr>
                </a:tc>
                <a:tc>
                  <a:txBody>
                    <a:bodyPr/>
                    <a:lstStyle/>
                    <a:p>
                      <a:r>
                        <a:rPr sz="850" b="0">
                          <a:latin typeface="Calibri"/>
                        </a:rPr>
                        <a:t>1440</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bb-sortn</a:t>
                      </a:r>
                    </a:p>
                  </a:txBody>
                  <a:tcPr>
                    <a:solidFill>
                      <a:srgbClr val="FFFFFF"/>
                    </a:solidFill>
                  </a:tcPr>
                </a:tc>
                <a:tc>
                  <a:txBody>
                    <a:bodyPr/>
                    <a:lstStyle/>
                    <a:p>
                      <a:r>
                        <a:rPr sz="850" b="0">
                          <a:latin typeface="Calibri"/>
                        </a:rPr>
                        <a:t>1345</a:t>
                      </a:r>
                    </a:p>
                  </a:txBody>
                  <a:tcPr>
                    <a:solidFill>
                      <a:srgbClr val="FFFFFF"/>
                    </a:solidFill>
                  </a:tcPr>
                </a:tc>
                <a:tc>
                  <a:txBody>
                    <a:bodyPr/>
                    <a:lstStyle/>
                    <a:p>
                      <a:r>
                        <a:rPr sz="850" b="0">
                          <a:latin typeface="Calibri"/>
                        </a:rPr>
                        <a:t>1438</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bb-cksum</a:t>
                      </a:r>
                    </a:p>
                  </a:txBody>
                  <a:tcPr>
                    <a:solidFill>
                      <a:srgbClr val="EFF3FA"/>
                    </a:solidFill>
                  </a:tcPr>
                </a:tc>
                <a:tc>
                  <a:txBody>
                    <a:bodyPr/>
                    <a:lstStyle/>
                    <a:p>
                      <a:r>
                        <a:rPr sz="850" b="0">
                          <a:latin typeface="Calibri"/>
                        </a:rPr>
                        <a:t>1316</a:t>
                      </a:r>
                    </a:p>
                  </a:txBody>
                  <a:tcPr>
                    <a:solidFill>
                      <a:srgbClr val="EFF3FA"/>
                    </a:solidFill>
                  </a:tcPr>
                </a:tc>
                <a:tc>
                  <a:txBody>
                    <a:bodyPr/>
                    <a:lstStyle/>
                    <a:p>
                      <a:r>
                        <a:rPr sz="850" b="0">
                          <a:latin typeface="Calibri"/>
                        </a:rPr>
                        <a:t>1437</a:t>
                      </a:r>
                    </a:p>
                  </a:txBody>
                  <a:tcPr>
                    <a:solidFill>
                      <a:srgbClr val="EFF3FA"/>
                    </a:solidFill>
                  </a:tcPr>
                </a:tc>
                <a:tc>
                  <a:txBody>
                    <a:bodyPr/>
                    <a:lstStyle/>
                    <a:p>
                      <a:r>
                        <a:rPr sz="850" b="0">
                          <a:solidFill>
                            <a:srgbClr val="187A33"/>
                          </a:solidFill>
                          <a:latin typeface="Calibri"/>
                        </a:rPr>
                        <a:t>8%</a:t>
                      </a:r>
                    </a:p>
                  </a:txBody>
                  <a:tcPr>
                    <a:solidFill>
                      <a:srgbClr val="EFF3FA"/>
                    </a:solidFill>
                  </a:tcPr>
                </a:tc>
              </a:tr>
              <a:tr h="224028">
                <a:tc>
                  <a:txBody>
                    <a:bodyPr/>
                    <a:lstStyle/>
                    <a:p>
                      <a:r>
                        <a:rPr sz="850" b="1">
                          <a:latin typeface="Calibri"/>
                        </a:rPr>
                        <a:t>rd-plasma</a:t>
                      </a:r>
                    </a:p>
                  </a:txBody>
                  <a:tcPr>
                    <a:solidFill>
                      <a:srgbClr val="FFFFFF"/>
                    </a:solidFill>
                  </a:tcPr>
                </a:tc>
                <a:tc>
                  <a:txBody>
                    <a:bodyPr/>
                    <a:lstStyle/>
                    <a:p>
                      <a:r>
                        <a:rPr sz="850" b="0">
                          <a:latin typeface="Calibri"/>
                        </a:rPr>
                        <a:t>1331</a:t>
                      </a:r>
                    </a:p>
                  </a:txBody>
                  <a:tcPr>
                    <a:solidFill>
                      <a:srgbClr val="FFFFFF"/>
                    </a:solidFill>
                  </a:tcPr>
                </a:tc>
                <a:tc>
                  <a:txBody>
                    <a:bodyPr/>
                    <a:lstStyle/>
                    <a:p>
                      <a:r>
                        <a:rPr sz="850" b="0">
                          <a:latin typeface="Calibri"/>
                        </a:rPr>
                        <a:t>1434</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sqlite-heavy</a:t>
                      </a:r>
                    </a:p>
                  </a:txBody>
                  <a:tcPr>
                    <a:solidFill>
                      <a:srgbClr val="EFF3FA"/>
                    </a:solidFill>
                  </a:tcPr>
                </a:tc>
                <a:tc>
                  <a:txBody>
                    <a:bodyPr/>
                    <a:lstStyle/>
                    <a:p>
                      <a:r>
                        <a:rPr sz="850" b="0">
                          <a:latin typeface="Calibri"/>
                        </a:rPr>
                        <a:t>1350</a:t>
                      </a:r>
                    </a:p>
                  </a:txBody>
                  <a:tcPr>
                    <a:solidFill>
                      <a:srgbClr val="EFF3FA"/>
                    </a:solidFill>
                  </a:tcPr>
                </a:tc>
                <a:tc>
                  <a:txBody>
                    <a:bodyPr/>
                    <a:lstStyle/>
                    <a:p>
                      <a:r>
                        <a:rPr sz="850" b="0">
                          <a:latin typeface="Calibri"/>
                        </a:rPr>
                        <a:t>1434</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bb-gzip</a:t>
                      </a:r>
                    </a:p>
                  </a:txBody>
                  <a:tcPr>
                    <a:solidFill>
                      <a:srgbClr val="FFFFFF"/>
                    </a:solidFill>
                  </a:tcPr>
                </a:tc>
                <a:tc>
                  <a:txBody>
                    <a:bodyPr/>
                    <a:lstStyle/>
                    <a:p>
                      <a:r>
                        <a:rPr sz="850" b="0">
                          <a:latin typeface="Calibri"/>
                        </a:rPr>
                        <a:t>1335</a:t>
                      </a:r>
                    </a:p>
                  </a:txBody>
                  <a:tcPr>
                    <a:solidFill>
                      <a:srgbClr val="FFFFFF"/>
                    </a:solidFill>
                  </a:tcPr>
                </a:tc>
                <a:tc>
                  <a:txBody>
                    <a:bodyPr/>
                    <a:lstStyle/>
                    <a:p>
                      <a:r>
                        <a:rPr sz="850" b="0">
                          <a:latin typeface="Calibri"/>
                        </a:rPr>
                        <a:t>1433</a:t>
                      </a:r>
                    </a:p>
                  </a:txBody>
                  <a:tcPr>
                    <a:solidFill>
                      <a:srgbClr val="FFFFFF"/>
                    </a:solidFill>
                  </a:tcPr>
                </a:tc>
                <a:tc>
                  <a:txBody>
                    <a:bodyPr/>
                    <a:lstStyle/>
                    <a:p>
                      <a:r>
                        <a:rPr sz="850" b="0">
                          <a:solidFill>
                            <a:srgbClr val="187A33"/>
                          </a:solidFill>
                          <a:latin typeface="Calibri"/>
                        </a:rPr>
                        <a:t>7%</a:t>
                      </a:r>
                    </a:p>
                  </a:txBody>
                  <a:tcPr>
                    <a:solidFill>
                      <a:srgbClr val="FFFFFF"/>
                    </a:solidFill>
                  </a:tcPr>
                </a:tc>
              </a:tr>
              <a:tr h="224028">
                <a:tc>
                  <a:txBody>
                    <a:bodyPr/>
                    <a:lstStyle/>
                    <a:p>
                      <a:r>
                        <a:rPr sz="850" b="1">
                          <a:latin typeface="Calibri"/>
                        </a:rPr>
                        <a:t>sqlite</a:t>
                      </a:r>
                    </a:p>
                  </a:txBody>
                  <a:tcPr>
                    <a:solidFill>
                      <a:srgbClr val="EFF3FA"/>
                    </a:solidFill>
                  </a:tcPr>
                </a:tc>
                <a:tc>
                  <a:txBody>
                    <a:bodyPr/>
                    <a:lstStyle/>
                    <a:p>
                      <a:r>
                        <a:rPr sz="850" b="0">
                          <a:latin typeface="Calibri"/>
                        </a:rPr>
                        <a:t>1351</a:t>
                      </a:r>
                    </a:p>
                  </a:txBody>
                  <a:tcPr>
                    <a:solidFill>
                      <a:srgbClr val="EFF3FA"/>
                    </a:solidFill>
                  </a:tcPr>
                </a:tc>
                <a:tc>
                  <a:txBody>
                    <a:bodyPr/>
                    <a:lstStyle/>
                    <a:p>
                      <a:r>
                        <a:rPr sz="850" b="0">
                          <a:latin typeface="Calibri"/>
                        </a:rPr>
                        <a:t>1432</a:t>
                      </a:r>
                    </a:p>
                  </a:txBody>
                  <a:tcPr>
                    <a:solidFill>
                      <a:srgbClr val="EFF3FA"/>
                    </a:solidFill>
                  </a:tcPr>
                </a:tc>
                <a:tc>
                  <a:txBody>
                    <a:bodyPr/>
                    <a:lstStyle/>
                    <a:p>
                      <a:r>
                        <a:rPr sz="850" b="0">
                          <a:solidFill>
                            <a:srgbClr val="187A33"/>
                          </a:solidFill>
                          <a:latin typeface="Calibri"/>
                        </a:rPr>
                        <a:t>6%</a:t>
                      </a:r>
                    </a:p>
                  </a:txBody>
                  <a:tcPr>
                    <a:solidFill>
                      <a:srgbClr val="EFF3FA"/>
                    </a:solidFill>
                  </a:tcPr>
                </a:tc>
              </a:tr>
            </a:tbl>
          </a:graphicData>
        </a:graphic>
      </p:graphicFrame>
      <p:graphicFrame>
        <p:nvGraphicFramePr>
          <p:cNvPr id="11" name="Table 10"/>
          <p:cNvGraphicFramePr>
            <a:graphicFrameLocks noGrp="1"/>
          </p:cNvGraphicFramePr>
          <p:nvPr/>
        </p:nvGraphicFramePr>
        <p:xfrm>
          <a:off x="8321040" y="1664208"/>
          <a:ext cx="3703320" cy="3808476"/>
        </p:xfrm>
        <a:graphic>
          <a:graphicData uri="http://schemas.openxmlformats.org/drawingml/2006/table">
            <a:tbl>
              <a:tblPr firstRow="1" bandRow="1">
                <a:tableStyleId>{5C22544A-7EE6-4342-B048-85BDC9FD1C3A}</a:tableStyleId>
              </a:tblPr>
              <a:tblGrid>
                <a:gridCol w="1417320"/>
                <a:gridCol w="777240"/>
                <a:gridCol w="777240"/>
                <a:gridCol w="731520"/>
              </a:tblGrid>
              <a:tr h="224028">
                <a:tc>
                  <a:txBody>
                    <a:bodyPr/>
                    <a:lstStyle/>
                    <a:p>
                      <a:r>
                        <a:rPr sz="850" b="1">
                          <a:solidFill>
                            <a:srgbClr val="FFFFFF"/>
                          </a:solidFill>
                          <a:latin typeface="Calibri"/>
                        </a:rPr>
                        <a:t>app</a:t>
                      </a:r>
                    </a:p>
                  </a:txBody>
                  <a:tcPr>
                    <a:solidFill>
                      <a:srgbClr val="202124"/>
                    </a:solidFill>
                  </a:tcPr>
                </a:tc>
                <a:tc>
                  <a:txBody>
                    <a:bodyPr/>
                    <a:lstStyle/>
                    <a:p>
                      <a:r>
                        <a:rPr sz="850" b="1">
                          <a:solidFill>
                            <a:srgbClr val="FFFFFF"/>
                          </a:solidFill>
                          <a:latin typeface="Calibri"/>
                        </a:rPr>
                        <a:t>pred</a:t>
                      </a:r>
                    </a:p>
                  </a:txBody>
                  <a:tcPr>
                    <a:solidFill>
                      <a:srgbClr val="202124"/>
                    </a:solidFill>
                  </a:tcPr>
                </a:tc>
                <a:tc>
                  <a:txBody>
                    <a:bodyPr/>
                    <a:lstStyle/>
                    <a:p>
                      <a:r>
                        <a:rPr sz="850" b="1">
                          <a:solidFill>
                            <a:srgbClr val="FFFFFF"/>
                          </a:solidFill>
                          <a:latin typeface="Calibri"/>
                        </a:rPr>
                        <a:t>meas</a:t>
                      </a:r>
                    </a:p>
                  </a:txBody>
                  <a:tcPr>
                    <a:solidFill>
                      <a:srgbClr val="202124"/>
                    </a:solidFill>
                  </a:tcPr>
                </a:tc>
                <a:tc>
                  <a:txBody>
                    <a:bodyPr/>
                    <a:lstStyle/>
                    <a:p>
                      <a:r>
                        <a:rPr sz="850" b="1">
                          <a:solidFill>
                            <a:srgbClr val="FFFFFF"/>
                          </a:solidFill>
                          <a:latin typeface="Calibri"/>
                        </a:rPr>
                        <a:t>err</a:t>
                      </a:r>
                    </a:p>
                  </a:txBody>
                  <a:tcPr>
                    <a:solidFill>
                      <a:srgbClr val="202124"/>
                    </a:solidFill>
                  </a:tcPr>
                </a:tc>
              </a:tr>
              <a:tr h="224028">
                <a:tc>
                  <a:txBody>
                    <a:bodyPr/>
                    <a:lstStyle/>
                    <a:p>
                      <a:r>
                        <a:rPr sz="850" b="1">
                          <a:latin typeface="Calibri"/>
                        </a:rPr>
                        <a:t>parson</a:t>
                      </a:r>
                    </a:p>
                  </a:txBody>
                  <a:tcPr>
                    <a:solidFill>
                      <a:srgbClr val="EFF3FA"/>
                    </a:solidFill>
                  </a:tcPr>
                </a:tc>
                <a:tc>
                  <a:txBody>
                    <a:bodyPr/>
                    <a:lstStyle/>
                    <a:p>
                      <a:r>
                        <a:rPr sz="850" b="0">
                          <a:latin typeface="Calibri"/>
                        </a:rPr>
                        <a:t>1339</a:t>
                      </a:r>
                    </a:p>
                  </a:txBody>
                  <a:tcPr>
                    <a:solidFill>
                      <a:srgbClr val="EFF3FA"/>
                    </a:solidFill>
                  </a:tcPr>
                </a:tc>
                <a:tc>
                  <a:txBody>
                    <a:bodyPr/>
                    <a:lstStyle/>
                    <a:p>
                      <a:r>
                        <a:rPr sz="850" b="0">
                          <a:latin typeface="Calibri"/>
                        </a:rPr>
                        <a:t>1432</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bb-awk</a:t>
                      </a:r>
                    </a:p>
                  </a:txBody>
                  <a:tcPr>
                    <a:solidFill>
                      <a:srgbClr val="FFFFFF"/>
                    </a:solidFill>
                  </a:tcPr>
                </a:tc>
                <a:tc>
                  <a:txBody>
                    <a:bodyPr/>
                    <a:lstStyle/>
                    <a:p>
                      <a:r>
                        <a:rPr sz="850" b="0">
                          <a:latin typeface="Calibri"/>
                        </a:rPr>
                        <a:t>1336</a:t>
                      </a:r>
                    </a:p>
                  </a:txBody>
                  <a:tcPr>
                    <a:solidFill>
                      <a:srgbClr val="FFFFFF"/>
                    </a:solidFill>
                  </a:tcPr>
                </a:tc>
                <a:tc>
                  <a:txBody>
                    <a:bodyPr/>
                    <a:lstStyle/>
                    <a:p>
                      <a:r>
                        <a:rPr sz="850" b="0">
                          <a:latin typeface="Calibri"/>
                        </a:rPr>
                        <a:t>1428</a:t>
                      </a:r>
                    </a:p>
                  </a:txBody>
                  <a:tcPr>
                    <a:solidFill>
                      <a:srgbClr val="FFFFFF"/>
                    </a:solidFill>
                  </a:tcPr>
                </a:tc>
                <a:tc>
                  <a:txBody>
                    <a:bodyPr/>
                    <a:lstStyle/>
                    <a:p>
                      <a:r>
                        <a:rPr sz="850" b="0">
                          <a:solidFill>
                            <a:srgbClr val="187A33"/>
                          </a:solidFill>
                          <a:latin typeface="Calibri"/>
                        </a:rPr>
                        <a:t>6%</a:t>
                      </a:r>
                    </a:p>
                  </a:txBody>
                  <a:tcPr>
                    <a:solidFill>
                      <a:srgbClr val="FFFFFF"/>
                    </a:solidFill>
                  </a:tcPr>
                </a:tc>
              </a:tr>
              <a:tr h="224028">
                <a:tc>
                  <a:txBody>
                    <a:bodyPr/>
                    <a:lstStyle/>
                    <a:p>
                      <a:r>
                        <a:rPr sz="850" b="1">
                          <a:latin typeface="Calibri"/>
                        </a:rPr>
                        <a:t>bb-sed</a:t>
                      </a:r>
                    </a:p>
                  </a:txBody>
                  <a:tcPr>
                    <a:solidFill>
                      <a:srgbClr val="EFF3FA"/>
                    </a:solidFill>
                  </a:tcPr>
                </a:tc>
                <a:tc>
                  <a:txBody>
                    <a:bodyPr/>
                    <a:lstStyle/>
                    <a:p>
                      <a:r>
                        <a:rPr sz="850" b="0">
                          <a:latin typeface="Calibri"/>
                        </a:rPr>
                        <a:t>1343</a:t>
                      </a:r>
                    </a:p>
                  </a:txBody>
                  <a:tcPr>
                    <a:solidFill>
                      <a:srgbClr val="EFF3FA"/>
                    </a:solidFill>
                  </a:tcPr>
                </a:tc>
                <a:tc>
                  <a:txBody>
                    <a:bodyPr/>
                    <a:lstStyle/>
                    <a:p>
                      <a:r>
                        <a:rPr sz="850" b="0">
                          <a:latin typeface="Calibri"/>
                        </a:rPr>
                        <a:t>1425</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bb-sha1</a:t>
                      </a:r>
                    </a:p>
                  </a:txBody>
                  <a:tcPr>
                    <a:solidFill>
                      <a:srgbClr val="FFFFFF"/>
                    </a:solidFill>
                  </a:tcPr>
                </a:tc>
                <a:tc>
                  <a:txBody>
                    <a:bodyPr/>
                    <a:lstStyle/>
                    <a:p>
                      <a:r>
                        <a:rPr sz="850" b="0">
                          <a:latin typeface="Calibri"/>
                        </a:rPr>
                        <a:t>1383</a:t>
                      </a:r>
                    </a:p>
                  </a:txBody>
                  <a:tcPr>
                    <a:solidFill>
                      <a:srgbClr val="FFFFFF"/>
                    </a:solidFill>
                  </a:tcPr>
                </a:tc>
                <a:tc>
                  <a:txBody>
                    <a:bodyPr/>
                    <a:lstStyle/>
                    <a:p>
                      <a:r>
                        <a:rPr sz="850" b="0">
                          <a:latin typeface="Calibri"/>
                        </a:rPr>
                        <a:t>1421</a:t>
                      </a:r>
                    </a:p>
                  </a:txBody>
                  <a:tcPr>
                    <a:solidFill>
                      <a:srgbClr val="FFFFFF"/>
                    </a:solidFill>
                  </a:tcPr>
                </a:tc>
                <a:tc>
                  <a:txBody>
                    <a:bodyPr/>
                    <a:lstStyle/>
                    <a:p>
                      <a:r>
                        <a:rPr sz="850" b="0">
                          <a:solidFill>
                            <a:srgbClr val="187A33"/>
                          </a:solidFill>
                          <a:latin typeface="Calibri"/>
                        </a:rPr>
                        <a:t>3%</a:t>
                      </a:r>
                    </a:p>
                  </a:txBody>
                  <a:tcPr>
                    <a:solidFill>
                      <a:srgbClr val="FFFFFF"/>
                    </a:solidFill>
                  </a:tcPr>
                </a:tc>
              </a:tr>
              <a:tr h="224028">
                <a:tc>
                  <a:txBody>
                    <a:bodyPr/>
                    <a:lstStyle/>
                    <a:p>
                      <a:r>
                        <a:rPr sz="850" b="1">
                          <a:latin typeface="Calibri"/>
                        </a:rPr>
                        <a:t>cjson</a:t>
                      </a:r>
                    </a:p>
                  </a:txBody>
                  <a:tcPr>
                    <a:solidFill>
                      <a:srgbClr val="EFF3FA"/>
                    </a:solidFill>
                  </a:tcPr>
                </a:tc>
                <a:tc>
                  <a:txBody>
                    <a:bodyPr/>
                    <a:lstStyle/>
                    <a:p>
                      <a:r>
                        <a:rPr sz="850" b="0">
                          <a:latin typeface="Calibri"/>
                        </a:rPr>
                        <a:t>1339</a:t>
                      </a:r>
                    </a:p>
                  </a:txBody>
                  <a:tcPr>
                    <a:solidFill>
                      <a:srgbClr val="EFF3FA"/>
                    </a:solidFill>
                  </a:tcPr>
                </a:tc>
                <a:tc>
                  <a:txBody>
                    <a:bodyPr/>
                    <a:lstStyle/>
                    <a:p>
                      <a:r>
                        <a:rPr sz="850" b="0">
                          <a:latin typeface="Calibri"/>
                        </a:rPr>
                        <a:t>1420</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pcg</a:t>
                      </a:r>
                    </a:p>
                  </a:txBody>
                  <a:tcPr>
                    <a:solidFill>
                      <a:srgbClr val="FFFFFF"/>
                    </a:solidFill>
                  </a:tcPr>
                </a:tc>
                <a:tc>
                  <a:txBody>
                    <a:bodyPr/>
                    <a:lstStyle/>
                    <a:p>
                      <a:r>
                        <a:rPr sz="850" b="0">
                          <a:latin typeface="Calibri"/>
                        </a:rPr>
                        <a:t>1349</a:t>
                      </a:r>
                    </a:p>
                  </a:txBody>
                  <a:tcPr>
                    <a:solidFill>
                      <a:srgbClr val="FFFFFF"/>
                    </a:solidFill>
                  </a:tcPr>
                </a:tc>
                <a:tc>
                  <a:txBody>
                    <a:bodyPr/>
                    <a:lstStyle/>
                    <a:p>
                      <a:r>
                        <a:rPr sz="850" b="0">
                          <a:latin typeface="Calibri"/>
                        </a:rPr>
                        <a:t>1419</a:t>
                      </a:r>
                    </a:p>
                  </a:txBody>
                  <a:tcPr>
                    <a:solidFill>
                      <a:srgbClr val="FFFFFF"/>
                    </a:solidFill>
                  </a:tcPr>
                </a:tc>
                <a:tc>
                  <a:txBody>
                    <a:bodyPr/>
                    <a:lstStyle/>
                    <a:p>
                      <a:r>
                        <a:rPr sz="850" b="0">
                          <a:solidFill>
                            <a:srgbClr val="187A33"/>
                          </a:solidFill>
                          <a:latin typeface="Calibri"/>
                        </a:rPr>
                        <a:t>5%</a:t>
                      </a:r>
                    </a:p>
                  </a:txBody>
                  <a:tcPr>
                    <a:solidFill>
                      <a:srgbClr val="FFFFFF"/>
                    </a:solidFill>
                  </a:tcPr>
                </a:tc>
              </a:tr>
              <a:tr h="224028">
                <a:tc>
                  <a:txBody>
                    <a:bodyPr/>
                    <a:lstStyle/>
                    <a:p>
                      <a:r>
                        <a:rPr sz="850" b="1">
                          <a:latin typeface="Calibri"/>
                        </a:rPr>
                        <a:t>rd-mandel</a:t>
                      </a:r>
                    </a:p>
                  </a:txBody>
                  <a:tcPr>
                    <a:solidFill>
                      <a:srgbClr val="EFF3FA"/>
                    </a:solidFill>
                  </a:tcPr>
                </a:tc>
                <a:tc>
                  <a:txBody>
                    <a:bodyPr/>
                    <a:lstStyle/>
                    <a:p>
                      <a:r>
                        <a:rPr sz="850" b="0">
                          <a:latin typeface="Calibri"/>
                        </a:rPr>
                        <a:t>1317</a:t>
                      </a:r>
                    </a:p>
                  </a:txBody>
                  <a:tcPr>
                    <a:solidFill>
                      <a:srgbClr val="EFF3FA"/>
                    </a:solidFill>
                  </a:tcPr>
                </a:tc>
                <a:tc>
                  <a:txBody>
                    <a:bodyPr/>
                    <a:lstStyle/>
                    <a:p>
                      <a:r>
                        <a:rPr sz="850" b="0">
                          <a:latin typeface="Calibri"/>
                        </a:rPr>
                        <a:t>1418</a:t>
                      </a:r>
                    </a:p>
                  </a:txBody>
                  <a:tcPr>
                    <a:solidFill>
                      <a:srgbClr val="EFF3FA"/>
                    </a:solidFill>
                  </a:tcPr>
                </a:tc>
                <a:tc>
                  <a:txBody>
                    <a:bodyPr/>
                    <a:lstStyle/>
                    <a:p>
                      <a:r>
                        <a:rPr sz="850" b="0">
                          <a:solidFill>
                            <a:srgbClr val="187A33"/>
                          </a:solidFill>
                          <a:latin typeface="Calibri"/>
                        </a:rPr>
                        <a:t>7%</a:t>
                      </a:r>
                    </a:p>
                  </a:txBody>
                  <a:tcPr>
                    <a:solidFill>
                      <a:srgbClr val="EFF3FA"/>
                    </a:solidFill>
                  </a:tcPr>
                </a:tc>
              </a:tr>
              <a:tr h="224028">
                <a:tc>
                  <a:txBody>
                    <a:bodyPr/>
                    <a:lstStyle/>
                    <a:p>
                      <a:r>
                        <a:rPr sz="850" b="1">
                          <a:latin typeface="Calibri"/>
                        </a:rPr>
                        <a:t>bb-grep</a:t>
                      </a:r>
                    </a:p>
                  </a:txBody>
                  <a:tcPr>
                    <a:solidFill>
                      <a:srgbClr val="FFFFFF"/>
                    </a:solidFill>
                  </a:tcPr>
                </a:tc>
                <a:tc>
                  <a:txBody>
                    <a:bodyPr/>
                    <a:lstStyle/>
                    <a:p>
                      <a:r>
                        <a:rPr sz="850" b="0">
                          <a:latin typeface="Calibri"/>
                        </a:rPr>
                        <a:t>1347</a:t>
                      </a:r>
                    </a:p>
                  </a:txBody>
                  <a:tcPr>
                    <a:solidFill>
                      <a:srgbClr val="FFFFFF"/>
                    </a:solidFill>
                  </a:tcPr>
                </a:tc>
                <a:tc>
                  <a:txBody>
                    <a:bodyPr/>
                    <a:lstStyle/>
                    <a:p>
                      <a:r>
                        <a:rPr sz="850" b="0">
                          <a:latin typeface="Calibri"/>
                        </a:rPr>
                        <a:t>1406</a:t>
                      </a:r>
                    </a:p>
                  </a:txBody>
                  <a:tcPr>
                    <a:solidFill>
                      <a:srgbClr val="FFFFFF"/>
                    </a:solidFill>
                  </a:tcPr>
                </a:tc>
                <a:tc>
                  <a:txBody>
                    <a:bodyPr/>
                    <a:lstStyle/>
                    <a:p>
                      <a:r>
                        <a:rPr sz="850" b="0">
                          <a:solidFill>
                            <a:srgbClr val="187A33"/>
                          </a:solidFill>
                          <a:latin typeface="Calibri"/>
                        </a:rPr>
                        <a:t>4%</a:t>
                      </a:r>
                    </a:p>
                  </a:txBody>
                  <a:tcPr>
                    <a:solidFill>
                      <a:srgbClr val="FFFFFF"/>
                    </a:solidFill>
                  </a:tcPr>
                </a:tc>
              </a:tr>
              <a:tr h="224028">
                <a:tc>
                  <a:txBody>
                    <a:bodyPr/>
                    <a:lstStyle/>
                    <a:p>
                      <a:r>
                        <a:rPr sz="850" b="1">
                          <a:latin typeface="Calibri"/>
                        </a:rPr>
                        <a:t>httpp</a:t>
                      </a:r>
                    </a:p>
                  </a:txBody>
                  <a:tcPr>
                    <a:solidFill>
                      <a:srgbClr val="EFF3FA"/>
                    </a:solidFill>
                  </a:tcPr>
                </a:tc>
                <a:tc>
                  <a:txBody>
                    <a:bodyPr/>
                    <a:lstStyle/>
                    <a:p>
                      <a:r>
                        <a:rPr sz="850" b="0">
                          <a:latin typeface="Calibri"/>
                        </a:rPr>
                        <a:t>1360</a:t>
                      </a:r>
                    </a:p>
                  </a:txBody>
                  <a:tcPr>
                    <a:solidFill>
                      <a:srgbClr val="EFF3FA"/>
                    </a:solidFill>
                  </a:tcPr>
                </a:tc>
                <a:tc>
                  <a:txBody>
                    <a:bodyPr/>
                    <a:lstStyle/>
                    <a:p>
                      <a:r>
                        <a:rPr sz="850" b="0">
                          <a:latin typeface="Calibri"/>
                        </a:rPr>
                        <a:t>1391</a:t>
                      </a:r>
                    </a:p>
                  </a:txBody>
                  <a:tcPr>
                    <a:solidFill>
                      <a:srgbClr val="EFF3FA"/>
                    </a:solidFill>
                  </a:tcPr>
                </a:tc>
                <a:tc>
                  <a:txBody>
                    <a:bodyPr/>
                    <a:lstStyle/>
                    <a:p>
                      <a:r>
                        <a:rPr sz="850" b="0">
                          <a:solidFill>
                            <a:srgbClr val="187A33"/>
                          </a:solidFill>
                          <a:latin typeface="Calibri"/>
                        </a:rPr>
                        <a:t>2%</a:t>
                      </a:r>
                    </a:p>
                  </a:txBody>
                  <a:tcPr>
                    <a:solidFill>
                      <a:srgbClr val="EFF3FA"/>
                    </a:solidFill>
                  </a:tcPr>
                </a:tc>
              </a:tr>
              <a:tr h="224028">
                <a:tc>
                  <a:txBody>
                    <a:bodyPr/>
                    <a:lstStyle/>
                    <a:p>
                      <a:r>
                        <a:rPr sz="850" b="1">
                          <a:latin typeface="Calibri"/>
                        </a:rPr>
                        <a:t>pacman</a:t>
                      </a:r>
                    </a:p>
                  </a:txBody>
                  <a:tcPr>
                    <a:solidFill>
                      <a:srgbClr val="FFFFFF"/>
                    </a:solidFill>
                  </a:tcPr>
                </a:tc>
                <a:tc>
                  <a:txBody>
                    <a:bodyPr/>
                    <a:lstStyle/>
                    <a:p>
                      <a:r>
                        <a:rPr sz="850" b="0">
                          <a:latin typeface="Calibri"/>
                        </a:rPr>
                        <a:t>1343</a:t>
                      </a:r>
                    </a:p>
                  </a:txBody>
                  <a:tcPr>
                    <a:solidFill>
                      <a:srgbClr val="FFFFFF"/>
                    </a:solidFill>
                  </a:tcPr>
                </a:tc>
                <a:tc>
                  <a:txBody>
                    <a:bodyPr/>
                    <a:lstStyle/>
                    <a:p>
                      <a:r>
                        <a:rPr sz="850" b="0">
                          <a:latin typeface="Calibri"/>
                        </a:rPr>
                        <a:t>1386</a:t>
                      </a:r>
                    </a:p>
                  </a:txBody>
                  <a:tcPr>
                    <a:solidFill>
                      <a:srgbClr val="FFFFFF"/>
                    </a:solidFill>
                  </a:tcPr>
                </a:tc>
                <a:tc>
                  <a:txBody>
                    <a:bodyPr/>
                    <a:lstStyle/>
                    <a:p>
                      <a:r>
                        <a:rPr sz="850" b="0">
                          <a:solidFill>
                            <a:srgbClr val="187A33"/>
                          </a:solidFill>
                          <a:latin typeface="Calibri"/>
                        </a:rPr>
                        <a:t>3%</a:t>
                      </a:r>
                    </a:p>
                  </a:txBody>
                  <a:tcPr>
                    <a:solidFill>
                      <a:srgbClr val="FFFFFF"/>
                    </a:solidFill>
                  </a:tcPr>
                </a:tc>
              </a:tr>
              <a:tr h="224028">
                <a:tc>
                  <a:txBody>
                    <a:bodyPr/>
                    <a:lstStyle/>
                    <a:p>
                      <a:r>
                        <a:rPr sz="850" b="1">
                          <a:latin typeface="Calibri"/>
                        </a:rPr>
                        <a:t>pacman-big</a:t>
                      </a:r>
                    </a:p>
                  </a:txBody>
                  <a:tcPr>
                    <a:solidFill>
                      <a:srgbClr val="EFF3FA"/>
                    </a:solidFill>
                  </a:tcPr>
                </a:tc>
                <a:tc>
                  <a:txBody>
                    <a:bodyPr/>
                    <a:lstStyle/>
                    <a:p>
                      <a:r>
                        <a:rPr sz="850" b="0">
                          <a:latin typeface="Calibri"/>
                        </a:rPr>
                        <a:t>1343</a:t>
                      </a:r>
                    </a:p>
                  </a:txBody>
                  <a:tcPr>
                    <a:solidFill>
                      <a:srgbClr val="EFF3FA"/>
                    </a:solidFill>
                  </a:tcPr>
                </a:tc>
                <a:tc>
                  <a:txBody>
                    <a:bodyPr/>
                    <a:lstStyle/>
                    <a:p>
                      <a:r>
                        <a:rPr sz="850" b="0">
                          <a:latin typeface="Calibri"/>
                        </a:rPr>
                        <a:t>1382</a:t>
                      </a:r>
                    </a:p>
                  </a:txBody>
                  <a:tcPr>
                    <a:solidFill>
                      <a:srgbClr val="EFF3FA"/>
                    </a:solidFill>
                  </a:tcPr>
                </a:tc>
                <a:tc>
                  <a:txBody>
                    <a:bodyPr/>
                    <a:lstStyle/>
                    <a:p>
                      <a:r>
                        <a:rPr sz="850" b="0">
                          <a:solidFill>
                            <a:srgbClr val="187A33"/>
                          </a:solidFill>
                          <a:latin typeface="Calibri"/>
                        </a:rPr>
                        <a:t>3%</a:t>
                      </a:r>
                    </a:p>
                  </a:txBody>
                  <a:tcPr>
                    <a:solidFill>
                      <a:srgbClr val="EFF3FA"/>
                    </a:solidFill>
                  </a:tcPr>
                </a:tc>
              </a:tr>
              <a:tr h="224028">
                <a:tc>
                  <a:txBody>
                    <a:bodyPr/>
                    <a:lstStyle/>
                    <a:p>
                      <a:r>
                        <a:rPr sz="850" b="1">
                          <a:latin typeface="Calibri"/>
                        </a:rPr>
                        <a:t>tommath</a:t>
                      </a:r>
                    </a:p>
                  </a:txBody>
                  <a:tcPr>
                    <a:solidFill>
                      <a:srgbClr val="FFFFFF"/>
                    </a:solidFill>
                  </a:tcPr>
                </a:tc>
                <a:tc>
                  <a:txBody>
                    <a:bodyPr/>
                    <a:lstStyle/>
                    <a:p>
                      <a:r>
                        <a:rPr sz="850" b="0">
                          <a:latin typeface="Calibri"/>
                        </a:rPr>
                        <a:t>1324</a:t>
                      </a:r>
                    </a:p>
                  </a:txBody>
                  <a:tcPr>
                    <a:solidFill>
                      <a:srgbClr val="FFFFFF"/>
                    </a:solidFill>
                  </a:tcPr>
                </a:tc>
                <a:tc>
                  <a:txBody>
                    <a:bodyPr/>
                    <a:lstStyle/>
                    <a:p>
                      <a:r>
                        <a:rPr sz="850" b="0">
                          <a:latin typeface="Calibri"/>
                        </a:rPr>
                        <a:t>1372</a:t>
                      </a:r>
                    </a:p>
                  </a:txBody>
                  <a:tcPr>
                    <a:solidFill>
                      <a:srgbClr val="FFFFFF"/>
                    </a:solidFill>
                  </a:tcPr>
                </a:tc>
                <a:tc>
                  <a:txBody>
                    <a:bodyPr/>
                    <a:lstStyle/>
                    <a:p>
                      <a:r>
                        <a:rPr sz="850" b="0">
                          <a:solidFill>
                            <a:srgbClr val="187A33"/>
                          </a:solidFill>
                          <a:latin typeface="Calibri"/>
                        </a:rPr>
                        <a:t>4%</a:t>
                      </a:r>
                    </a:p>
                  </a:txBody>
                  <a:tcPr>
                    <a:solidFill>
                      <a:srgbClr val="FFFFFF"/>
                    </a:solidFill>
                  </a:tcPr>
                </a:tc>
              </a:tr>
              <a:tr h="224028">
                <a:tc>
                  <a:txBody>
                    <a:bodyPr/>
                    <a:lstStyle/>
                    <a:p>
                      <a:r>
                        <a:rPr sz="850" b="1">
                          <a:latin typeface="Calibri"/>
                        </a:rPr>
                        <a:t>rd-ray</a:t>
                      </a:r>
                    </a:p>
                  </a:txBody>
                  <a:tcPr>
                    <a:solidFill>
                      <a:srgbClr val="EFF3FA"/>
                    </a:solidFill>
                  </a:tcPr>
                </a:tc>
                <a:tc>
                  <a:txBody>
                    <a:bodyPr/>
                    <a:lstStyle/>
                    <a:p>
                      <a:r>
                        <a:rPr sz="850" b="0">
                          <a:latin typeface="Calibri"/>
                        </a:rPr>
                        <a:t>1289</a:t>
                      </a:r>
                    </a:p>
                  </a:txBody>
                  <a:tcPr>
                    <a:solidFill>
                      <a:srgbClr val="EFF3FA"/>
                    </a:solidFill>
                  </a:tcPr>
                </a:tc>
                <a:tc>
                  <a:txBody>
                    <a:bodyPr/>
                    <a:lstStyle/>
                    <a:p>
                      <a:r>
                        <a:rPr sz="850" b="0">
                          <a:latin typeface="Calibri"/>
                        </a:rPr>
                        <a:t>1367</a:t>
                      </a:r>
                    </a:p>
                  </a:txBody>
                  <a:tcPr>
                    <a:solidFill>
                      <a:srgbClr val="EFF3FA"/>
                    </a:solidFill>
                  </a:tcPr>
                </a:tc>
                <a:tc>
                  <a:txBody>
                    <a:bodyPr/>
                    <a:lstStyle/>
                    <a:p>
                      <a:r>
                        <a:rPr sz="850" b="0">
                          <a:solidFill>
                            <a:srgbClr val="187A33"/>
                          </a:solidFill>
                          <a:latin typeface="Calibri"/>
                        </a:rPr>
                        <a:t>6%</a:t>
                      </a:r>
                    </a:p>
                  </a:txBody>
                  <a:tcPr>
                    <a:solidFill>
                      <a:srgbClr val="EFF3FA"/>
                    </a:solidFill>
                  </a:tcPr>
                </a:tc>
              </a:tr>
              <a:tr h="224028">
                <a:tc>
                  <a:txBody>
                    <a:bodyPr/>
                    <a:lstStyle/>
                    <a:p>
                      <a:r>
                        <a:rPr sz="850" b="1">
                          <a:latin typeface="Calibri"/>
                        </a:rPr>
                        <a:t>alu</a:t>
                      </a:r>
                    </a:p>
                  </a:txBody>
                  <a:tcPr>
                    <a:solidFill>
                      <a:srgbClr val="FFFFFF"/>
                    </a:solidFill>
                  </a:tcPr>
                </a:tc>
                <a:tc>
                  <a:txBody>
                    <a:bodyPr/>
                    <a:lstStyle/>
                    <a:p>
                      <a:r>
                        <a:rPr sz="850" b="0">
                          <a:latin typeface="Calibri"/>
                        </a:rPr>
                        <a:t>1342</a:t>
                      </a:r>
                    </a:p>
                  </a:txBody>
                  <a:tcPr>
                    <a:solidFill>
                      <a:srgbClr val="FFFFFF"/>
                    </a:solidFill>
                  </a:tcPr>
                </a:tc>
                <a:tc>
                  <a:txBody>
                    <a:bodyPr/>
                    <a:lstStyle/>
                    <a:p>
                      <a:r>
                        <a:rPr sz="850" b="0">
                          <a:latin typeface="Calibri"/>
                        </a:rPr>
                        <a:t>1355</a:t>
                      </a:r>
                    </a:p>
                  </a:txBody>
                  <a:tcPr>
                    <a:solidFill>
                      <a:srgbClr val="FFFFFF"/>
                    </a:solidFill>
                  </a:tcPr>
                </a:tc>
                <a:tc>
                  <a:txBody>
                    <a:bodyPr/>
                    <a:lstStyle/>
                    <a:p>
                      <a:r>
                        <a:rPr sz="850" b="0">
                          <a:solidFill>
                            <a:srgbClr val="187A33"/>
                          </a:solidFill>
                          <a:latin typeface="Calibri"/>
                        </a:rPr>
                        <a:t>1%</a:t>
                      </a:r>
                    </a:p>
                  </a:txBody>
                  <a:tcPr>
                    <a:solidFill>
                      <a:srgbClr val="FFFFFF"/>
                    </a:solidFill>
                  </a:tcPr>
                </a:tc>
              </a:tr>
              <a:tr h="224028">
                <a:tc>
                  <a:txBody>
                    <a:bodyPr/>
                    <a:lstStyle/>
                    <a:p>
                      <a:r>
                        <a:rPr sz="850" b="1">
                          <a:latin typeface="Calibri"/>
                        </a:rPr>
                        <a:t>chase-big</a:t>
                      </a:r>
                    </a:p>
                  </a:txBody>
                  <a:tcPr>
                    <a:solidFill>
                      <a:srgbClr val="EFF3FA"/>
                    </a:solidFill>
                  </a:tcPr>
                </a:tc>
                <a:tc>
                  <a:txBody>
                    <a:bodyPr/>
                    <a:lstStyle/>
                    <a:p>
                      <a:r>
                        <a:rPr sz="850" b="0">
                          <a:latin typeface="Calibri"/>
                        </a:rPr>
                        <a:t>1306</a:t>
                      </a:r>
                    </a:p>
                  </a:txBody>
                  <a:tcPr>
                    <a:solidFill>
                      <a:srgbClr val="EFF3FA"/>
                    </a:solidFill>
                  </a:tcPr>
                </a:tc>
                <a:tc>
                  <a:txBody>
                    <a:bodyPr/>
                    <a:lstStyle/>
                    <a:p>
                      <a:r>
                        <a:rPr sz="850" b="0">
                          <a:latin typeface="Calibri"/>
                        </a:rPr>
                        <a:t>1314</a:t>
                      </a:r>
                    </a:p>
                  </a:txBody>
                  <a:tcPr>
                    <a:solidFill>
                      <a:srgbClr val="EFF3FA"/>
                    </a:solidFill>
                  </a:tcPr>
                </a:tc>
                <a:tc>
                  <a:txBody>
                    <a:bodyPr/>
                    <a:lstStyle/>
                    <a:p>
                      <a:r>
                        <a:rPr sz="850" b="0">
                          <a:solidFill>
                            <a:srgbClr val="187A33"/>
                          </a:solidFill>
                          <a:latin typeface="Calibri"/>
                        </a:rPr>
                        <a:t>1%</a:t>
                      </a:r>
                    </a:p>
                  </a:txBody>
                  <a:tcPr>
                    <a:solidFill>
                      <a:srgbClr val="EFF3FA"/>
                    </a:solidFill>
                  </a:tcPr>
                </a:tc>
              </a:tr>
              <a:tr h="224028">
                <a:tc>
                  <a:txBody>
                    <a:bodyPr/>
                    <a:lstStyle/>
                    <a:p>
                      <a:r>
                        <a:rPr sz="850" b="1">
                          <a:latin typeface="Calibri"/>
                        </a:rPr>
                        <a:t>chase</a:t>
                      </a:r>
                    </a:p>
                  </a:txBody>
                  <a:tcPr>
                    <a:solidFill>
                      <a:srgbClr val="FFFFFF"/>
                    </a:solidFill>
                  </a:tcPr>
                </a:tc>
                <a:tc>
                  <a:txBody>
                    <a:bodyPr/>
                    <a:lstStyle/>
                    <a:p>
                      <a:r>
                        <a:rPr sz="850" b="0">
                          <a:latin typeface="Calibri"/>
                        </a:rPr>
                        <a:t>1304</a:t>
                      </a:r>
                    </a:p>
                  </a:txBody>
                  <a:tcPr>
                    <a:solidFill>
                      <a:srgbClr val="FFFFFF"/>
                    </a:solidFill>
                  </a:tcPr>
                </a:tc>
                <a:tc>
                  <a:txBody>
                    <a:bodyPr/>
                    <a:lstStyle/>
                    <a:p>
                      <a:r>
                        <a:rPr sz="850" b="0">
                          <a:latin typeface="Calibri"/>
                        </a:rPr>
                        <a:t>1295</a:t>
                      </a:r>
                    </a:p>
                  </a:txBody>
                  <a:tcPr>
                    <a:solidFill>
                      <a:srgbClr val="FFFFFF"/>
                    </a:solidFill>
                  </a:tcPr>
                </a:tc>
                <a:tc>
                  <a:txBody>
                    <a:bodyPr/>
                    <a:lstStyle/>
                    <a:p>
                      <a:r>
                        <a:rPr sz="850" b="0">
                          <a:solidFill>
                            <a:srgbClr val="187A33"/>
                          </a:solidFill>
                          <a:latin typeface="Calibri"/>
                        </a:rPr>
                        <a:t>1%</a:t>
                      </a:r>
                    </a:p>
                  </a:txBody>
                  <a:tcPr>
                    <a:solidFill>
                      <a:srgbClr val="FFFFFF"/>
                    </a:solidFill>
                  </a:tcPr>
                </a:tc>
              </a:tr>
            </a:tbl>
          </a:graphicData>
        </a:graphic>
      </p:graphicFrame>
      <p:sp>
        <p:nvSpPr>
          <p:cNvPr id="12" name="Rounded Rectangle 11"/>
          <p:cNvSpPr/>
          <p:nvPr/>
        </p:nvSpPr>
        <p:spPr>
          <a:xfrm>
            <a:off x="548640" y="5806440"/>
            <a:ext cx="11064240" cy="566928"/>
          </a:xfrm>
          <a:prstGeom prst="roundRect">
            <a:avLst/>
          </a:prstGeom>
          <a:solidFill>
            <a:srgbClr val="EFF3FA"/>
          </a:solidFill>
          <a:ln w="19050">
            <a:solidFill>
              <a:srgbClr val="187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907024"/>
            <a:ext cx="10515600" cy="365760"/>
          </a:xfrm>
          <a:prstGeom prst="rect">
            <a:avLst/>
          </a:prstGeom>
          <a:noFill/>
        </p:spPr>
        <p:txBody>
          <a:bodyPr wrap="square">
            <a:spAutoFit/>
          </a:bodyPr>
          <a:lstStyle/>
          <a:p>
            <a:pPr algn="l"/>
            <a:r>
              <a:rPr sz="1300" b="1">
                <a:solidFill>
                  <a:srgbClr val="187A33"/>
                </a:solidFill>
                <a:latin typeface="Calibri"/>
              </a:rPr>
              <a:t>36 of 50 within 8%   ·   11 between 8 and 12%   ·   3 above 12%   —   mW predicted vs mW measured, on silicon the model never trained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200" b="1">
                <a:solidFill>
                  <a:srgbClr val="FFFFFF"/>
                </a:solidFill>
                <a:latin typeface="Calibri"/>
              </a:rPr>
              <a:t>Part 2 — A realistic edge workload, all six cores busy</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Perception, inference, storage, networking, imaging, rendering, running at the same time. Predicted from QEMU alone: no silicon counter is used for these mixes.</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 activity DERIVED from QEMU TCG; PMU column MEASURED on silicon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10</a:t>
            </a:r>
          </a:p>
        </p:txBody>
      </p:sp>
      <p:sp>
        <p:nvSpPr>
          <p:cNvPr id="8" name="Rectangle 7"/>
          <p:cNvSpPr/>
          <p:nvPr/>
        </p:nvSpPr>
        <p:spPr>
          <a:xfrm>
            <a:off x="548640" y="1572768"/>
            <a:ext cx="11064240" cy="548640"/>
          </a:xfrm>
          <a:prstGeom prst="rect">
            <a:avLst/>
          </a:prstGeom>
          <a:solidFill>
            <a:srgbClr val="187A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45920"/>
            <a:ext cx="10607040" cy="402336"/>
          </a:xfrm>
          <a:prstGeom prst="rect">
            <a:avLst/>
          </a:prstGeom>
          <a:noFill/>
        </p:spPr>
        <p:txBody>
          <a:bodyPr wrap="square">
            <a:spAutoFit/>
          </a:bodyPr>
          <a:lstStyle/>
          <a:p>
            <a:pPr algn="l"/>
            <a:r>
              <a:rPr sz="1800" b="1">
                <a:solidFill>
                  <a:srgbClr val="FFFFFF"/>
                </a:solidFill>
                <a:latin typeface="Calibri"/>
              </a:rPr>
              <a:t>3.6% mean error, 5.8% worst, across two to six concurrent applications.</a:t>
            </a:r>
          </a:p>
        </p:txBody>
      </p:sp>
      <p:graphicFrame>
        <p:nvGraphicFramePr>
          <p:cNvPr id="10" name="Table 9"/>
          <p:cNvGraphicFramePr>
            <a:graphicFrameLocks noGrp="1"/>
          </p:cNvGraphicFramePr>
          <p:nvPr/>
        </p:nvGraphicFramePr>
        <p:xfrm>
          <a:off x="548640" y="2267712"/>
          <a:ext cx="11082528" cy="1682496"/>
        </p:xfrm>
        <a:graphic>
          <a:graphicData uri="http://schemas.openxmlformats.org/drawingml/2006/table">
            <a:tbl>
              <a:tblPr firstRow="1" bandRow="1">
                <a:tableStyleId>{5C22544A-7EE6-4342-B048-85BDC9FD1C3A}</a:tableStyleId>
              </a:tblPr>
              <a:tblGrid>
                <a:gridCol w="2514600"/>
                <a:gridCol w="4160520"/>
                <a:gridCol w="658368"/>
                <a:gridCol w="960120"/>
                <a:gridCol w="960120"/>
                <a:gridCol w="914400"/>
                <a:gridCol w="914400"/>
              </a:tblGrid>
              <a:tr h="420624">
                <a:tc>
                  <a:txBody>
                    <a:bodyPr/>
                    <a:lstStyle/>
                    <a:p>
                      <a:r>
                        <a:rPr sz="1150" b="1">
                          <a:solidFill>
                            <a:srgbClr val="FFFFFF"/>
                          </a:solidFill>
                          <a:latin typeface="Calibri"/>
                        </a:rPr>
                        <a:t>what it is</a:t>
                      </a:r>
                    </a:p>
                  </a:txBody>
                  <a:tcPr>
                    <a:solidFill>
                      <a:srgbClr val="202124"/>
                    </a:solidFill>
                  </a:tcPr>
                </a:tc>
                <a:tc>
                  <a:txBody>
                    <a:bodyPr/>
                    <a:lstStyle/>
                    <a:p>
                      <a:r>
                        <a:rPr sz="1150" b="1">
                          <a:solidFill>
                            <a:srgbClr val="FFFFFF"/>
                          </a:solidFill>
                          <a:latin typeface="Calibri"/>
                        </a:rPr>
                        <a:t>applications running concurrently</a:t>
                      </a:r>
                    </a:p>
                  </a:txBody>
                  <a:tcPr>
                    <a:solidFill>
                      <a:srgbClr val="202124"/>
                    </a:solidFill>
                  </a:tcPr>
                </a:tc>
                <a:tc>
                  <a:txBody>
                    <a:bodyPr/>
                    <a:lstStyle/>
                    <a:p>
                      <a:r>
                        <a:rPr sz="1150" b="1">
                          <a:solidFill>
                            <a:srgbClr val="FFFFFF"/>
                          </a:solidFill>
                          <a:latin typeface="Calibri"/>
                        </a:rPr>
                        <a:t>cores</a:t>
                      </a:r>
                    </a:p>
                  </a:txBody>
                  <a:tcPr>
                    <a:solidFill>
                      <a:srgbClr val="202124"/>
                    </a:solidFill>
                  </a:tcPr>
                </a:tc>
                <a:tc>
                  <a:txBody>
                    <a:bodyPr/>
                    <a:lstStyle/>
                    <a:p>
                      <a:r>
                        <a:rPr sz="1150" b="1">
                          <a:solidFill>
                            <a:srgbClr val="FFFFFF"/>
                          </a:solidFill>
                          <a:latin typeface="Calibri"/>
                        </a:rPr>
                        <a:t>pred mW</a:t>
                      </a:r>
                    </a:p>
                  </a:txBody>
                  <a:tcPr>
                    <a:solidFill>
                      <a:srgbClr val="202124"/>
                    </a:solidFill>
                  </a:tcPr>
                </a:tc>
                <a:tc>
                  <a:txBody>
                    <a:bodyPr/>
                    <a:lstStyle/>
                    <a:p>
                      <a:r>
                        <a:rPr sz="1150" b="1">
                          <a:solidFill>
                            <a:srgbClr val="FFFFFF"/>
                          </a:solidFill>
                          <a:latin typeface="Calibri"/>
                        </a:rPr>
                        <a:t>meas mW</a:t>
                      </a:r>
                    </a:p>
                  </a:txBody>
                  <a:tcPr>
                    <a:solidFill>
                      <a:srgbClr val="202124"/>
                    </a:solidFill>
                  </a:tcPr>
                </a:tc>
                <a:tc>
                  <a:txBody>
                    <a:bodyPr/>
                    <a:lstStyle/>
                    <a:p>
                      <a:r>
                        <a:rPr sz="1150" b="1">
                          <a:solidFill>
                            <a:srgbClr val="FFFFFF"/>
                          </a:solidFill>
                          <a:latin typeface="Calibri"/>
                        </a:rPr>
                        <a:t>err</a:t>
                      </a:r>
                    </a:p>
                  </a:txBody>
                  <a:tcPr>
                    <a:solidFill>
                      <a:srgbClr val="202124"/>
                    </a:solidFill>
                  </a:tcPr>
                </a:tc>
                <a:tc>
                  <a:txBody>
                    <a:bodyPr/>
                    <a:lstStyle/>
                    <a:p>
                      <a:r>
                        <a:rPr sz="1150" b="1">
                          <a:solidFill>
                            <a:srgbClr val="FFFFFF"/>
                          </a:solidFill>
                          <a:latin typeface="Calibri"/>
                        </a:rPr>
                        <a:t>err (PMU)</a:t>
                      </a:r>
                    </a:p>
                  </a:txBody>
                  <a:tcPr>
                    <a:solidFill>
                      <a:srgbClr val="202124"/>
                    </a:solidFill>
                  </a:tcPr>
                </a:tc>
              </a:tr>
              <a:tr h="420624">
                <a:tc>
                  <a:txBody>
                    <a:bodyPr/>
                    <a:lstStyle/>
                    <a:p>
                      <a:r>
                        <a:rPr sz="1150" b="1">
                          <a:latin typeface="Calibri"/>
                        </a:rPr>
                        <a:t>AI + vision</a:t>
                      </a:r>
                    </a:p>
                  </a:txBody>
                  <a:tcPr>
                    <a:solidFill>
                      <a:srgbClr val="EFF3FA"/>
                    </a:solidFill>
                  </a:tcPr>
                </a:tc>
                <a:tc>
                  <a:txBody>
                    <a:bodyPr/>
                    <a:lstStyle/>
                    <a:p>
                      <a:r>
                        <a:rPr sz="1150" b="0">
                          <a:latin typeface="Calibri"/>
                        </a:rPr>
                        <a:t>pacman  +  sgm stereo</a:t>
                      </a:r>
                    </a:p>
                  </a:txBody>
                  <a:tcPr>
                    <a:solidFill>
                      <a:srgbClr val="EFF3FA"/>
                    </a:solidFill>
                  </a:tcPr>
                </a:tc>
                <a:tc>
                  <a:txBody>
                    <a:bodyPr/>
                    <a:lstStyle/>
                    <a:p>
                      <a:r>
                        <a:rPr sz="1150" b="0">
                          <a:latin typeface="Calibri"/>
                        </a:rPr>
                        <a:t>2</a:t>
                      </a:r>
                    </a:p>
                  </a:txBody>
                  <a:tcPr>
                    <a:solidFill>
                      <a:srgbClr val="EFF3FA"/>
                    </a:solidFill>
                  </a:tcPr>
                </a:tc>
                <a:tc>
                  <a:txBody>
                    <a:bodyPr/>
                    <a:lstStyle/>
                    <a:p>
                      <a:r>
                        <a:rPr sz="1150" b="0">
                          <a:latin typeface="Calibri"/>
                        </a:rPr>
                        <a:t>1605</a:t>
                      </a:r>
                    </a:p>
                  </a:txBody>
                  <a:tcPr>
                    <a:solidFill>
                      <a:srgbClr val="EFF3FA"/>
                    </a:solidFill>
                  </a:tcPr>
                </a:tc>
                <a:tc>
                  <a:txBody>
                    <a:bodyPr/>
                    <a:lstStyle/>
                    <a:p>
                      <a:r>
                        <a:rPr sz="1150" b="0">
                          <a:latin typeface="Calibri"/>
                        </a:rPr>
                        <a:t>1704</a:t>
                      </a:r>
                    </a:p>
                  </a:txBody>
                  <a:tcPr>
                    <a:solidFill>
                      <a:srgbClr val="EFF3FA"/>
                    </a:solidFill>
                  </a:tcPr>
                </a:tc>
                <a:tc>
                  <a:txBody>
                    <a:bodyPr/>
                    <a:lstStyle/>
                    <a:p>
                      <a:r>
                        <a:rPr sz="1150" b="1">
                          <a:solidFill>
                            <a:srgbClr val="187A33"/>
                          </a:solidFill>
                          <a:latin typeface="Calibri"/>
                        </a:rPr>
                        <a:t>5.8%</a:t>
                      </a:r>
                    </a:p>
                  </a:txBody>
                  <a:tcPr>
                    <a:solidFill>
                      <a:srgbClr val="EFF3FA"/>
                    </a:solidFill>
                  </a:tcPr>
                </a:tc>
                <a:tc>
                  <a:txBody>
                    <a:bodyPr/>
                    <a:lstStyle/>
                    <a:p>
                      <a:r>
                        <a:rPr sz="1150" b="0">
                          <a:solidFill>
                            <a:srgbClr val="187A33"/>
                          </a:solidFill>
                          <a:latin typeface="Calibri"/>
                        </a:rPr>
                        <a:t>6.0%</a:t>
                      </a:r>
                    </a:p>
                  </a:txBody>
                  <a:tcPr>
                    <a:solidFill>
                      <a:srgbClr val="EFF3FA"/>
                    </a:solidFill>
                  </a:tcPr>
                </a:tc>
              </a:tr>
              <a:tr h="420624">
                <a:tc>
                  <a:txBody>
                    <a:bodyPr/>
                    <a:lstStyle/>
                    <a:p>
                      <a:r>
                        <a:rPr sz="1150" b="1">
                          <a:latin typeface="Calibri"/>
                        </a:rPr>
                        <a:t>AI + vision + DB + net</a:t>
                      </a:r>
                    </a:p>
                  </a:txBody>
                  <a:tcPr>
                    <a:solidFill>
                      <a:srgbClr val="FFFFFF"/>
                    </a:solidFill>
                  </a:tcPr>
                </a:tc>
                <a:tc>
                  <a:txBody>
                    <a:bodyPr/>
                    <a:lstStyle/>
                    <a:p>
                      <a:r>
                        <a:rPr sz="1150" b="0">
                          <a:latin typeface="Calibri"/>
                        </a:rPr>
                        <a:t>pacman  +  sgm  +  sqlite  +  httpp</a:t>
                      </a:r>
                    </a:p>
                  </a:txBody>
                  <a:tcPr>
                    <a:solidFill>
                      <a:srgbClr val="FFFFFF"/>
                    </a:solidFill>
                  </a:tcPr>
                </a:tc>
                <a:tc>
                  <a:txBody>
                    <a:bodyPr/>
                    <a:lstStyle/>
                    <a:p>
                      <a:r>
                        <a:rPr sz="1150" b="0">
                          <a:latin typeface="Calibri"/>
                        </a:rPr>
                        <a:t>4</a:t>
                      </a:r>
                    </a:p>
                  </a:txBody>
                  <a:tcPr>
                    <a:solidFill>
                      <a:srgbClr val="FFFFFF"/>
                    </a:solidFill>
                  </a:tcPr>
                </a:tc>
                <a:tc>
                  <a:txBody>
                    <a:bodyPr/>
                    <a:lstStyle/>
                    <a:p>
                      <a:r>
                        <a:rPr sz="1150" b="0">
                          <a:latin typeface="Calibri"/>
                        </a:rPr>
                        <a:t>2123</a:t>
                      </a:r>
                    </a:p>
                  </a:txBody>
                  <a:tcPr>
                    <a:solidFill>
                      <a:srgbClr val="FFFFFF"/>
                    </a:solidFill>
                  </a:tcPr>
                </a:tc>
                <a:tc>
                  <a:txBody>
                    <a:bodyPr/>
                    <a:lstStyle/>
                    <a:p>
                      <a:r>
                        <a:rPr sz="1150" b="0">
                          <a:latin typeface="Calibri"/>
                        </a:rPr>
                        <a:t>2189</a:t>
                      </a:r>
                    </a:p>
                  </a:txBody>
                  <a:tcPr>
                    <a:solidFill>
                      <a:srgbClr val="FFFFFF"/>
                    </a:solidFill>
                  </a:tcPr>
                </a:tc>
                <a:tc>
                  <a:txBody>
                    <a:bodyPr/>
                    <a:lstStyle/>
                    <a:p>
                      <a:r>
                        <a:rPr sz="1150" b="1">
                          <a:solidFill>
                            <a:srgbClr val="187A33"/>
                          </a:solidFill>
                          <a:latin typeface="Calibri"/>
                        </a:rPr>
                        <a:t>3.0%</a:t>
                      </a:r>
                    </a:p>
                  </a:txBody>
                  <a:tcPr>
                    <a:solidFill>
                      <a:srgbClr val="FFFFFF"/>
                    </a:solidFill>
                  </a:tcPr>
                </a:tc>
                <a:tc>
                  <a:txBody>
                    <a:bodyPr/>
                    <a:lstStyle/>
                    <a:p>
                      <a:r>
                        <a:rPr sz="1150" b="0">
                          <a:solidFill>
                            <a:srgbClr val="187A33"/>
                          </a:solidFill>
                          <a:latin typeface="Calibri"/>
                        </a:rPr>
                        <a:t>3.1%</a:t>
                      </a:r>
                    </a:p>
                  </a:txBody>
                  <a:tcPr>
                    <a:solidFill>
                      <a:srgbClr val="FFFFFF"/>
                    </a:solidFill>
                  </a:tcPr>
                </a:tc>
              </a:tr>
              <a:tr h="420624">
                <a:tc>
                  <a:txBody>
                    <a:bodyPr/>
                    <a:lstStyle/>
                    <a:p>
                      <a:r>
                        <a:rPr sz="1150" b="1">
                          <a:latin typeface="Calibri"/>
                        </a:rPr>
                        <a:t>full edge stack, every core</a:t>
                      </a:r>
                    </a:p>
                  </a:txBody>
                  <a:tcPr>
                    <a:solidFill>
                      <a:srgbClr val="EFF3FA"/>
                    </a:solidFill>
                  </a:tcPr>
                </a:tc>
                <a:tc>
                  <a:txBody>
                    <a:bodyPr/>
                    <a:lstStyle/>
                    <a:p>
                      <a:r>
                        <a:rPr sz="1150" b="0">
                          <a:latin typeface="Calibri"/>
                        </a:rPr>
                        <a:t>pacman  +  sgm  +  sqlite  +  httpp  +  qoi  +  ray</a:t>
                      </a:r>
                    </a:p>
                  </a:txBody>
                  <a:tcPr>
                    <a:solidFill>
                      <a:srgbClr val="EFF3FA"/>
                    </a:solidFill>
                  </a:tcPr>
                </a:tc>
                <a:tc>
                  <a:txBody>
                    <a:bodyPr/>
                    <a:lstStyle/>
                    <a:p>
                      <a:r>
                        <a:rPr sz="1150" b="0">
                          <a:latin typeface="Calibri"/>
                        </a:rPr>
                        <a:t>6</a:t>
                      </a:r>
                    </a:p>
                  </a:txBody>
                  <a:tcPr>
                    <a:solidFill>
                      <a:srgbClr val="EFF3FA"/>
                    </a:solidFill>
                  </a:tcPr>
                </a:tc>
                <a:tc>
                  <a:txBody>
                    <a:bodyPr/>
                    <a:lstStyle/>
                    <a:p>
                      <a:r>
                        <a:rPr sz="1150" b="0">
                          <a:latin typeface="Calibri"/>
                        </a:rPr>
                        <a:t>2612</a:t>
                      </a:r>
                    </a:p>
                  </a:txBody>
                  <a:tcPr>
                    <a:solidFill>
                      <a:srgbClr val="EFF3FA"/>
                    </a:solidFill>
                  </a:tcPr>
                </a:tc>
                <a:tc>
                  <a:txBody>
                    <a:bodyPr/>
                    <a:lstStyle/>
                    <a:p>
                      <a:r>
                        <a:rPr sz="1150" b="0">
                          <a:latin typeface="Calibri"/>
                        </a:rPr>
                        <a:t>2561</a:t>
                      </a:r>
                    </a:p>
                  </a:txBody>
                  <a:tcPr>
                    <a:solidFill>
                      <a:srgbClr val="EFF3FA"/>
                    </a:solidFill>
                  </a:tcPr>
                </a:tc>
                <a:tc>
                  <a:txBody>
                    <a:bodyPr/>
                    <a:lstStyle/>
                    <a:p>
                      <a:r>
                        <a:rPr sz="1150" b="1">
                          <a:solidFill>
                            <a:srgbClr val="187A33"/>
                          </a:solidFill>
                          <a:latin typeface="Calibri"/>
                        </a:rPr>
                        <a:t>2.0%</a:t>
                      </a:r>
                    </a:p>
                  </a:txBody>
                  <a:tcPr>
                    <a:solidFill>
                      <a:srgbClr val="EFF3FA"/>
                    </a:solidFill>
                  </a:tcPr>
                </a:tc>
                <a:tc>
                  <a:txBody>
                    <a:bodyPr/>
                    <a:lstStyle/>
                    <a:p>
                      <a:r>
                        <a:rPr sz="1150" b="0">
                          <a:solidFill>
                            <a:srgbClr val="187A33"/>
                          </a:solidFill>
                          <a:latin typeface="Calibri"/>
                        </a:rPr>
                        <a:t>0.7%</a:t>
                      </a:r>
                    </a:p>
                  </a:txBody>
                  <a:tcPr>
                    <a:solidFill>
                      <a:srgbClr val="EFF3FA"/>
                    </a:solidFill>
                  </a:tcPr>
                </a:tc>
              </a:tr>
            </a:tbl>
          </a:graphicData>
        </a:graphic>
      </p:graphicFrame>
      <p:sp>
        <p:nvSpPr>
          <p:cNvPr id="11" name="TextBox 10"/>
          <p:cNvSpPr txBox="1"/>
          <p:nvPr/>
        </p:nvSpPr>
        <p:spPr>
          <a:xfrm>
            <a:off x="548640" y="3968496"/>
            <a:ext cx="11064240" cy="329184"/>
          </a:xfrm>
          <a:prstGeom prst="rect">
            <a:avLst/>
          </a:prstGeom>
          <a:noFill/>
        </p:spPr>
        <p:txBody>
          <a:bodyPr wrap="square">
            <a:spAutoFit/>
          </a:bodyPr>
          <a:lstStyle/>
          <a:p>
            <a:pPr algn="l"/>
            <a:r>
              <a:rPr sz="1050" b="0">
                <a:solidFill>
                  <a:srgbClr val="5F6368"/>
                </a:solidFill>
                <a:latin typeface="Calibri"/>
              </a:rPr>
              <a:t>pacman = genetic-AI trainer  ·  sgm = stereo-vision disparity on real imagery  ·  sqlite = in-memory OLTP  ·  httpp = HTTP parsing  ·  qoi = image codec  ·  ray = ray tracer</a:t>
            </a:r>
          </a:p>
        </p:txBody>
      </p:sp>
      <p:sp>
        <p:nvSpPr>
          <p:cNvPr id="12" name="TextBox 11"/>
          <p:cNvSpPr txBox="1"/>
          <p:nvPr/>
        </p:nvSpPr>
        <p:spPr>
          <a:xfrm>
            <a:off x="548640" y="4389120"/>
            <a:ext cx="11064240" cy="292608"/>
          </a:xfrm>
          <a:prstGeom prst="rect">
            <a:avLst/>
          </a:prstGeom>
          <a:noFill/>
        </p:spPr>
        <p:txBody>
          <a:bodyPr wrap="square">
            <a:spAutoFit/>
          </a:bodyPr>
          <a:lstStyle/>
          <a:p>
            <a:pPr algn="l"/>
            <a:r>
              <a:rPr sz="1100" b="1">
                <a:solidFill>
                  <a:srgbClr val="202124"/>
                </a:solidFill>
                <a:latin typeface="Calibri"/>
              </a:rPr>
              <a:t>Controls — synthetic and benchmark mixes over the same core counts:</a:t>
            </a:r>
          </a:p>
        </p:txBody>
      </p:sp>
      <p:graphicFrame>
        <p:nvGraphicFramePr>
          <p:cNvPr id="13" name="Table 12"/>
          <p:cNvGraphicFramePr>
            <a:graphicFrameLocks noGrp="1"/>
          </p:cNvGraphicFramePr>
          <p:nvPr/>
        </p:nvGraphicFramePr>
        <p:xfrm>
          <a:off x="548640" y="4700016"/>
          <a:ext cx="11082528" cy="1042416"/>
        </p:xfrm>
        <a:graphic>
          <a:graphicData uri="http://schemas.openxmlformats.org/drawingml/2006/table">
            <a:tbl>
              <a:tblPr firstRow="1" bandRow="1">
                <a:tableStyleId>{5C22544A-7EE6-4342-B048-85BDC9FD1C3A}</a:tableStyleId>
              </a:tblPr>
              <a:tblGrid>
                <a:gridCol w="2514600"/>
                <a:gridCol w="4160520"/>
                <a:gridCol w="658368"/>
                <a:gridCol w="960120"/>
                <a:gridCol w="960120"/>
                <a:gridCol w="914400"/>
                <a:gridCol w="914400"/>
              </a:tblGrid>
              <a:tr h="347472">
                <a:tc>
                  <a:txBody>
                    <a:bodyPr/>
                    <a:lstStyle/>
                    <a:p>
                      <a:r>
                        <a:rPr sz="1050" b="1">
                          <a:solidFill>
                            <a:srgbClr val="FFFFFF"/>
                          </a:solidFill>
                          <a:latin typeface="Calibri"/>
                        </a:rPr>
                        <a:t>what it is</a:t>
                      </a:r>
                    </a:p>
                  </a:txBody>
                  <a:tcPr>
                    <a:solidFill>
                      <a:srgbClr val="202124"/>
                    </a:solidFill>
                  </a:tcPr>
                </a:tc>
                <a:tc>
                  <a:txBody>
                    <a:bodyPr/>
                    <a:lstStyle/>
                    <a:p>
                      <a:r>
                        <a:rPr sz="1050" b="1">
                          <a:solidFill>
                            <a:srgbClr val="FFFFFF"/>
                          </a:solidFill>
                          <a:latin typeface="Calibri"/>
                        </a:rPr>
                        <a:t>applications running concurrently</a:t>
                      </a:r>
                    </a:p>
                  </a:txBody>
                  <a:tcPr>
                    <a:solidFill>
                      <a:srgbClr val="202124"/>
                    </a:solidFill>
                  </a:tcPr>
                </a:tc>
                <a:tc>
                  <a:txBody>
                    <a:bodyPr/>
                    <a:lstStyle/>
                    <a:p>
                      <a:r>
                        <a:rPr sz="1050" b="1">
                          <a:solidFill>
                            <a:srgbClr val="FFFFFF"/>
                          </a:solidFill>
                          <a:latin typeface="Calibri"/>
                        </a:rPr>
                        <a:t>cores</a:t>
                      </a:r>
                    </a:p>
                  </a:txBody>
                  <a:tcPr>
                    <a:solidFill>
                      <a:srgbClr val="202124"/>
                    </a:solidFill>
                  </a:tcPr>
                </a:tc>
                <a:tc>
                  <a:txBody>
                    <a:bodyPr/>
                    <a:lstStyle/>
                    <a:p>
                      <a:r>
                        <a:rPr sz="1050" b="1">
                          <a:solidFill>
                            <a:srgbClr val="FFFFFF"/>
                          </a:solidFill>
                          <a:latin typeface="Calibri"/>
                        </a:rPr>
                        <a:t>pred mW</a:t>
                      </a:r>
                    </a:p>
                  </a:txBody>
                  <a:tcPr>
                    <a:solidFill>
                      <a:srgbClr val="202124"/>
                    </a:solidFill>
                  </a:tcPr>
                </a:tc>
                <a:tc>
                  <a:txBody>
                    <a:bodyPr/>
                    <a:lstStyle/>
                    <a:p>
                      <a:r>
                        <a:rPr sz="1050" b="1">
                          <a:solidFill>
                            <a:srgbClr val="FFFFFF"/>
                          </a:solidFill>
                          <a:latin typeface="Calibri"/>
                        </a:rPr>
                        <a:t>meas mW</a:t>
                      </a:r>
                    </a:p>
                  </a:txBody>
                  <a:tcPr>
                    <a:solidFill>
                      <a:srgbClr val="202124"/>
                    </a:solidFill>
                  </a:tcPr>
                </a:tc>
                <a:tc>
                  <a:txBody>
                    <a:bodyPr/>
                    <a:lstStyle/>
                    <a:p>
                      <a:r>
                        <a:rPr sz="1050" b="1">
                          <a:solidFill>
                            <a:srgbClr val="FFFFFF"/>
                          </a:solidFill>
                          <a:latin typeface="Calibri"/>
                        </a:rPr>
                        <a:t>err</a:t>
                      </a:r>
                    </a:p>
                  </a:txBody>
                  <a:tcPr>
                    <a:solidFill>
                      <a:srgbClr val="202124"/>
                    </a:solidFill>
                  </a:tcPr>
                </a:tc>
                <a:tc>
                  <a:txBody>
                    <a:bodyPr/>
                    <a:lstStyle/>
                    <a:p>
                      <a:r>
                        <a:rPr sz="1050" b="1">
                          <a:solidFill>
                            <a:srgbClr val="FFFFFF"/>
                          </a:solidFill>
                          <a:latin typeface="Calibri"/>
                        </a:rPr>
                        <a:t>err (PMU)</a:t>
                      </a:r>
                    </a:p>
                  </a:txBody>
                  <a:tcPr>
                    <a:solidFill>
                      <a:srgbClr val="202124"/>
                    </a:solidFill>
                  </a:tcPr>
                </a:tc>
              </a:tr>
              <a:tr h="347472">
                <a:tc>
                  <a:txBody>
                    <a:bodyPr/>
                    <a:lstStyle/>
                    <a:p>
                      <a:r>
                        <a:rPr sz="1050" b="1">
                          <a:latin typeface="Calibri"/>
                        </a:rPr>
                        <a:t>compute-bound control</a:t>
                      </a:r>
                    </a:p>
                  </a:txBody>
                  <a:tcPr>
                    <a:solidFill>
                      <a:srgbClr val="EFF3FA"/>
                    </a:solidFill>
                  </a:tcPr>
                </a:tc>
                <a:tc>
                  <a:txBody>
                    <a:bodyPr/>
                    <a:lstStyle/>
                    <a:p>
                      <a:r>
                        <a:rPr sz="1050" b="0">
                          <a:latin typeface="Calibri"/>
                        </a:rPr>
                        <a:t>4 x sha256</a:t>
                      </a:r>
                    </a:p>
                  </a:txBody>
                  <a:tcPr>
                    <a:solidFill>
                      <a:srgbClr val="EFF3FA"/>
                    </a:solidFill>
                  </a:tcPr>
                </a:tc>
                <a:tc>
                  <a:txBody>
                    <a:bodyPr/>
                    <a:lstStyle/>
                    <a:p>
                      <a:r>
                        <a:rPr sz="1050" b="0">
                          <a:latin typeface="Calibri"/>
                        </a:rPr>
                        <a:t>4</a:t>
                      </a:r>
                    </a:p>
                  </a:txBody>
                  <a:tcPr>
                    <a:solidFill>
                      <a:srgbClr val="EFF3FA"/>
                    </a:solidFill>
                  </a:tcPr>
                </a:tc>
                <a:tc>
                  <a:txBody>
                    <a:bodyPr/>
                    <a:lstStyle/>
                    <a:p>
                      <a:r>
                        <a:rPr sz="1050" b="0">
                          <a:latin typeface="Calibri"/>
                        </a:rPr>
                        <a:t>2304</a:t>
                      </a:r>
                    </a:p>
                  </a:txBody>
                  <a:tcPr>
                    <a:solidFill>
                      <a:srgbClr val="EFF3FA"/>
                    </a:solidFill>
                  </a:tcPr>
                </a:tc>
                <a:tc>
                  <a:txBody>
                    <a:bodyPr/>
                    <a:lstStyle/>
                    <a:p>
                      <a:r>
                        <a:rPr sz="1050" b="0">
                          <a:latin typeface="Calibri"/>
                        </a:rPr>
                        <a:t>2163</a:t>
                      </a:r>
                    </a:p>
                  </a:txBody>
                  <a:tcPr>
                    <a:solidFill>
                      <a:srgbClr val="EFF3FA"/>
                    </a:solidFill>
                  </a:tcPr>
                </a:tc>
                <a:tc>
                  <a:txBody>
                    <a:bodyPr/>
                    <a:lstStyle/>
                    <a:p>
                      <a:r>
                        <a:rPr sz="1050" b="1">
                          <a:solidFill>
                            <a:srgbClr val="187A33"/>
                          </a:solidFill>
                          <a:latin typeface="Calibri"/>
                        </a:rPr>
                        <a:t>6.5%</a:t>
                      </a:r>
                    </a:p>
                  </a:txBody>
                  <a:tcPr>
                    <a:solidFill>
                      <a:srgbClr val="EFF3FA"/>
                    </a:solidFill>
                  </a:tcPr>
                </a:tc>
                <a:tc>
                  <a:txBody>
                    <a:bodyPr/>
                    <a:lstStyle/>
                    <a:p>
                      <a:r>
                        <a:rPr sz="1050" b="0">
                          <a:solidFill>
                            <a:srgbClr val="187A33"/>
                          </a:solidFill>
                          <a:latin typeface="Calibri"/>
                        </a:rPr>
                        <a:t>6.5%</a:t>
                      </a:r>
                    </a:p>
                  </a:txBody>
                  <a:tcPr>
                    <a:solidFill>
                      <a:srgbClr val="EFF3FA"/>
                    </a:solidFill>
                  </a:tcPr>
                </a:tc>
              </a:tr>
              <a:tr h="347472">
                <a:tc>
                  <a:txBody>
                    <a:bodyPr/>
                    <a:lstStyle/>
                    <a:p>
                      <a:r>
                        <a:rPr sz="1050" b="1">
                          <a:latin typeface="Calibri"/>
                        </a:rPr>
                        <a:t>mixed benchmark control</a:t>
                      </a:r>
                    </a:p>
                  </a:txBody>
                  <a:tcPr>
                    <a:solidFill>
                      <a:srgbClr val="FFFFFF"/>
                    </a:solidFill>
                  </a:tcPr>
                </a:tc>
                <a:tc>
                  <a:txBody>
                    <a:bodyPr/>
                    <a:lstStyle/>
                    <a:p>
                      <a:r>
                        <a:rPr sz="1050" b="0">
                          <a:latin typeface="Calibri"/>
                        </a:rPr>
                        <a:t>sha256 + mem + lz4 + sqlite + lua + bzip2</a:t>
                      </a:r>
                    </a:p>
                  </a:txBody>
                  <a:tcPr>
                    <a:solidFill>
                      <a:srgbClr val="FFFFFF"/>
                    </a:solidFill>
                  </a:tcPr>
                </a:tc>
                <a:tc>
                  <a:txBody>
                    <a:bodyPr/>
                    <a:lstStyle/>
                    <a:p>
                      <a:r>
                        <a:rPr sz="1050" b="0">
                          <a:latin typeface="Calibri"/>
                        </a:rPr>
                        <a:t>6</a:t>
                      </a:r>
                    </a:p>
                  </a:txBody>
                  <a:tcPr>
                    <a:solidFill>
                      <a:srgbClr val="FFFFFF"/>
                    </a:solidFill>
                  </a:tcPr>
                </a:tc>
                <a:tc>
                  <a:txBody>
                    <a:bodyPr/>
                    <a:lstStyle/>
                    <a:p>
                      <a:r>
                        <a:rPr sz="1050" b="0">
                          <a:latin typeface="Calibri"/>
                        </a:rPr>
                        <a:t>3065</a:t>
                      </a:r>
                    </a:p>
                  </a:txBody>
                  <a:tcPr>
                    <a:solidFill>
                      <a:srgbClr val="FFFFFF"/>
                    </a:solidFill>
                  </a:tcPr>
                </a:tc>
                <a:tc>
                  <a:txBody>
                    <a:bodyPr/>
                    <a:lstStyle/>
                    <a:p>
                      <a:r>
                        <a:rPr sz="1050" b="0">
                          <a:latin typeface="Calibri"/>
                        </a:rPr>
                        <a:t>2878</a:t>
                      </a:r>
                    </a:p>
                  </a:txBody>
                  <a:tcPr>
                    <a:solidFill>
                      <a:srgbClr val="FFFFFF"/>
                    </a:solidFill>
                  </a:tcPr>
                </a:tc>
                <a:tc>
                  <a:txBody>
                    <a:bodyPr/>
                    <a:lstStyle/>
                    <a:p>
                      <a:r>
                        <a:rPr sz="1050" b="1">
                          <a:solidFill>
                            <a:srgbClr val="187A33"/>
                          </a:solidFill>
                          <a:latin typeface="Calibri"/>
                        </a:rPr>
                        <a:t>6.5%</a:t>
                      </a:r>
                    </a:p>
                  </a:txBody>
                  <a:tcPr>
                    <a:solidFill>
                      <a:srgbClr val="FFFFFF"/>
                    </a:solidFill>
                  </a:tcPr>
                </a:tc>
                <a:tc>
                  <a:txBody>
                    <a:bodyPr/>
                    <a:lstStyle/>
                    <a:p>
                      <a:r>
                        <a:rPr sz="1050" b="0">
                          <a:solidFill>
                            <a:srgbClr val="187A33"/>
                          </a:solidFill>
                          <a:latin typeface="Calibri"/>
                        </a:rPr>
                        <a:t>1.4%</a:t>
                      </a:r>
                    </a:p>
                  </a:txBody>
                  <a:tcPr>
                    <a:solidFill>
                      <a:srgbClr val="FFFFFF"/>
                    </a:solidFill>
                  </a:tcPr>
                </a:tc>
              </a:tr>
            </a:tbl>
          </a:graphicData>
        </a:graphic>
      </p:graphicFrame>
      <p:sp>
        <p:nvSpPr>
          <p:cNvPr id="14" name="TextBox 13"/>
          <p:cNvSpPr txBox="1"/>
          <p:nvPr/>
        </p:nvSpPr>
        <p:spPr>
          <a:xfrm>
            <a:off x="548640" y="5815584"/>
            <a:ext cx="11064240" cy="603504"/>
          </a:xfrm>
          <a:prstGeom prst="rect">
            <a:avLst/>
          </a:prstGeom>
          <a:noFill/>
        </p:spPr>
        <p:txBody>
          <a:bodyPr wrap="square">
            <a:spAutoFit/>
          </a:bodyPr>
          <a:lstStyle/>
          <a:p>
            <a:pPr algn="l"/>
            <a:r>
              <a:rPr sz="1050" b="0">
                <a:solidFill>
                  <a:srgbClr val="1A53A0"/>
                </a:solidFill>
                <a:latin typeface="Calibri"/>
              </a:rPr>
              <a:t>The last column re-runs each prediction using activity measured on silicon instead of QEMU, which separates the model from the emulator. They agree on the edge mixes — so the error there is the model's, not QEMU's. They diverge only on the streaming control (6.5% vs 1.4%), where QEMU's DRAM proxy over-reports bandwidth. Edge workloads run at 0.4–0.7 GB/s and are barely exposed to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licenses, and what it does not</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trust statement, quantity by quantity.</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11</a:t>
            </a:r>
          </a:p>
        </p:txBody>
      </p:sp>
      <p:graphicFrame>
        <p:nvGraphicFramePr>
          <p:cNvPr id="8" name="Table 7"/>
          <p:cNvGraphicFramePr>
            <a:graphicFrameLocks noGrp="1"/>
          </p:cNvGraphicFramePr>
          <p:nvPr/>
        </p:nvGraphicFramePr>
        <p:xfrm>
          <a:off x="548640" y="1444752"/>
          <a:ext cx="11064240" cy="4023360"/>
        </p:xfrm>
        <a:graphic>
          <a:graphicData uri="http://schemas.openxmlformats.org/drawingml/2006/table">
            <a:tbl>
              <a:tblPr firstRow="1" bandRow="1">
                <a:tableStyleId>{5C22544A-7EE6-4342-B048-85BDC9FD1C3A}</a:tableStyleId>
              </a:tblPr>
              <a:tblGrid>
                <a:gridCol w="4297680"/>
                <a:gridCol w="1051560"/>
                <a:gridCol w="5715000"/>
              </a:tblGrid>
              <a:tr h="365760">
                <a:tc>
                  <a:txBody>
                    <a:bodyPr/>
                    <a:lstStyle/>
                    <a:p>
                      <a:r>
                        <a:rPr sz="1050" b="1">
                          <a:solidFill>
                            <a:srgbClr val="FFFFFF"/>
                          </a:solidFill>
                          <a:latin typeface="Calibri"/>
                        </a:rPr>
                        <a:t>claim</a:t>
                      </a:r>
                    </a:p>
                  </a:txBody>
                  <a:tcPr>
                    <a:solidFill>
                      <a:srgbClr val="202124"/>
                    </a:solidFill>
                  </a:tcPr>
                </a:tc>
                <a:tc>
                  <a:txBody>
                    <a:bodyPr/>
                    <a:lstStyle/>
                    <a:p>
                      <a:r>
                        <a:rPr sz="1050" b="1">
                          <a:solidFill>
                            <a:srgbClr val="FFFFFF"/>
                          </a:solidFill>
                          <a:latin typeface="Calibri"/>
                        </a:rPr>
                        <a:t>verdict</a:t>
                      </a:r>
                    </a:p>
                  </a:txBody>
                  <a:tcPr>
                    <a:solidFill>
                      <a:srgbClr val="202124"/>
                    </a:solidFill>
                  </a:tcPr>
                </a:tc>
                <a:tc>
                  <a:txBody>
                    <a:bodyPr/>
                    <a:lstStyle/>
                    <a:p>
                      <a:r>
                        <a:rPr sz="1050" b="1">
                          <a:solidFill>
                            <a:srgbClr val="FFFFFF"/>
                          </a:solidFill>
                          <a:latin typeface="Calibri"/>
                        </a:rPr>
                        <a:t>basis</a:t>
                      </a:r>
                    </a:p>
                  </a:txBody>
                  <a:tcPr>
                    <a:solidFill>
                      <a:srgbClr val="202124"/>
                    </a:solidFill>
                  </a:tcPr>
                </a:tc>
              </a:tr>
              <a:tr h="365760">
                <a:tc>
                  <a:txBody>
                    <a:bodyPr/>
                    <a:lstStyle/>
                    <a:p>
                      <a:r>
                        <a:rPr sz="1050" b="1">
                          <a:latin typeface="Calibri"/>
                        </a:rPr>
                        <a:t>predict the INSTRUCTION activity of an unseen app</a:t>
                      </a:r>
                    </a:p>
                  </a:txBody>
                  <a:tcPr>
                    <a:solidFill>
                      <a:srgbClr val="EFF3FA"/>
                    </a:solidFill>
                  </a:tcPr>
                </a:tc>
                <a:tc>
                  <a:txBody>
                    <a:bodyPr/>
                    <a:lstStyle/>
                    <a:p>
                      <a:r>
                        <a:rPr sz="1050" b="1">
                          <a:solidFill>
                            <a:srgbClr val="187A33"/>
                          </a:solidFill>
                          <a:latin typeface="Calibri"/>
                        </a:rPr>
                        <a:t>YES</a:t>
                      </a:r>
                    </a:p>
                  </a:txBody>
                  <a:tcPr>
                    <a:solidFill>
                      <a:srgbClr val="EFF3FA"/>
                    </a:solidFill>
                  </a:tcPr>
                </a:tc>
                <a:tc>
                  <a:txBody>
                    <a:bodyPr/>
                    <a:lstStyle/>
                    <a:p>
                      <a:r>
                        <a:rPr sz="1050" b="0">
                          <a:latin typeface="Calibri"/>
                        </a:rPr>
                        <a:t>1.75% mean, 41 of 50 within 2%</a:t>
                      </a:r>
                    </a:p>
                  </a:txBody>
                  <a:tcPr>
                    <a:solidFill>
                      <a:srgbClr val="EFF3FA"/>
                    </a:solidFill>
                  </a:tcPr>
                </a:tc>
              </a:tr>
              <a:tr h="365760">
                <a:tc>
                  <a:txBody>
                    <a:bodyPr/>
                    <a:lstStyle/>
                    <a:p>
                      <a:r>
                        <a:rPr sz="1050" b="1">
                          <a:latin typeface="Calibri"/>
                        </a:rPr>
                        <a:t>predict DRAM BANDWIDTH</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over-reports ~2x; write streaming is not modelled</a:t>
                      </a:r>
                    </a:p>
                  </a:txBody>
                  <a:tcPr>
                    <a:solidFill>
                      <a:srgbClr val="FFFFFF"/>
                    </a:solidFill>
                  </a:tcPr>
                </a:tc>
              </a:tr>
              <a:tr h="365760">
                <a:tc>
                  <a:txBody>
                    <a:bodyPr/>
                    <a:lstStyle/>
                    <a:p>
                      <a:r>
                        <a:rPr sz="1050" b="1">
                          <a:latin typeface="Calibri"/>
                        </a:rPr>
                        <a:t>predict total power of an unseen app</a:t>
                      </a:r>
                    </a:p>
                  </a:txBody>
                  <a:tcPr>
                    <a:solidFill>
                      <a:srgbClr val="EFF3FA"/>
                    </a:solidFill>
                  </a:tcPr>
                </a:tc>
                <a:tc>
                  <a:txBody>
                    <a:bodyPr/>
                    <a:lstStyle/>
                    <a:p>
                      <a:r>
                        <a:rPr sz="1050" b="1">
                          <a:solidFill>
                            <a:srgbClr val="187A33"/>
                          </a:solidFill>
                          <a:latin typeface="Calibri"/>
                        </a:rPr>
                        <a:t>YES</a:t>
                      </a:r>
                    </a:p>
                  </a:txBody>
                  <a:tcPr>
                    <a:solidFill>
                      <a:srgbClr val="EFF3FA"/>
                    </a:solidFill>
                  </a:tcPr>
                </a:tc>
                <a:tc>
                  <a:txBody>
                    <a:bodyPr/>
                    <a:lstStyle/>
                    <a:p>
                      <a:r>
                        <a:rPr sz="1050" b="0">
                          <a:latin typeface="Calibri"/>
                        </a:rPr>
                        <a:t>6.4% mean, 14.8% worst, 50 held-out applications</a:t>
                      </a:r>
                    </a:p>
                  </a:txBody>
                  <a:tcPr>
                    <a:solidFill>
                      <a:srgbClr val="EFF3FA"/>
                    </a:solidFill>
                  </a:tcPr>
                </a:tc>
              </a:tr>
              <a:tr h="365760">
                <a:tc>
                  <a:txBody>
                    <a:bodyPr/>
                    <a:lstStyle/>
                    <a:p>
                      <a:r>
                        <a:rPr sz="1050" b="1">
                          <a:latin typeface="Calibri"/>
                        </a:rPr>
                        <a:t>predict vdd_soc</a:t>
                      </a:r>
                    </a:p>
                  </a:txBody>
                  <a:tcPr>
                    <a:solidFill>
                      <a:srgbClr val="FFFFFF"/>
                    </a:solidFill>
                  </a:tcPr>
                </a:tc>
                <a:tc>
                  <a:txBody>
                    <a:bodyPr/>
                    <a:lstStyle/>
                    <a:p>
                      <a:r>
                        <a:rPr sz="1050" b="1">
                          <a:solidFill>
                            <a:srgbClr val="187A33"/>
                          </a:solidFill>
                          <a:latin typeface="Calibri"/>
                        </a:rPr>
                        <a:t>YES</a:t>
                      </a:r>
                    </a:p>
                  </a:txBody>
                  <a:tcPr>
                    <a:solidFill>
                      <a:srgbClr val="FFFFFF"/>
                    </a:solidFill>
                  </a:tcPr>
                </a:tc>
                <a:tc>
                  <a:txBody>
                    <a:bodyPr/>
                    <a:lstStyle/>
                    <a:p>
                      <a:r>
                        <a:rPr sz="1050" b="0">
                          <a:latin typeface="Calibri"/>
                        </a:rPr>
                        <a:t>4.1% mean, 7.1% worst — the strongest single result</a:t>
                      </a:r>
                    </a:p>
                  </a:txBody>
                  <a:tcPr>
                    <a:solidFill>
                      <a:srgbClr val="FFFFFF"/>
                    </a:solidFill>
                  </a:tcPr>
                </a:tc>
              </a:tr>
              <a:tr h="365760">
                <a:tc>
                  <a:txBody>
                    <a:bodyPr/>
                    <a:lstStyle/>
                    <a:p>
                      <a:r>
                        <a:rPr sz="1050" b="1">
                          <a:latin typeface="Calibri"/>
                        </a:rPr>
                        <a:t>predict vdd_arm on its own</a:t>
                      </a:r>
                    </a:p>
                  </a:txBody>
                  <a:tcPr>
                    <a:solidFill>
                      <a:srgbClr val="EFF3FA"/>
                    </a:solidFill>
                  </a:tcPr>
                </a:tc>
                <a:tc>
                  <a:txBody>
                    <a:bodyPr/>
                    <a:lstStyle/>
                    <a:p>
                      <a:r>
                        <a:rPr sz="1050" b="1">
                          <a:solidFill>
                            <a:srgbClr val="B06000"/>
                          </a:solidFill>
                          <a:latin typeface="Calibri"/>
                        </a:rPr>
                        <a:t>PARTLY</a:t>
                      </a:r>
                    </a:p>
                  </a:txBody>
                  <a:tcPr>
                    <a:solidFill>
                      <a:srgbClr val="EFF3FA"/>
                    </a:solidFill>
                  </a:tcPr>
                </a:tc>
                <a:tc>
                  <a:txBody>
                    <a:bodyPr/>
                    <a:lstStyle/>
                    <a:p>
                      <a:r>
                        <a:rPr sz="1050" b="0">
                          <a:latin typeface="Calibri"/>
                        </a:rPr>
                        <a:t>10.8% median but 25.2% worst; use the SUM, not this rail alone</a:t>
                      </a:r>
                    </a:p>
                  </a:txBody>
                  <a:tcPr>
                    <a:solidFill>
                      <a:srgbClr val="EFF3FA"/>
                    </a:solidFill>
                  </a:tcPr>
                </a:tc>
              </a:tr>
              <a:tr h="365760">
                <a:tc>
                  <a:txBody>
                    <a:bodyPr/>
                    <a:lstStyle/>
                    <a:p>
                      <a:r>
                        <a:rPr sz="1050" b="1">
                          <a:latin typeface="Calibri"/>
                        </a:rPr>
                        <a:t>predict a concurrent multi-app mix</a:t>
                      </a:r>
                    </a:p>
                  </a:txBody>
                  <a:tcPr>
                    <a:solidFill>
                      <a:srgbClr val="FFFFFF"/>
                    </a:solidFill>
                  </a:tcPr>
                </a:tc>
                <a:tc>
                  <a:txBody>
                    <a:bodyPr/>
                    <a:lstStyle/>
                    <a:p>
                      <a:r>
                        <a:rPr sz="1050" b="1">
                          <a:solidFill>
                            <a:srgbClr val="187A33"/>
                          </a:solidFill>
                          <a:latin typeface="Calibri"/>
                        </a:rPr>
                        <a:t>YES</a:t>
                      </a:r>
                    </a:p>
                  </a:txBody>
                  <a:tcPr>
                    <a:solidFill>
                      <a:srgbClr val="FFFFFF"/>
                    </a:solidFill>
                  </a:tcPr>
                </a:tc>
                <a:tc>
                  <a:txBody>
                    <a:bodyPr/>
                    <a:lstStyle/>
                    <a:p>
                      <a:r>
                        <a:rPr sz="1050" b="0">
                          <a:latin typeface="Calibri"/>
                        </a:rPr>
                        <a:t>3.6% mean, 5.8% worst, 2–6 apps</a:t>
                      </a:r>
                    </a:p>
                  </a:txBody>
                  <a:tcPr>
                    <a:solidFill>
                      <a:srgbClr val="FFFFFF"/>
                    </a:solidFill>
                  </a:tcPr>
                </a:tc>
              </a:tr>
              <a:tr h="365760">
                <a:tc>
                  <a:txBody>
                    <a:bodyPr/>
                    <a:lstStyle/>
                    <a:p>
                      <a:r>
                        <a:rPr sz="1050" b="1">
                          <a:latin typeface="Calibri"/>
                        </a:rPr>
                        <a:t>predict streaming or DMA-heavy code</a:t>
                      </a:r>
                    </a:p>
                  </a:txBody>
                  <a:tcPr>
                    <a:solidFill>
                      <a:srgbClr val="EFF3FA"/>
                    </a:solidFill>
                  </a:tcPr>
                </a:tc>
                <a:tc>
                  <a:txBody>
                    <a:bodyPr/>
                    <a:lstStyle/>
                    <a:p>
                      <a:r>
                        <a:rPr sz="1050" b="1">
                          <a:solidFill>
                            <a:srgbClr val="B31412"/>
                          </a:solidFill>
                          <a:latin typeface="Calibri"/>
                        </a:rPr>
                        <a:t>NO</a:t>
                      </a:r>
                    </a:p>
                  </a:txBody>
                  <a:tcPr>
                    <a:solidFill>
                      <a:srgbClr val="EFF3FA"/>
                    </a:solidFill>
                  </a:tcPr>
                </a:tc>
                <a:tc>
                  <a:txBody>
                    <a:bodyPr/>
                    <a:lstStyle/>
                    <a:p>
                      <a:r>
                        <a:rPr sz="1050" b="0">
                          <a:latin typeface="Calibri"/>
                        </a:rPr>
                        <a:t>the bandwidth gap lands directly on it</a:t>
                      </a:r>
                    </a:p>
                  </a:txBody>
                  <a:tcPr>
                    <a:solidFill>
                      <a:srgbClr val="EFF3FA"/>
                    </a:solidFill>
                  </a:tcPr>
                </a:tc>
              </a:tr>
              <a:tr h="365760">
                <a:tc>
                  <a:txBody>
                    <a:bodyPr/>
                    <a:lstStyle/>
                    <a:p>
                      <a:r>
                        <a:rPr sz="1050" b="1">
                          <a:latin typeface="Calibri"/>
                        </a:rPr>
                        <a:t>use these coefficients at another frequency</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1800 MHz set; vdd_soc transfers, vdd_arm does not</a:t>
                      </a:r>
                    </a:p>
                  </a:txBody>
                  <a:tcPr>
                    <a:solidFill>
                      <a:srgbClr val="FFFFFF"/>
                    </a:solidFill>
                  </a:tcPr>
                </a:tc>
              </a:tr>
              <a:tr h="365760">
                <a:tc>
                  <a:txBody>
                    <a:bodyPr/>
                    <a:lstStyle/>
                    <a:p>
                      <a:r>
                        <a:rPr sz="1050" b="1">
                          <a:latin typeface="Calibri"/>
                        </a:rPr>
                        <a:t>use these coefficients on another SoC</a:t>
                      </a:r>
                    </a:p>
                  </a:txBody>
                  <a:tcPr>
                    <a:solidFill>
                      <a:srgbClr val="EFF3FA"/>
                    </a:solidFill>
                  </a:tcPr>
                </a:tc>
                <a:tc>
                  <a:txBody>
                    <a:bodyPr/>
                    <a:lstStyle/>
                    <a:p>
                      <a:r>
                        <a:rPr sz="1050" b="1">
                          <a:solidFill>
                            <a:srgbClr val="B31412"/>
                          </a:solidFill>
                          <a:latin typeface="Calibri"/>
                        </a:rPr>
                        <a:t>NO</a:t>
                      </a:r>
                    </a:p>
                  </a:txBody>
                  <a:tcPr>
                    <a:solidFill>
                      <a:srgbClr val="EFF3FA"/>
                    </a:solidFill>
                  </a:tcPr>
                </a:tc>
                <a:tc>
                  <a:txBody>
                    <a:bodyPr/>
                    <a:lstStyle/>
                    <a:p>
                      <a:r>
                        <a:rPr sz="1050" b="0">
                          <a:latin typeface="Calibri"/>
                        </a:rPr>
                        <a:t>stall-power sign is microarchitecture-specific</a:t>
                      </a:r>
                    </a:p>
                  </a:txBody>
                  <a:tcPr>
                    <a:solidFill>
                      <a:srgbClr val="EFF3FA"/>
                    </a:solidFill>
                  </a:tcPr>
                </a:tc>
              </a:tr>
              <a:tr h="365760">
                <a:tc>
                  <a:txBody>
                    <a:bodyPr/>
                    <a:lstStyle/>
                    <a:p>
                      <a:r>
                        <a:rPr sz="1050" b="1">
                          <a:latin typeface="Calibri"/>
                        </a:rPr>
                        <a:t>emit watts from QEMU alone</a:t>
                      </a:r>
                    </a:p>
                  </a:txBody>
                  <a:tcPr>
                    <a:solidFill>
                      <a:srgbClr val="FFFFFF"/>
                    </a:solidFill>
                  </a:tcPr>
                </a:tc>
                <a:tc>
                  <a:txBody>
                    <a:bodyPr/>
                    <a:lstStyle/>
                    <a:p>
                      <a:r>
                        <a:rPr sz="1050" b="1">
                          <a:solidFill>
                            <a:srgbClr val="B31412"/>
                          </a:solidFill>
                          <a:latin typeface="Calibri"/>
                        </a:rPr>
                        <a:t>NO</a:t>
                      </a:r>
                    </a:p>
                  </a:txBody>
                  <a:tcPr>
                    <a:solidFill>
                      <a:srgbClr val="FFFFFF"/>
                    </a:solidFill>
                  </a:tcPr>
                </a:tc>
                <a:tc>
                  <a:txBody>
                    <a:bodyPr/>
                    <a:lstStyle/>
                    <a:p>
                      <a:r>
                        <a:rPr sz="1050" b="0">
                          <a:latin typeface="Calibri"/>
                        </a:rPr>
                        <a:t>QEMU supplies ACTIVITY; energy coefficients come from silicon</a:t>
                      </a:r>
                    </a:p>
                  </a:txBody>
                  <a:tcPr>
                    <a:solidFill>
                      <a:srgbClr val="FFFFFF"/>
                    </a:solidFill>
                  </a:tcPr>
                </a:tc>
              </a:tr>
            </a:tbl>
          </a:graphicData>
        </a:graphic>
      </p:graphicFrame>
      <p:sp>
        <p:nvSpPr>
          <p:cNvPr id="9" name="TextBox 8"/>
          <p:cNvSpPr txBox="1"/>
          <p:nvPr/>
        </p:nvSpPr>
        <p:spPr>
          <a:xfrm>
            <a:off x="548640" y="5504688"/>
            <a:ext cx="11064240" cy="457200"/>
          </a:xfrm>
          <a:prstGeom prst="rect">
            <a:avLst/>
          </a:prstGeom>
          <a:noFill/>
        </p:spPr>
        <p:txBody>
          <a:bodyPr wrap="square">
            <a:spAutoFit/>
          </a:bodyPr>
          <a:lstStyle/>
          <a:p>
            <a:pPr algn="l"/>
            <a:r>
              <a:rPr sz="1200" b="1">
                <a:solidFill>
                  <a:srgbClr val="1A53A0"/>
                </a:solidFill>
                <a:latin typeface="Calibri"/>
              </a:rPr>
              <a:t>The standing rule survives the campaign unchanged: QEMU measures activity, engineers convert activity to energy. A board that reads real watts is exactly when that discipline matters most.</a:t>
            </a:r>
          </a:p>
        </p:txBody>
      </p:sp>
      <p:sp>
        <p:nvSpPr>
          <p:cNvPr id="10" name="TextBox 9"/>
          <p:cNvSpPr txBox="1"/>
          <p:nvPr/>
        </p:nvSpPr>
        <p:spPr>
          <a:xfrm>
            <a:off x="548640" y="6035040"/>
            <a:ext cx="11064240" cy="457200"/>
          </a:xfrm>
          <a:prstGeom prst="rect">
            <a:avLst/>
          </a:prstGeom>
          <a:noFill/>
        </p:spPr>
        <p:txBody>
          <a:bodyPr wrap="square">
            <a:spAutoFit/>
          </a:bodyPr>
          <a:lstStyle/>
          <a:p>
            <a:pPr algn="l"/>
            <a:r>
              <a:rPr sz="1150" b="0">
                <a:solidFill>
                  <a:srgbClr val="5F6368"/>
                </a:solidFill>
                <a:latin typeface="Calibri"/>
              </a:rPr>
              <a:t>Everything above is reproducible from the repo: frozen predictions in git before measurement, raw per-app pairs in RESULTS-50.csv, and every limit stated beside the number it qualifies.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41248"/>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
            <a:ext cx="11155680" cy="603504"/>
          </a:xfrm>
          <a:prstGeom prst="rect">
            <a:avLst/>
          </a:prstGeom>
          <a:noFill/>
        </p:spPr>
        <p:txBody>
          <a:bodyPr wrap="square">
            <a:spAutoFit/>
          </a:bodyPr>
          <a:lstStyle/>
          <a:p>
            <a:pPr algn="l"/>
            <a:r>
              <a:rPr sz="2600" b="1">
                <a:solidFill>
                  <a:srgbClr val="FFFFFF"/>
                </a:solidFill>
                <a:latin typeface="Calibri"/>
              </a:rPr>
              <a:t>What this actually means</a:t>
            </a:r>
          </a:p>
        </p:txBody>
      </p:sp>
      <p:sp>
        <p:nvSpPr>
          <p:cNvPr id="4" name="Rectangle 3"/>
          <p:cNvSpPr/>
          <p:nvPr/>
        </p:nvSpPr>
        <p:spPr>
          <a:xfrm>
            <a:off x="0" y="841248"/>
            <a:ext cx="12191695" cy="38100"/>
          </a:xfrm>
          <a:prstGeom prst="rect">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69264"/>
            <a:ext cx="11155680" cy="365760"/>
          </a:xfrm>
          <a:prstGeom prst="rect">
            <a:avLst/>
          </a:prstGeom>
          <a:noFill/>
        </p:spPr>
        <p:txBody>
          <a:bodyPr wrap="square">
            <a:spAutoFit/>
          </a:bodyPr>
          <a:lstStyle/>
          <a:p>
            <a:pPr algn="l"/>
            <a:r>
              <a:rPr sz="1200" b="0">
                <a:solidFill>
                  <a:srgbClr val="5F6368"/>
                </a:solidFill>
                <a:latin typeface="Calibri"/>
              </a:rPr>
              <a:t>The result is not the point. What it licenses us to do next is the point.</a:t>
            </a:r>
          </a:p>
        </p:txBody>
      </p:sp>
      <p:sp>
        <p:nvSpPr>
          <p:cNvPr id="6" name="TextBox 5"/>
          <p:cNvSpPr txBox="1"/>
          <p:nvPr/>
        </p:nvSpPr>
        <p:spPr>
          <a:xfrm>
            <a:off x="548640" y="6528816"/>
            <a:ext cx="10424160" cy="274320"/>
          </a:xfrm>
          <a:prstGeom prst="rect">
            <a:avLst/>
          </a:prstGeom>
          <a:noFill/>
        </p:spPr>
        <p:txBody>
          <a:bodyPr wrap="square">
            <a:spAutoFit/>
          </a:bodyPr>
          <a:lstStyle/>
          <a:p>
            <a:pPr algn="l"/>
            <a:r>
              <a:rPr sz="950" b="0">
                <a:solidFill>
                  <a:srgbClr val="5F6368"/>
                </a:solidFill>
                <a:latin typeface="Calibri"/>
              </a:rPr>
              <a:t>wattson power · rails MEASURED on IMX95LPD5EVK-19 (NXP BCU) · A55 die 40–41 °C under load · activity DERIVED from QEMU TCG · 2026-09-10</a:t>
            </a:r>
          </a:p>
        </p:txBody>
      </p:sp>
      <p:sp>
        <p:nvSpPr>
          <p:cNvPr id="7" name="TextBox 6"/>
          <p:cNvSpPr txBox="1"/>
          <p:nvPr/>
        </p:nvSpPr>
        <p:spPr>
          <a:xfrm>
            <a:off x="11430000" y="6528816"/>
            <a:ext cx="457200" cy="274320"/>
          </a:xfrm>
          <a:prstGeom prst="rect">
            <a:avLst/>
          </a:prstGeom>
          <a:noFill/>
        </p:spPr>
        <p:txBody>
          <a:bodyPr wrap="square">
            <a:spAutoFit/>
          </a:bodyPr>
          <a:lstStyle/>
          <a:p>
            <a:pPr algn="r"/>
            <a:r>
              <a:rPr sz="950" b="0">
                <a:solidFill>
                  <a:srgbClr val="5F6368"/>
                </a:solidFill>
                <a:latin typeface="Calibri"/>
              </a:rPr>
              <a:t>12</a:t>
            </a:r>
          </a:p>
        </p:txBody>
      </p:sp>
      <p:sp>
        <p:nvSpPr>
          <p:cNvPr id="8" name="Oval 7"/>
          <p:cNvSpPr/>
          <p:nvPr/>
        </p:nvSpPr>
        <p:spPr>
          <a:xfrm>
            <a:off x="566928" y="1481328"/>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554480"/>
            <a:ext cx="566928" cy="457200"/>
          </a:xfrm>
          <a:prstGeom prst="rect">
            <a:avLst/>
          </a:prstGeom>
          <a:noFill/>
        </p:spPr>
        <p:txBody>
          <a:bodyPr wrap="square">
            <a:spAutoFit/>
          </a:bodyPr>
          <a:lstStyle/>
          <a:p>
            <a:pPr algn="ctr"/>
            <a:r>
              <a:rPr sz="2000" b="1">
                <a:solidFill>
                  <a:srgbClr val="FFFFFF"/>
                </a:solidFill>
                <a:latin typeface="Calibri"/>
              </a:rPr>
              <a:t>1</a:t>
            </a:r>
          </a:p>
        </p:txBody>
      </p:sp>
      <p:sp>
        <p:nvSpPr>
          <p:cNvPr id="10" name="TextBox 9"/>
          <p:cNvSpPr txBox="1"/>
          <p:nvPr/>
        </p:nvSpPr>
        <p:spPr>
          <a:xfrm>
            <a:off x="1325880" y="1444752"/>
            <a:ext cx="10332720" cy="420624"/>
          </a:xfrm>
          <a:prstGeom prst="rect">
            <a:avLst/>
          </a:prstGeom>
          <a:noFill/>
        </p:spPr>
        <p:txBody>
          <a:bodyPr wrap="square">
            <a:spAutoFit/>
          </a:bodyPr>
          <a:lstStyle/>
          <a:p>
            <a:pPr algn="l"/>
            <a:r>
              <a:rPr sz="1600" b="1">
                <a:solidFill>
                  <a:srgbClr val="202124"/>
                </a:solidFill>
                <a:latin typeface="Calibri"/>
              </a:rPr>
              <a:t>Predicting power on working silicon is not, by itself, worth much.</a:t>
            </a:r>
          </a:p>
        </p:txBody>
      </p:sp>
      <p:sp>
        <p:nvSpPr>
          <p:cNvPr id="11" name="TextBox 10"/>
          <p:cNvSpPr txBox="1"/>
          <p:nvPr/>
        </p:nvSpPr>
        <p:spPr>
          <a:xfrm>
            <a:off x="1325880" y="1883664"/>
            <a:ext cx="10332720" cy="841248"/>
          </a:xfrm>
          <a:prstGeom prst="rect">
            <a:avLst/>
          </a:prstGeom>
          <a:noFill/>
        </p:spPr>
        <p:txBody>
          <a:bodyPr wrap="square">
            <a:spAutoFit/>
          </a:bodyPr>
          <a:lstStyle/>
          <a:p>
            <a:pPr algn="l"/>
            <a:r>
              <a:rPr sz="1200" b="0">
                <a:solidFill>
                  <a:srgbClr val="5F6368"/>
                </a:solidFill>
                <a:latin typeface="Calibri"/>
              </a:rPr>
              <a:t>If the part exists, you can put a meter on it. Everything in this deck was validated against a board we already had — that is what makes it evidence, not what makes it useful.</a:t>
            </a:r>
          </a:p>
        </p:txBody>
      </p:sp>
      <p:sp>
        <p:nvSpPr>
          <p:cNvPr id="12" name="Oval 11"/>
          <p:cNvSpPr/>
          <p:nvPr/>
        </p:nvSpPr>
        <p:spPr>
          <a:xfrm>
            <a:off x="566928" y="2962656"/>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035808"/>
            <a:ext cx="566928" cy="457200"/>
          </a:xfrm>
          <a:prstGeom prst="rect">
            <a:avLst/>
          </a:prstGeom>
          <a:noFill/>
        </p:spPr>
        <p:txBody>
          <a:bodyPr wrap="square">
            <a:spAutoFit/>
          </a:bodyPr>
          <a:lstStyle/>
          <a:p>
            <a:pPr algn="ctr"/>
            <a:r>
              <a:rPr sz="2000" b="1">
                <a:solidFill>
                  <a:srgbClr val="FFFFFF"/>
                </a:solidFill>
                <a:latin typeface="Calibri"/>
              </a:rPr>
              <a:t>2</a:t>
            </a:r>
          </a:p>
        </p:txBody>
      </p:sp>
      <p:sp>
        <p:nvSpPr>
          <p:cNvPr id="14" name="TextBox 13"/>
          <p:cNvSpPr txBox="1"/>
          <p:nvPr/>
        </p:nvSpPr>
        <p:spPr>
          <a:xfrm>
            <a:off x="1325880" y="2926080"/>
            <a:ext cx="10332720" cy="420624"/>
          </a:xfrm>
          <a:prstGeom prst="rect">
            <a:avLst/>
          </a:prstGeom>
          <a:noFill/>
        </p:spPr>
        <p:txBody>
          <a:bodyPr wrap="square">
            <a:spAutoFit/>
          </a:bodyPr>
          <a:lstStyle/>
          <a:p>
            <a:pPr algn="l"/>
            <a:r>
              <a:rPr sz="1600" b="1">
                <a:solidFill>
                  <a:srgbClr val="202124"/>
                </a:solidFill>
                <a:latin typeface="Calibri"/>
              </a:rPr>
              <a:t>So the value has to be collected BEFORE there is silicon.</a:t>
            </a:r>
          </a:p>
        </p:txBody>
      </p:sp>
      <p:sp>
        <p:nvSpPr>
          <p:cNvPr id="15" name="TextBox 14"/>
          <p:cNvSpPr txBox="1"/>
          <p:nvPr/>
        </p:nvSpPr>
        <p:spPr>
          <a:xfrm>
            <a:off x="1325880" y="3364992"/>
            <a:ext cx="10332720" cy="841248"/>
          </a:xfrm>
          <a:prstGeom prst="rect">
            <a:avLst/>
          </a:prstGeom>
          <a:noFill/>
        </p:spPr>
        <p:txBody>
          <a:bodyPr wrap="square">
            <a:spAutoFit/>
          </a:bodyPr>
          <a:lstStyle/>
          <a:p>
            <a:pPr algn="l"/>
            <a:r>
              <a:rPr sz="1200" b="0">
                <a:solidFill>
                  <a:srgbClr val="5F6368"/>
                </a:solidFill>
                <a:latin typeface="Calibri"/>
              </a:rPr>
              <a:t>Which sets a hard prerequisite on the program: a settled architecture and memory map, early, well ahead of tapeout — enough to stand up a QEMU model and boot a full Linux BSP on it. That is the gate. Not the power work; the model underneath it.</a:t>
            </a:r>
          </a:p>
        </p:txBody>
      </p:sp>
      <p:sp>
        <p:nvSpPr>
          <p:cNvPr id="16" name="Oval 15"/>
          <p:cNvSpPr/>
          <p:nvPr/>
        </p:nvSpPr>
        <p:spPr>
          <a:xfrm>
            <a:off x="566928" y="4443984"/>
            <a:ext cx="566928" cy="566928"/>
          </a:xfrm>
          <a:prstGeom prst="ellipse">
            <a:avLst/>
          </a:prstGeom>
          <a:solidFill>
            <a:srgbClr val="1A53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517136"/>
            <a:ext cx="566928" cy="457200"/>
          </a:xfrm>
          <a:prstGeom prst="rect">
            <a:avLst/>
          </a:prstGeom>
          <a:noFill/>
        </p:spPr>
        <p:txBody>
          <a:bodyPr wrap="square">
            <a:spAutoFit/>
          </a:bodyPr>
          <a:lstStyle/>
          <a:p>
            <a:pPr algn="ctr"/>
            <a:r>
              <a:rPr sz="2000" b="1">
                <a:solidFill>
                  <a:srgbClr val="FFFFFF"/>
                </a:solidFill>
                <a:latin typeface="Calibri"/>
              </a:rPr>
              <a:t>3</a:t>
            </a:r>
          </a:p>
        </p:txBody>
      </p:sp>
      <p:sp>
        <p:nvSpPr>
          <p:cNvPr id="18" name="TextBox 17"/>
          <p:cNvSpPr txBox="1"/>
          <p:nvPr/>
        </p:nvSpPr>
        <p:spPr>
          <a:xfrm>
            <a:off x="1325880" y="4407408"/>
            <a:ext cx="10332720" cy="420624"/>
          </a:xfrm>
          <a:prstGeom prst="rect">
            <a:avLst/>
          </a:prstGeom>
          <a:noFill/>
        </p:spPr>
        <p:txBody>
          <a:bodyPr wrap="square">
            <a:spAutoFit/>
          </a:bodyPr>
          <a:lstStyle/>
          <a:p>
            <a:pPr algn="l"/>
            <a:r>
              <a:rPr sz="1600" b="1">
                <a:solidFill>
                  <a:srgbClr val="202124"/>
                </a:solidFill>
                <a:latin typeface="Calibri"/>
              </a:rPr>
              <a:t>Once that exists, this campaign says both halves work.</a:t>
            </a:r>
          </a:p>
        </p:txBody>
      </p:sp>
      <p:sp>
        <p:nvSpPr>
          <p:cNvPr id="19" name="TextBox 18"/>
          <p:cNvSpPr txBox="1"/>
          <p:nvPr/>
        </p:nvSpPr>
        <p:spPr>
          <a:xfrm>
            <a:off x="1325880" y="4846320"/>
            <a:ext cx="10332720" cy="841248"/>
          </a:xfrm>
          <a:prstGeom prst="rect">
            <a:avLst/>
          </a:prstGeom>
          <a:noFill/>
        </p:spPr>
        <p:txBody>
          <a:bodyPr wrap="square">
            <a:spAutoFit/>
          </a:bodyPr>
          <a:lstStyle/>
          <a:p>
            <a:pPr algn="l"/>
            <a:r>
              <a:rPr sz="1200" b="0">
                <a:solidFill>
                  <a:srgbClr val="5F6368"/>
                </a:solidFill>
                <a:latin typeface="Calibri"/>
              </a:rPr>
              <a:t>QEMU predicts the activity factors — usable on their own for reading code flows, usage and where the work lands. And those activity factors, fed to a power model carrying estimated gate power, produce power estimates that held to single digits against real rails.</a:t>
            </a:r>
          </a:p>
        </p:txBody>
      </p:sp>
      <p:sp>
        <p:nvSpPr>
          <p:cNvPr id="20" name="Rectangle 19"/>
          <p:cNvSpPr/>
          <p:nvPr/>
        </p:nvSpPr>
        <p:spPr>
          <a:xfrm>
            <a:off x="548640" y="5779008"/>
            <a:ext cx="11064240" cy="731520"/>
          </a:xfrm>
          <a:prstGeom prst="rect">
            <a:avLst/>
          </a:prstGeom>
          <a:solidFill>
            <a:srgbClr val="2021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5888736"/>
            <a:ext cx="10607040" cy="566928"/>
          </a:xfrm>
          <a:prstGeom prst="rect">
            <a:avLst/>
          </a:prstGeom>
          <a:noFill/>
        </p:spPr>
        <p:txBody>
          <a:bodyPr wrap="square">
            <a:spAutoFit/>
          </a:bodyPr>
          <a:lstStyle/>
          <a:p>
            <a:pPr algn="l"/>
            <a:r>
              <a:rPr sz="1400" b="1">
                <a:solidFill>
                  <a:srgbClr val="FFFFFF"/>
                </a:solidFill>
                <a:latin typeface="Calibri"/>
              </a:rPr>
              <a:t>The division of labour: QEMU supplies the activity. The power model supplies the energy. Neither one is asked to do the other's job.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