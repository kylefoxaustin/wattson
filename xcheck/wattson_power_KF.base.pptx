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DF1DF6-5A9E-445A-A3B5-9CE24525FDE4}" v="2" dt="2026-09-10T05:56:52.5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37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eph fox" userId="50d7a54022179216" providerId="LiveId" clId="{2E41928C-797B-41AC-B2AF-BCC060D18E9C}"/>
    <pc:docChg chg="modSld">
      <pc:chgData name="joseph fox" userId="50d7a54022179216" providerId="LiveId" clId="{2E41928C-797B-41AC-B2AF-BCC060D18E9C}" dt="2026-09-10T06:10:24.214" v="18" actId="6549"/>
      <pc:docMkLst>
        <pc:docMk/>
      </pc:docMkLst>
      <pc:sldChg chg="modSp mod">
        <pc:chgData name="joseph fox" userId="50d7a54022179216" providerId="LiveId" clId="{2E41928C-797B-41AC-B2AF-BCC060D18E9C}" dt="2026-09-10T06:10:24.214" v="18" actId="6549"/>
        <pc:sldMkLst>
          <pc:docMk/>
          <pc:sldMk cId="0" sldId="257"/>
        </pc:sldMkLst>
        <pc:spChg chg="mod">
          <ac:chgData name="joseph fox" userId="50d7a54022179216" providerId="LiveId" clId="{2E41928C-797B-41AC-B2AF-BCC060D18E9C}" dt="2026-09-10T06:10:04.585" v="1" actId="403"/>
          <ac:spMkLst>
            <pc:docMk/>
            <pc:sldMk cId="0" sldId="257"/>
            <ac:spMk id="13" creationId="{00000000-0000-0000-0000-000000000000}"/>
          </ac:spMkLst>
        </pc:spChg>
        <pc:spChg chg="mod">
          <ac:chgData name="joseph fox" userId="50d7a54022179216" providerId="LiveId" clId="{2E41928C-797B-41AC-B2AF-BCC060D18E9C}" dt="2026-09-10T06:10:24.214" v="18" actId="6549"/>
          <ac:spMkLst>
            <pc:docMk/>
            <pc:sldMk cId="0" sldId="257"/>
            <ac:spMk id="20"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286000"/>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685800"/>
            <a:ext cx="10789920" cy="822960"/>
          </a:xfrm>
          <a:prstGeom prst="rect">
            <a:avLst/>
          </a:prstGeom>
          <a:noFill/>
        </p:spPr>
        <p:txBody>
          <a:bodyPr wrap="square">
            <a:spAutoFit/>
          </a:bodyPr>
          <a:lstStyle/>
          <a:p>
            <a:pPr algn="l"/>
            <a:r>
              <a:rPr sz="3400" b="1">
                <a:solidFill>
                  <a:srgbClr val="FFFFFF"/>
                </a:solidFill>
                <a:latin typeface="Calibri"/>
              </a:rPr>
              <a:t>From activity counts to measured silicon watts</a:t>
            </a:r>
          </a:p>
        </p:txBody>
      </p:sp>
      <p:sp>
        <p:nvSpPr>
          <p:cNvPr id="4" name="TextBox 3"/>
          <p:cNvSpPr txBox="1"/>
          <p:nvPr/>
        </p:nvSpPr>
        <p:spPr>
          <a:xfrm>
            <a:off x="731520" y="1572768"/>
            <a:ext cx="10789920" cy="400110"/>
          </a:xfrm>
          <a:prstGeom prst="rect">
            <a:avLst/>
          </a:prstGeom>
          <a:noFill/>
        </p:spPr>
        <p:txBody>
          <a:bodyPr wrap="square">
            <a:spAutoFit/>
          </a:bodyPr>
          <a:lstStyle/>
          <a:p>
            <a:pPr algn="l"/>
            <a:r>
              <a:rPr sz="2000" b="0" dirty="0" err="1">
                <a:solidFill>
                  <a:srgbClr val="C8D4E8"/>
                </a:solidFill>
                <a:latin typeface="Calibri"/>
              </a:rPr>
              <a:t>wattson</a:t>
            </a:r>
            <a:r>
              <a:rPr sz="2000" b="0" dirty="0">
                <a:solidFill>
                  <a:srgbClr val="C8D4E8"/>
                </a:solidFill>
                <a:latin typeface="Calibri"/>
              </a:rPr>
              <a:t> power calibration · i.MX 95 · per-rail models driven by QEMU</a:t>
            </a:r>
          </a:p>
        </p:txBody>
      </p:sp>
      <p:sp>
        <p:nvSpPr>
          <p:cNvPr id="5" name="TextBox 4"/>
          <p:cNvSpPr txBox="1"/>
          <p:nvPr/>
        </p:nvSpPr>
        <p:spPr>
          <a:xfrm>
            <a:off x="731520" y="2531531"/>
            <a:ext cx="10789920" cy="707886"/>
          </a:xfrm>
          <a:prstGeom prst="rect">
            <a:avLst/>
          </a:prstGeom>
          <a:noFill/>
        </p:spPr>
        <p:txBody>
          <a:bodyPr wrap="square">
            <a:spAutoFit/>
          </a:bodyPr>
          <a:lstStyle/>
          <a:p>
            <a:pPr algn="l"/>
            <a:r>
              <a:rPr sz="2000" b="0" dirty="0">
                <a:solidFill>
                  <a:srgbClr val="202124"/>
                </a:solidFill>
                <a:latin typeface="Calibri"/>
              </a:rPr>
              <a:t>Thesis under test: a functional emulator's activity counts, regressed against measured per-rail silicon power, </a:t>
            </a:r>
            <a:r>
              <a:rPr sz="2000" b="1" dirty="0">
                <a:solidFill>
                  <a:srgbClr val="202124"/>
                </a:solidFill>
                <a:latin typeface="Calibri"/>
              </a:rPr>
              <a:t>can predict </a:t>
            </a:r>
            <a:r>
              <a:rPr sz="2000" b="0" dirty="0">
                <a:solidFill>
                  <a:srgbClr val="202124"/>
                </a:solidFill>
                <a:latin typeface="Calibri"/>
              </a:rPr>
              <a:t>the power</a:t>
            </a:r>
            <a:r>
              <a:rPr lang="en-US" sz="2000" b="0" dirty="0">
                <a:solidFill>
                  <a:srgbClr val="202124"/>
                </a:solidFill>
                <a:latin typeface="Calibri"/>
              </a:rPr>
              <a:t> consumption</a:t>
            </a:r>
            <a:r>
              <a:rPr sz="2000" b="0" dirty="0">
                <a:solidFill>
                  <a:srgbClr val="202124"/>
                </a:solidFill>
                <a:latin typeface="Calibri"/>
              </a:rPr>
              <a:t> of applications the model has never seen.</a:t>
            </a:r>
          </a:p>
        </p:txBody>
      </p:sp>
      <p:sp>
        <p:nvSpPr>
          <p:cNvPr id="6" name="Rounded Rectangle 5"/>
          <p:cNvSpPr/>
          <p:nvPr/>
        </p:nvSpPr>
        <p:spPr>
          <a:xfrm>
            <a:off x="731520" y="3474720"/>
            <a:ext cx="10131213" cy="1371600"/>
          </a:xfrm>
          <a:prstGeom prst="roundRect">
            <a:avLst/>
          </a:prstGeom>
          <a:solidFill>
            <a:srgbClr val="EFF3FA"/>
          </a:solidFill>
          <a:ln w="25400">
            <a:solidFill>
              <a:srgbClr val="187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3639312"/>
            <a:ext cx="10241280" cy="400110"/>
          </a:xfrm>
          <a:prstGeom prst="rect">
            <a:avLst/>
          </a:prstGeom>
          <a:noFill/>
        </p:spPr>
        <p:txBody>
          <a:bodyPr wrap="square">
            <a:spAutoFit/>
          </a:bodyPr>
          <a:lstStyle/>
          <a:p>
            <a:pPr algn="ctr"/>
            <a:r>
              <a:rPr sz="2000" b="1" dirty="0">
                <a:solidFill>
                  <a:srgbClr val="187A33"/>
                </a:solidFill>
                <a:latin typeface="Calibri"/>
              </a:rPr>
              <a:t>RESULT: 6.4% mean error on total power, 50 real applications, predicted BLIND</a:t>
            </a:r>
          </a:p>
        </p:txBody>
      </p:sp>
      <p:sp>
        <p:nvSpPr>
          <p:cNvPr id="8" name="TextBox 7"/>
          <p:cNvSpPr txBox="1"/>
          <p:nvPr/>
        </p:nvSpPr>
        <p:spPr>
          <a:xfrm>
            <a:off x="1005840" y="4133087"/>
            <a:ext cx="10241280" cy="646331"/>
          </a:xfrm>
          <a:prstGeom prst="rect">
            <a:avLst/>
          </a:prstGeom>
          <a:noFill/>
        </p:spPr>
        <p:txBody>
          <a:bodyPr wrap="square">
            <a:spAutoFit/>
          </a:bodyPr>
          <a:lstStyle/>
          <a:p>
            <a:pPr algn="ctr"/>
            <a:r>
              <a:rPr b="0" dirty="0">
                <a:solidFill>
                  <a:srgbClr val="202124"/>
                </a:solidFill>
                <a:latin typeface="Calibri"/>
              </a:rPr>
              <a:t>Predictions were committed to git before a single power sample was taken on these applications. </a:t>
            </a:r>
            <a:endParaRPr lang="en-US" b="0" dirty="0">
              <a:solidFill>
                <a:srgbClr val="202124"/>
              </a:solidFill>
              <a:latin typeface="Calibri"/>
            </a:endParaRPr>
          </a:p>
          <a:p>
            <a:pPr algn="ctr"/>
            <a:r>
              <a:rPr lang="en-US" dirty="0">
                <a:solidFill>
                  <a:srgbClr val="202124"/>
                </a:solidFill>
                <a:latin typeface="Calibri"/>
              </a:rPr>
              <a:t>I started with the prediction first, then measured to see if it worked within a small delta %</a:t>
            </a:r>
            <a:r>
              <a:rPr lang="en-US" b="0" dirty="0">
                <a:solidFill>
                  <a:srgbClr val="202124"/>
                </a:solidFill>
                <a:latin typeface="Calibri"/>
              </a:rPr>
              <a:t> </a:t>
            </a:r>
            <a:endParaRPr b="0" dirty="0">
              <a:solidFill>
                <a:srgbClr val="202124"/>
              </a:solidFill>
              <a:latin typeface="Calibri"/>
            </a:endParaRPr>
          </a:p>
        </p:txBody>
      </p:sp>
      <p:sp>
        <p:nvSpPr>
          <p:cNvPr id="9" name="TextBox 8"/>
          <p:cNvSpPr txBox="1"/>
          <p:nvPr/>
        </p:nvSpPr>
        <p:spPr>
          <a:xfrm>
            <a:off x="731520" y="5120640"/>
            <a:ext cx="10789920" cy="320040"/>
          </a:xfrm>
          <a:prstGeom prst="rect">
            <a:avLst/>
          </a:prstGeom>
          <a:noFill/>
        </p:spPr>
        <p:txBody>
          <a:bodyPr wrap="square">
            <a:spAutoFit/>
          </a:bodyPr>
          <a:lstStyle/>
          <a:p>
            <a:pPr algn="l"/>
            <a:r>
              <a:rPr sz="1100" b="0">
                <a:solidFill>
                  <a:srgbClr val="5F6368"/>
                </a:solidFill>
                <a:latin typeface="Calibri"/>
              </a:rPr>
              <a:t>Kyle Fox · IMX95LPD5EVK-19 + NXP BCU per-rail shunts · qemu-aarch64 TCG plugins · 2026-09-10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18872"/>
            <a:ext cx="11155680" cy="603504"/>
          </a:xfrm>
          <a:prstGeom prst="rect">
            <a:avLst/>
          </a:prstGeom>
          <a:noFill/>
        </p:spPr>
        <p:txBody>
          <a:bodyPr wrap="square">
            <a:spAutoFit/>
          </a:bodyPr>
          <a:lstStyle/>
          <a:p>
            <a:pPr algn="l"/>
            <a:r>
              <a:rPr sz="2600" b="1">
                <a:solidFill>
                  <a:srgbClr val="FFFFFF"/>
                </a:solidFill>
                <a:latin typeface="Calibri"/>
              </a:rPr>
              <a:t>Two questions</a:t>
            </a: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969264"/>
            <a:ext cx="11155680" cy="369332"/>
          </a:xfrm>
          <a:prstGeom prst="rect">
            <a:avLst/>
          </a:prstGeom>
          <a:noFill/>
        </p:spPr>
        <p:txBody>
          <a:bodyPr wrap="square">
            <a:spAutoFit/>
          </a:bodyPr>
          <a:lstStyle/>
          <a:p>
            <a:pPr algn="l"/>
            <a:r>
              <a:rPr b="1" dirty="0">
                <a:solidFill>
                  <a:srgbClr val="5F6368"/>
                </a:solidFill>
                <a:latin typeface="Calibri"/>
              </a:rPr>
              <a:t>The second one is the one people ask for. The first one is the one that has to be true first.</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power · rails MEASURED on IMX95LPD5EVK-19 (NXP BCU) · A55 die 40–41 °C under load · activity DERIVED from QEMU TCG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2</a:t>
            </a:r>
          </a:p>
        </p:txBody>
      </p:sp>
      <p:sp>
        <p:nvSpPr>
          <p:cNvPr id="8" name="Rounded Rectangle 7"/>
          <p:cNvSpPr/>
          <p:nvPr/>
        </p:nvSpPr>
        <p:spPr>
          <a:xfrm>
            <a:off x="548640" y="1481328"/>
            <a:ext cx="11064240" cy="1947672"/>
          </a:xfrm>
          <a:prstGeom prst="roundRect">
            <a:avLst/>
          </a:prstGeom>
          <a:solidFill>
            <a:srgbClr val="F4F7FB"/>
          </a:solidFill>
          <a:ln>
            <a:solidFill>
              <a:srgbClr val="1A53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68680" y="1755648"/>
            <a:ext cx="566928" cy="566928"/>
          </a:xfrm>
          <a:prstGeom prst="ellipse">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828800"/>
            <a:ext cx="566928" cy="457200"/>
          </a:xfrm>
          <a:prstGeom prst="rect">
            <a:avLst/>
          </a:prstGeom>
          <a:noFill/>
        </p:spPr>
        <p:txBody>
          <a:bodyPr wrap="square">
            <a:spAutoFit/>
          </a:bodyPr>
          <a:lstStyle/>
          <a:p>
            <a:pPr algn="ctr"/>
            <a:r>
              <a:rPr sz="2000" b="1">
                <a:solidFill>
                  <a:srgbClr val="FFFFFF"/>
                </a:solidFill>
                <a:latin typeface="Calibri"/>
              </a:rPr>
              <a:t>1</a:t>
            </a:r>
          </a:p>
        </p:txBody>
      </p:sp>
      <p:sp>
        <p:nvSpPr>
          <p:cNvPr id="11" name="TextBox 10"/>
          <p:cNvSpPr txBox="1"/>
          <p:nvPr/>
        </p:nvSpPr>
        <p:spPr>
          <a:xfrm>
            <a:off x="1627632" y="1682496"/>
            <a:ext cx="9692640" cy="402336"/>
          </a:xfrm>
          <a:prstGeom prst="rect">
            <a:avLst/>
          </a:prstGeom>
          <a:noFill/>
        </p:spPr>
        <p:txBody>
          <a:bodyPr wrap="square">
            <a:spAutoFit/>
          </a:bodyPr>
          <a:lstStyle/>
          <a:p>
            <a:pPr algn="l"/>
            <a:r>
              <a:rPr sz="1700" b="1">
                <a:solidFill>
                  <a:srgbClr val="202124"/>
                </a:solidFill>
                <a:latin typeface="Calibri"/>
              </a:rPr>
              <a:t>Can QEMU predict the ACTIVITY a workload generates on silicon?</a:t>
            </a:r>
          </a:p>
        </p:txBody>
      </p:sp>
      <p:sp>
        <p:nvSpPr>
          <p:cNvPr id="12" name="Rectangle 11"/>
          <p:cNvSpPr/>
          <p:nvPr/>
        </p:nvSpPr>
        <p:spPr>
          <a:xfrm>
            <a:off x="1627632" y="2194560"/>
            <a:ext cx="9692640" cy="566928"/>
          </a:xfrm>
          <a:prstGeom prst="rect">
            <a:avLst/>
          </a:prstGeom>
          <a:solidFill>
            <a:srgbClr val="18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792224" y="2267712"/>
            <a:ext cx="9418320" cy="369332"/>
          </a:xfrm>
          <a:prstGeom prst="rect">
            <a:avLst/>
          </a:prstGeom>
          <a:noFill/>
        </p:spPr>
        <p:txBody>
          <a:bodyPr wrap="square">
            <a:spAutoFit/>
          </a:bodyPr>
          <a:lstStyle/>
          <a:p>
            <a:pPr algn="l"/>
            <a:r>
              <a:rPr b="1" dirty="0">
                <a:solidFill>
                  <a:srgbClr val="FFFFFF"/>
                </a:solidFill>
                <a:latin typeface="Calibri"/>
              </a:rPr>
              <a:t>YES for instruction activity — 1.7% mean error over 50 applications, 41 of 50 within 2%.</a:t>
            </a:r>
          </a:p>
        </p:txBody>
      </p:sp>
      <p:sp>
        <p:nvSpPr>
          <p:cNvPr id="14" name="TextBox 13"/>
          <p:cNvSpPr txBox="1"/>
          <p:nvPr/>
        </p:nvSpPr>
        <p:spPr>
          <a:xfrm>
            <a:off x="1627631" y="2834640"/>
            <a:ext cx="10327301" cy="369332"/>
          </a:xfrm>
          <a:prstGeom prst="rect">
            <a:avLst/>
          </a:prstGeom>
          <a:noFill/>
        </p:spPr>
        <p:txBody>
          <a:bodyPr wrap="square">
            <a:spAutoFit/>
          </a:bodyPr>
          <a:lstStyle/>
          <a:p>
            <a:pPr algn="l"/>
            <a:r>
              <a:rPr b="0" dirty="0">
                <a:solidFill>
                  <a:srgbClr val="5F6368"/>
                </a:solidFill>
                <a:latin typeface="Calibri"/>
              </a:rPr>
              <a:t>Memory </a:t>
            </a:r>
            <a:r>
              <a:rPr lang="en-US" b="0" dirty="0">
                <a:solidFill>
                  <a:srgbClr val="5F6368"/>
                </a:solidFill>
                <a:latin typeface="Calibri"/>
              </a:rPr>
              <a:t>b/w</a:t>
            </a:r>
            <a:r>
              <a:rPr b="0" dirty="0">
                <a:solidFill>
                  <a:srgbClr val="5F6368"/>
                </a:solidFill>
                <a:latin typeface="Calibri"/>
              </a:rPr>
              <a:t> is over-reported by roughly 2x. Bounded, understood, and localized to streaming workloads.</a:t>
            </a:r>
          </a:p>
        </p:txBody>
      </p:sp>
      <p:sp>
        <p:nvSpPr>
          <p:cNvPr id="15" name="Rounded Rectangle 14"/>
          <p:cNvSpPr/>
          <p:nvPr/>
        </p:nvSpPr>
        <p:spPr>
          <a:xfrm>
            <a:off x="548640" y="3803904"/>
            <a:ext cx="11064240" cy="2103120"/>
          </a:xfrm>
          <a:prstGeom prst="roundRect">
            <a:avLst/>
          </a:prstGeom>
          <a:solidFill>
            <a:srgbClr val="F4F7FB"/>
          </a:solidFill>
          <a:ln>
            <a:solidFill>
              <a:srgbClr val="1A53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68680" y="4078224"/>
            <a:ext cx="566928" cy="566928"/>
          </a:xfrm>
          <a:prstGeom prst="ellipse">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 y="4151376"/>
            <a:ext cx="566928" cy="457200"/>
          </a:xfrm>
          <a:prstGeom prst="rect">
            <a:avLst/>
          </a:prstGeom>
          <a:noFill/>
        </p:spPr>
        <p:txBody>
          <a:bodyPr wrap="square">
            <a:spAutoFit/>
          </a:bodyPr>
          <a:lstStyle/>
          <a:p>
            <a:pPr algn="ctr"/>
            <a:r>
              <a:rPr sz="2000" b="1">
                <a:solidFill>
                  <a:srgbClr val="FFFFFF"/>
                </a:solidFill>
                <a:latin typeface="Calibri"/>
              </a:rPr>
              <a:t>2</a:t>
            </a:r>
          </a:p>
        </p:txBody>
      </p:sp>
      <p:sp>
        <p:nvSpPr>
          <p:cNvPr id="18" name="TextBox 17"/>
          <p:cNvSpPr txBox="1"/>
          <p:nvPr/>
        </p:nvSpPr>
        <p:spPr>
          <a:xfrm>
            <a:off x="1627632" y="4005072"/>
            <a:ext cx="9692640" cy="402336"/>
          </a:xfrm>
          <a:prstGeom prst="rect">
            <a:avLst/>
          </a:prstGeom>
          <a:noFill/>
        </p:spPr>
        <p:txBody>
          <a:bodyPr wrap="square">
            <a:spAutoFit/>
          </a:bodyPr>
          <a:lstStyle/>
          <a:p>
            <a:pPr algn="l"/>
            <a:r>
              <a:rPr sz="1700" b="1">
                <a:solidFill>
                  <a:srgbClr val="202124"/>
                </a:solidFill>
                <a:latin typeface="Calibri"/>
              </a:rPr>
              <a:t>Can that activity be turned into a POWER number?</a:t>
            </a:r>
          </a:p>
        </p:txBody>
      </p:sp>
      <p:sp>
        <p:nvSpPr>
          <p:cNvPr id="19" name="Rectangle 18"/>
          <p:cNvSpPr/>
          <p:nvPr/>
        </p:nvSpPr>
        <p:spPr>
          <a:xfrm>
            <a:off x="1627632" y="4517136"/>
            <a:ext cx="9692640" cy="566928"/>
          </a:xfrm>
          <a:prstGeom prst="rect">
            <a:avLst/>
          </a:prstGeom>
          <a:solidFill>
            <a:srgbClr val="18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792224" y="4590288"/>
            <a:ext cx="9637776" cy="369332"/>
          </a:xfrm>
          <a:prstGeom prst="rect">
            <a:avLst/>
          </a:prstGeom>
          <a:noFill/>
        </p:spPr>
        <p:txBody>
          <a:bodyPr wrap="square">
            <a:spAutoFit/>
          </a:bodyPr>
          <a:lstStyle/>
          <a:p>
            <a:pPr algn="l"/>
            <a:r>
              <a:rPr b="1" dirty="0">
                <a:solidFill>
                  <a:srgbClr val="FFFFFF"/>
                </a:solidFill>
                <a:latin typeface="Calibri"/>
              </a:rPr>
              <a:t>YES — 6.4% mean error on total power on 50 applications</a:t>
            </a:r>
            <a:r>
              <a:rPr lang="en-US" b="1" dirty="0">
                <a:solidFill>
                  <a:srgbClr val="FFFFFF"/>
                </a:solidFill>
                <a:latin typeface="Calibri"/>
              </a:rPr>
              <a:t> the model never ran prior</a:t>
            </a:r>
            <a:endParaRPr b="1" dirty="0">
              <a:solidFill>
                <a:srgbClr val="FFFFFF"/>
              </a:solidFill>
              <a:latin typeface="Calibri"/>
            </a:endParaRPr>
          </a:p>
        </p:txBody>
      </p:sp>
      <p:sp>
        <p:nvSpPr>
          <p:cNvPr id="21" name="TextBox 20"/>
          <p:cNvSpPr txBox="1"/>
          <p:nvPr/>
        </p:nvSpPr>
        <p:spPr>
          <a:xfrm>
            <a:off x="1627632" y="5157216"/>
            <a:ext cx="9692640" cy="369332"/>
          </a:xfrm>
          <a:prstGeom prst="rect">
            <a:avLst/>
          </a:prstGeom>
          <a:noFill/>
        </p:spPr>
        <p:txBody>
          <a:bodyPr wrap="square">
            <a:spAutoFit/>
          </a:bodyPr>
          <a:lstStyle/>
          <a:p>
            <a:pPr algn="l"/>
            <a:r>
              <a:rPr b="0" dirty="0">
                <a:solidFill>
                  <a:srgbClr val="5F6368"/>
                </a:solidFill>
                <a:latin typeface="Calibri"/>
              </a:rPr>
              <a:t>And 3.6% on concurrent multi-application mixes, predicted from QEMU alone.</a:t>
            </a:r>
          </a:p>
        </p:txBody>
      </p:sp>
      <p:sp>
        <p:nvSpPr>
          <p:cNvPr id="22" name="TextBox 21"/>
          <p:cNvSpPr txBox="1"/>
          <p:nvPr/>
        </p:nvSpPr>
        <p:spPr>
          <a:xfrm>
            <a:off x="548640" y="6053328"/>
            <a:ext cx="11064240" cy="338554"/>
          </a:xfrm>
          <a:prstGeom prst="rect">
            <a:avLst/>
          </a:prstGeom>
          <a:noFill/>
        </p:spPr>
        <p:txBody>
          <a:bodyPr wrap="square">
            <a:spAutoFit/>
          </a:bodyPr>
          <a:lstStyle/>
          <a:p>
            <a:pPr algn="ctr"/>
            <a:r>
              <a:rPr sz="1600" b="1" dirty="0">
                <a:solidFill>
                  <a:srgbClr val="1A53A0"/>
                </a:solidFill>
                <a:latin typeface="Calibri"/>
              </a:rPr>
              <a:t>Every number on this page is measured on silicon and predicted from an </a:t>
            </a:r>
            <a:r>
              <a:rPr lang="en-US" sz="1600" b="1" dirty="0">
                <a:solidFill>
                  <a:srgbClr val="1A53A0"/>
                </a:solidFill>
                <a:latin typeface="Calibri"/>
              </a:rPr>
              <a:t>QEMU </a:t>
            </a:r>
            <a:r>
              <a:rPr sz="1600" b="1" dirty="0">
                <a:solidFill>
                  <a:srgbClr val="1A53A0"/>
                </a:solidFill>
                <a:latin typeface="Calibri"/>
              </a:rPr>
              <a:t>emulator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18872"/>
            <a:ext cx="11155680" cy="603504"/>
          </a:xfrm>
          <a:prstGeom prst="rect">
            <a:avLst/>
          </a:prstGeom>
          <a:noFill/>
        </p:spPr>
        <p:txBody>
          <a:bodyPr wrap="square">
            <a:spAutoFit/>
          </a:bodyPr>
          <a:lstStyle/>
          <a:p>
            <a:pPr algn="l"/>
            <a:r>
              <a:rPr sz="2600" b="1">
                <a:solidFill>
                  <a:srgbClr val="FFFFFF"/>
                </a:solidFill>
                <a:latin typeface="Calibri"/>
              </a:rPr>
              <a:t>What we did</a:t>
            </a: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969264"/>
            <a:ext cx="11155680" cy="400110"/>
          </a:xfrm>
          <a:prstGeom prst="rect">
            <a:avLst/>
          </a:prstGeom>
          <a:noFill/>
        </p:spPr>
        <p:txBody>
          <a:bodyPr wrap="square">
            <a:spAutoFit/>
          </a:bodyPr>
          <a:lstStyle/>
          <a:p>
            <a:pPr algn="l"/>
            <a:r>
              <a:rPr sz="2000" b="0">
                <a:solidFill>
                  <a:srgbClr val="5F6368"/>
                </a:solidFill>
                <a:latin typeface="Calibri"/>
              </a:rPr>
              <a:t>Eight steps, in order. Each one had to work before the next was meaningful.</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power · rails MEASURED on IMX95LPD5EVK-19 (NXP BCU) · A55 die 40–41 °C under load · activity DERIVED from QEMU TCG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3</a:t>
            </a:r>
          </a:p>
        </p:txBody>
      </p:sp>
      <p:graphicFrame>
        <p:nvGraphicFramePr>
          <p:cNvPr id="8" name="Table 7"/>
          <p:cNvGraphicFramePr>
            <a:graphicFrameLocks noGrp="1"/>
          </p:cNvGraphicFramePr>
          <p:nvPr>
            <p:extLst>
              <p:ext uri="{D42A27DB-BD31-4B8C-83A1-F6EECF244321}">
                <p14:modId xmlns:p14="http://schemas.microsoft.com/office/powerpoint/2010/main" val="3683606159"/>
              </p:ext>
            </p:extLst>
          </p:nvPr>
        </p:nvGraphicFramePr>
        <p:xfrm>
          <a:off x="548640" y="1463040"/>
          <a:ext cx="11064239" cy="4831080"/>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7498079">
                  <a:extLst>
                    <a:ext uri="{9D8B030D-6E8A-4147-A177-3AD203B41FA5}">
                      <a16:colId xmlns:a16="http://schemas.microsoft.com/office/drawing/2014/main" val="20002"/>
                    </a:ext>
                  </a:extLst>
                </a:gridCol>
              </a:tblGrid>
              <a:tr h="502920">
                <a:tc>
                  <a:txBody>
                    <a:bodyPr/>
                    <a:lstStyle/>
                    <a:p>
                      <a:r>
                        <a:rPr sz="1600" b="1">
                          <a:solidFill>
                            <a:srgbClr val="FFFFFF"/>
                          </a:solidFill>
                          <a:latin typeface="Calibri"/>
                        </a:rPr>
                        <a:t>#</a:t>
                      </a:r>
                    </a:p>
                  </a:txBody>
                  <a:tcPr>
                    <a:solidFill>
                      <a:srgbClr val="202124"/>
                    </a:solidFill>
                  </a:tcPr>
                </a:tc>
                <a:tc>
                  <a:txBody>
                    <a:bodyPr/>
                    <a:lstStyle/>
                    <a:p>
                      <a:r>
                        <a:rPr sz="1600" b="1">
                          <a:solidFill>
                            <a:srgbClr val="FFFFFF"/>
                          </a:solidFill>
                          <a:latin typeface="Calibri"/>
                        </a:rPr>
                        <a:t>step</a:t>
                      </a:r>
                    </a:p>
                  </a:txBody>
                  <a:tcPr>
                    <a:solidFill>
                      <a:srgbClr val="202124"/>
                    </a:solidFill>
                  </a:tcPr>
                </a:tc>
                <a:tc>
                  <a:txBody>
                    <a:bodyPr/>
                    <a:lstStyle/>
                    <a:p>
                      <a:r>
                        <a:rPr sz="1600" b="1">
                          <a:solidFill>
                            <a:srgbClr val="FFFFFF"/>
                          </a:solidFill>
                          <a:latin typeface="Calibri"/>
                        </a:rPr>
                        <a:t>what came out</a:t>
                      </a:r>
                    </a:p>
                  </a:txBody>
                  <a:tcPr>
                    <a:solidFill>
                      <a:srgbClr val="202124"/>
                    </a:solidFill>
                  </a:tcPr>
                </a:tc>
                <a:extLst>
                  <a:ext uri="{0D108BD9-81ED-4DB2-BD59-A6C34878D82A}">
                    <a16:rowId xmlns:a16="http://schemas.microsoft.com/office/drawing/2014/main" val="10000"/>
                  </a:ext>
                </a:extLst>
              </a:tr>
              <a:tr h="502920">
                <a:tc>
                  <a:txBody>
                    <a:bodyPr/>
                    <a:lstStyle/>
                    <a:p>
                      <a:r>
                        <a:rPr sz="1600" b="0">
                          <a:latin typeface="Calibri"/>
                        </a:rPr>
                        <a:t>1</a:t>
                      </a:r>
                    </a:p>
                  </a:txBody>
                  <a:tcPr>
                    <a:solidFill>
                      <a:srgbClr val="EFF3FA"/>
                    </a:solidFill>
                  </a:tcPr>
                </a:tc>
                <a:tc>
                  <a:txBody>
                    <a:bodyPr/>
                    <a:lstStyle/>
                    <a:p>
                      <a:r>
                        <a:rPr sz="1600" b="1">
                          <a:latin typeface="Calibri"/>
                        </a:rPr>
                        <a:t>Get the instrument</a:t>
                      </a:r>
                    </a:p>
                  </a:txBody>
                  <a:tcPr>
                    <a:solidFill>
                      <a:srgbClr val="EFF3FA"/>
                    </a:solidFill>
                  </a:tcPr>
                </a:tc>
                <a:tc>
                  <a:txBody>
                    <a:bodyPr/>
                    <a:lstStyle/>
                    <a:p>
                      <a:r>
                        <a:rPr sz="1600" b="0">
                          <a:latin typeface="Calibri"/>
                        </a:rPr>
                        <a:t>IMX95LPD5EVK-19 — the only i.MX 95 board with per-rail shunts. Flashed to match the FRDM's BSP first: the idle floor moves 29% between kernels.</a:t>
                      </a:r>
                    </a:p>
                  </a:txBody>
                  <a:tcPr>
                    <a:solidFill>
                      <a:srgbClr val="EFF3FA"/>
                    </a:solidFill>
                  </a:tcPr>
                </a:tc>
                <a:extLst>
                  <a:ext uri="{0D108BD9-81ED-4DB2-BD59-A6C34878D82A}">
                    <a16:rowId xmlns:a16="http://schemas.microsoft.com/office/drawing/2014/main" val="10001"/>
                  </a:ext>
                </a:extLst>
              </a:tr>
              <a:tr h="502920">
                <a:tc>
                  <a:txBody>
                    <a:bodyPr/>
                    <a:lstStyle/>
                    <a:p>
                      <a:r>
                        <a:rPr sz="1600" b="0">
                          <a:latin typeface="Calibri"/>
                        </a:rPr>
                        <a:t>2</a:t>
                      </a:r>
                    </a:p>
                  </a:txBody>
                  <a:tcPr>
                    <a:solidFill>
                      <a:srgbClr val="FFFFFF"/>
                    </a:solidFill>
                  </a:tcPr>
                </a:tc>
                <a:tc>
                  <a:txBody>
                    <a:bodyPr/>
                    <a:lstStyle/>
                    <a:p>
                      <a:r>
                        <a:rPr sz="1600" b="1">
                          <a:latin typeface="Calibri"/>
                        </a:rPr>
                        <a:t>Measure the idle floor</a:t>
                      </a:r>
                    </a:p>
                  </a:txBody>
                  <a:tcPr>
                    <a:solidFill>
                      <a:srgbClr val="FFFFFF"/>
                    </a:solidFill>
                  </a:tcPr>
                </a:tc>
                <a:tc>
                  <a:txBody>
                    <a:bodyPr/>
                    <a:lstStyle/>
                    <a:p>
                      <a:r>
                        <a:rPr sz="1600" b="0">
                          <a:latin typeface="Calibri"/>
                        </a:rPr>
                        <a:t>n=5, spreads ≤1.7%. 1139.5 mW total; vdd_soc is 72% of it, vdd_arm only 13%.</a:t>
                      </a:r>
                    </a:p>
                  </a:txBody>
                  <a:tcPr>
                    <a:solidFill>
                      <a:srgbClr val="FFFFFF"/>
                    </a:solidFill>
                  </a:tcPr>
                </a:tc>
                <a:extLst>
                  <a:ext uri="{0D108BD9-81ED-4DB2-BD59-A6C34878D82A}">
                    <a16:rowId xmlns:a16="http://schemas.microsoft.com/office/drawing/2014/main" val="10002"/>
                  </a:ext>
                </a:extLst>
              </a:tr>
              <a:tr h="502920">
                <a:tc>
                  <a:txBody>
                    <a:bodyPr/>
                    <a:lstStyle/>
                    <a:p>
                      <a:r>
                        <a:rPr sz="1600" b="0">
                          <a:latin typeface="Calibri"/>
                        </a:rPr>
                        <a:t>3</a:t>
                      </a:r>
                    </a:p>
                  </a:txBody>
                  <a:tcPr>
                    <a:solidFill>
                      <a:srgbClr val="EFF3FA"/>
                    </a:solidFill>
                  </a:tcPr>
                </a:tc>
                <a:tc>
                  <a:txBody>
                    <a:bodyPr/>
                    <a:lstStyle/>
                    <a:p>
                      <a:r>
                        <a:rPr sz="1600" b="1">
                          <a:latin typeface="Calibri"/>
                        </a:rPr>
                        <a:t>Ask what predicts core power</a:t>
                      </a:r>
                    </a:p>
                  </a:txBody>
                  <a:tcPr>
                    <a:solidFill>
                      <a:srgbClr val="EFF3FA"/>
                    </a:solidFill>
                  </a:tcPr>
                </a:tc>
                <a:tc>
                  <a:txBody>
                    <a:bodyPr/>
                    <a:lstStyle/>
                    <a:p>
                      <a:r>
                        <a:rPr sz="1600" b="0">
                          <a:latin typeface="Calibri"/>
                        </a:rPr>
                        <a:t>Instruction count — the activity vector's core term — explains R²=0.031. THREE PERCENT.</a:t>
                      </a:r>
                    </a:p>
                  </a:txBody>
                  <a:tcPr>
                    <a:solidFill>
                      <a:srgbClr val="EFF3FA"/>
                    </a:solidFill>
                  </a:tcPr>
                </a:tc>
                <a:extLst>
                  <a:ext uri="{0D108BD9-81ED-4DB2-BD59-A6C34878D82A}">
                    <a16:rowId xmlns:a16="http://schemas.microsoft.com/office/drawing/2014/main" val="10003"/>
                  </a:ext>
                </a:extLst>
              </a:tr>
              <a:tr h="502920">
                <a:tc>
                  <a:txBody>
                    <a:bodyPr/>
                    <a:lstStyle/>
                    <a:p>
                      <a:r>
                        <a:rPr sz="1600" b="0">
                          <a:latin typeface="Calibri"/>
                        </a:rPr>
                        <a:t>4</a:t>
                      </a:r>
                    </a:p>
                  </a:txBody>
                  <a:tcPr>
                    <a:solidFill>
                      <a:srgbClr val="FFFFFF"/>
                    </a:solidFill>
                  </a:tcPr>
                </a:tc>
                <a:tc>
                  <a:txBody>
                    <a:bodyPr/>
                    <a:lstStyle/>
                    <a:p>
                      <a:r>
                        <a:rPr sz="1600" b="1">
                          <a:latin typeface="Calibri"/>
                        </a:rPr>
                        <a:t>Find what does</a:t>
                      </a:r>
                    </a:p>
                  </a:txBody>
                  <a:tcPr>
                    <a:solidFill>
                      <a:srgbClr val="FFFFFF"/>
                    </a:solidFill>
                  </a:tcPr>
                </a:tc>
                <a:tc>
                  <a:txBody>
                    <a:bodyPr/>
                    <a:lstStyle/>
                    <a:p>
                      <a:r>
                        <a:rPr sz="1600" b="0">
                          <a:latin typeface="Calibri"/>
                        </a:rPr>
                        <a:t>A 2-D grid varying ALU rate and bandwidth INDEPENDENTLY. Both together: R²=0.990.</a:t>
                      </a:r>
                    </a:p>
                  </a:txBody>
                  <a:tcPr>
                    <a:solidFill>
                      <a:srgbClr val="FFFFFF"/>
                    </a:solidFill>
                  </a:tcPr>
                </a:tc>
                <a:extLst>
                  <a:ext uri="{0D108BD9-81ED-4DB2-BD59-A6C34878D82A}">
                    <a16:rowId xmlns:a16="http://schemas.microsoft.com/office/drawing/2014/main" val="10004"/>
                  </a:ext>
                </a:extLst>
              </a:tr>
              <a:tr h="502920">
                <a:tc>
                  <a:txBody>
                    <a:bodyPr/>
                    <a:lstStyle/>
                    <a:p>
                      <a:r>
                        <a:rPr sz="1600" b="0">
                          <a:latin typeface="Calibri"/>
                        </a:rPr>
                        <a:t>5</a:t>
                      </a:r>
                    </a:p>
                  </a:txBody>
                  <a:tcPr>
                    <a:solidFill>
                      <a:srgbClr val="EFF3FA"/>
                    </a:solidFill>
                  </a:tcPr>
                </a:tc>
                <a:tc>
                  <a:txBody>
                    <a:bodyPr/>
                    <a:lstStyle/>
                    <a:p>
                      <a:r>
                        <a:rPr sz="1600" b="1">
                          <a:latin typeface="Calibri"/>
                        </a:rPr>
                        <a:t>Add the missing term</a:t>
                      </a:r>
                    </a:p>
                  </a:txBody>
                  <a:tcPr>
                    <a:solidFill>
                      <a:srgbClr val="EFF3FA"/>
                    </a:solidFill>
                  </a:tcPr>
                </a:tc>
                <a:tc>
                  <a:txBody>
                    <a:bodyPr/>
                    <a:lstStyle/>
                    <a:p>
                      <a:r>
                        <a:rPr sz="1600" b="0">
                          <a:latin typeface="Calibri"/>
                        </a:rPr>
                        <a:t>598 Mops/s on 2 cores = 656 mW; 599 on 1 core = 465 mW. Active cores matter on their own.</a:t>
                      </a:r>
                    </a:p>
                  </a:txBody>
                  <a:tcPr>
                    <a:solidFill>
                      <a:srgbClr val="EFF3FA"/>
                    </a:solidFill>
                  </a:tcPr>
                </a:tc>
                <a:extLst>
                  <a:ext uri="{0D108BD9-81ED-4DB2-BD59-A6C34878D82A}">
                    <a16:rowId xmlns:a16="http://schemas.microsoft.com/office/drawing/2014/main" val="10005"/>
                  </a:ext>
                </a:extLst>
              </a:tr>
              <a:tr h="502920">
                <a:tc>
                  <a:txBody>
                    <a:bodyPr/>
                    <a:lstStyle/>
                    <a:p>
                      <a:r>
                        <a:rPr sz="1600" b="0">
                          <a:latin typeface="Calibri"/>
                        </a:rPr>
                        <a:t>6</a:t>
                      </a:r>
                    </a:p>
                  </a:txBody>
                  <a:tcPr>
                    <a:solidFill>
                      <a:srgbClr val="FFFFFF"/>
                    </a:solidFill>
                  </a:tcPr>
                </a:tc>
                <a:tc>
                  <a:txBody>
                    <a:bodyPr/>
                    <a:lstStyle/>
                    <a:p>
                      <a:r>
                        <a:rPr sz="1600" b="1">
                          <a:latin typeface="Calibri"/>
                        </a:rPr>
                        <a:t>Validate QEMU's counters</a:t>
                      </a:r>
                    </a:p>
                  </a:txBody>
                  <a:tcPr>
                    <a:solidFill>
                      <a:srgbClr val="FFFFFF"/>
                    </a:solidFill>
                  </a:tcPr>
                </a:tc>
                <a:tc>
                  <a:txBody>
                    <a:bodyPr/>
                    <a:lstStyle/>
                    <a:p>
                      <a:r>
                        <a:rPr sz="1600" b="0">
                          <a:latin typeface="Calibri"/>
                        </a:rPr>
                        <a:t>Same static binary under perf and under QEMU: instructions 0.1%, misses 0.01% in steady state.</a:t>
                      </a:r>
                    </a:p>
                  </a:txBody>
                  <a:tcPr>
                    <a:solidFill>
                      <a:srgbClr val="FFFFFF"/>
                    </a:solidFill>
                  </a:tcPr>
                </a:tc>
                <a:extLst>
                  <a:ext uri="{0D108BD9-81ED-4DB2-BD59-A6C34878D82A}">
                    <a16:rowId xmlns:a16="http://schemas.microsoft.com/office/drawing/2014/main" val="10006"/>
                  </a:ext>
                </a:extLst>
              </a:tr>
              <a:tr h="502920">
                <a:tc>
                  <a:txBody>
                    <a:bodyPr/>
                    <a:lstStyle/>
                    <a:p>
                      <a:r>
                        <a:rPr sz="1600" b="0">
                          <a:latin typeface="Calibri"/>
                        </a:rPr>
                        <a:t>7</a:t>
                      </a:r>
                    </a:p>
                  </a:txBody>
                  <a:tcPr>
                    <a:solidFill>
                      <a:srgbClr val="EFF3FA"/>
                    </a:solidFill>
                  </a:tcPr>
                </a:tc>
                <a:tc>
                  <a:txBody>
                    <a:bodyPr/>
                    <a:lstStyle/>
                    <a:p>
                      <a:r>
                        <a:rPr sz="1600" b="1">
                          <a:latin typeface="Calibri"/>
                        </a:rPr>
                        <a:t>Freeze predictions for 50 apps</a:t>
                      </a:r>
                    </a:p>
                  </a:txBody>
                  <a:tcPr>
                    <a:solidFill>
                      <a:srgbClr val="EFF3FA"/>
                    </a:solidFill>
                  </a:tcPr>
                </a:tc>
                <a:tc>
                  <a:txBody>
                    <a:bodyPr/>
                    <a:lstStyle/>
                    <a:p>
                      <a:r>
                        <a:rPr sz="1600" b="0" dirty="0">
                          <a:latin typeface="Calibri"/>
                        </a:rPr>
                        <a:t>Committed to git BEFORE any power measurement of those apps.</a:t>
                      </a:r>
                    </a:p>
                  </a:txBody>
                  <a:tcPr>
                    <a:solidFill>
                      <a:srgbClr val="EFF3FA"/>
                    </a:solidFill>
                  </a:tcPr>
                </a:tc>
                <a:extLst>
                  <a:ext uri="{0D108BD9-81ED-4DB2-BD59-A6C34878D82A}">
                    <a16:rowId xmlns:a16="http://schemas.microsoft.com/office/drawing/2014/main" val="10007"/>
                  </a:ext>
                </a:extLst>
              </a:tr>
              <a:tr h="502920">
                <a:tc>
                  <a:txBody>
                    <a:bodyPr/>
                    <a:lstStyle/>
                    <a:p>
                      <a:r>
                        <a:rPr sz="1600" b="0">
                          <a:latin typeface="Calibri"/>
                        </a:rPr>
                        <a:t>8</a:t>
                      </a:r>
                    </a:p>
                  </a:txBody>
                  <a:tcPr>
                    <a:solidFill>
                      <a:srgbClr val="FFFFFF"/>
                    </a:solidFill>
                  </a:tcPr>
                </a:tc>
                <a:tc>
                  <a:txBody>
                    <a:bodyPr/>
                    <a:lstStyle/>
                    <a:p>
                      <a:r>
                        <a:rPr sz="1600" b="1">
                          <a:latin typeface="Calibri"/>
                        </a:rPr>
                        <a:t>Measure and compare</a:t>
                      </a:r>
                    </a:p>
                  </a:txBody>
                  <a:tcPr>
                    <a:solidFill>
                      <a:srgbClr val="FFFFFF"/>
                    </a:solidFill>
                  </a:tcPr>
                </a:tc>
                <a:tc>
                  <a:txBody>
                    <a:bodyPr/>
                    <a:lstStyle/>
                    <a:p>
                      <a:r>
                        <a:rPr sz="1600" b="0" dirty="0">
                          <a:latin typeface="Calibri"/>
                        </a:rPr>
                        <a:t>6.4% mean error on total power.</a:t>
                      </a:r>
                    </a:p>
                  </a:txBody>
                  <a:tcPr>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18872"/>
            <a:ext cx="11155680" cy="603504"/>
          </a:xfrm>
          <a:prstGeom prst="rect">
            <a:avLst/>
          </a:prstGeom>
          <a:noFill/>
        </p:spPr>
        <p:txBody>
          <a:bodyPr wrap="square">
            <a:spAutoFit/>
          </a:bodyPr>
          <a:lstStyle/>
          <a:p>
            <a:pPr algn="l"/>
            <a:r>
              <a:rPr sz="2200" b="1">
                <a:solidFill>
                  <a:srgbClr val="FFFFFF"/>
                </a:solidFill>
                <a:latin typeface="Calibri"/>
              </a:rPr>
              <a:t>Part 1 — Does QEMU see the work the silicon does?</a:t>
            </a: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39" y="969264"/>
            <a:ext cx="11533293" cy="369332"/>
          </a:xfrm>
          <a:prstGeom prst="rect">
            <a:avLst/>
          </a:prstGeom>
          <a:noFill/>
        </p:spPr>
        <p:txBody>
          <a:bodyPr wrap="square">
            <a:spAutoFit/>
          </a:bodyPr>
          <a:lstStyle/>
          <a:p>
            <a:pPr algn="l"/>
            <a:r>
              <a:rPr b="0" dirty="0">
                <a:solidFill>
                  <a:srgbClr val="5F6368"/>
                </a:solidFill>
                <a:latin typeface="Calibri"/>
              </a:rPr>
              <a:t>Instruction activity: QEMU's count against the A55's own </a:t>
            </a:r>
            <a:r>
              <a:rPr b="0" dirty="0" err="1">
                <a:solidFill>
                  <a:srgbClr val="5F6368"/>
                </a:solidFill>
                <a:latin typeface="Calibri"/>
              </a:rPr>
              <a:t>inst_retired</a:t>
            </a:r>
            <a:r>
              <a:rPr b="0" dirty="0">
                <a:solidFill>
                  <a:srgbClr val="5F6368"/>
                </a:solidFill>
                <a:latin typeface="Calibri"/>
              </a:rPr>
              <a:t> counter, same binary, same input, 50 applications.</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activity · QEMU counts DERIVED from TCG plugins · silicon counts MEASURED via ARM PMU on i.MX95 (A55 core 0, pinned 1.8 GHz)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4</a:t>
            </a:r>
          </a:p>
        </p:txBody>
      </p:sp>
      <p:sp>
        <p:nvSpPr>
          <p:cNvPr id="8" name="Rectangle 7"/>
          <p:cNvSpPr/>
          <p:nvPr/>
        </p:nvSpPr>
        <p:spPr>
          <a:xfrm>
            <a:off x="548640" y="1481328"/>
            <a:ext cx="11064240" cy="566928"/>
          </a:xfrm>
          <a:prstGeom prst="rect">
            <a:avLst/>
          </a:prstGeom>
          <a:solidFill>
            <a:srgbClr val="18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554480"/>
            <a:ext cx="10607040" cy="402336"/>
          </a:xfrm>
          <a:prstGeom prst="rect">
            <a:avLst/>
          </a:prstGeom>
          <a:noFill/>
        </p:spPr>
        <p:txBody>
          <a:bodyPr wrap="square">
            <a:spAutoFit/>
          </a:bodyPr>
          <a:lstStyle/>
          <a:p>
            <a:pPr algn="l"/>
            <a:r>
              <a:rPr sz="1800" b="1">
                <a:solidFill>
                  <a:srgbClr val="FFFFFF"/>
                </a:solidFill>
                <a:latin typeface="Calibri"/>
              </a:rPr>
              <a:t>1.75% mean error, 0.65% median. QEMU counts the work.</a:t>
            </a:r>
          </a:p>
        </p:txBody>
      </p:sp>
      <p:sp>
        <p:nvSpPr>
          <p:cNvPr id="10" name="Rounded Rectangle 9"/>
          <p:cNvSpPr/>
          <p:nvPr/>
        </p:nvSpPr>
        <p:spPr>
          <a:xfrm>
            <a:off x="548640" y="2249424"/>
            <a:ext cx="2121408" cy="1060704"/>
          </a:xfrm>
          <a:prstGeom prst="roundRect">
            <a:avLst/>
          </a:prstGeom>
          <a:solidFill>
            <a:srgbClr val="F4F7FB"/>
          </a:solidFill>
          <a:ln>
            <a:solidFill>
              <a:srgbClr val="187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2377440"/>
            <a:ext cx="2121408" cy="566928"/>
          </a:xfrm>
          <a:prstGeom prst="rect">
            <a:avLst/>
          </a:prstGeom>
          <a:noFill/>
        </p:spPr>
        <p:txBody>
          <a:bodyPr wrap="square">
            <a:spAutoFit/>
          </a:bodyPr>
          <a:lstStyle/>
          <a:p>
            <a:pPr algn="ctr"/>
            <a:r>
              <a:rPr sz="3400" b="1">
                <a:solidFill>
                  <a:srgbClr val="187A33"/>
                </a:solidFill>
                <a:latin typeface="Calibri"/>
              </a:rPr>
              <a:t>23</a:t>
            </a:r>
          </a:p>
        </p:txBody>
      </p:sp>
      <p:sp>
        <p:nvSpPr>
          <p:cNvPr id="12" name="TextBox 11"/>
          <p:cNvSpPr txBox="1"/>
          <p:nvPr/>
        </p:nvSpPr>
        <p:spPr>
          <a:xfrm>
            <a:off x="548640" y="2926080"/>
            <a:ext cx="2121408" cy="292608"/>
          </a:xfrm>
          <a:prstGeom prst="rect">
            <a:avLst/>
          </a:prstGeom>
          <a:noFill/>
        </p:spPr>
        <p:txBody>
          <a:bodyPr wrap="square">
            <a:spAutoFit/>
          </a:bodyPr>
          <a:lstStyle/>
          <a:p>
            <a:pPr algn="ctr"/>
            <a:r>
              <a:rPr sz="1100" b="0">
                <a:solidFill>
                  <a:srgbClr val="5F6368"/>
                </a:solidFill>
                <a:latin typeface="Calibri"/>
              </a:rPr>
              <a:t>of 50 within 0.5%</a:t>
            </a:r>
          </a:p>
        </p:txBody>
      </p:sp>
      <p:sp>
        <p:nvSpPr>
          <p:cNvPr id="13" name="Rounded Rectangle 12"/>
          <p:cNvSpPr/>
          <p:nvPr/>
        </p:nvSpPr>
        <p:spPr>
          <a:xfrm>
            <a:off x="2788920" y="2249424"/>
            <a:ext cx="2121408" cy="1060704"/>
          </a:xfrm>
          <a:prstGeom prst="roundRect">
            <a:avLst/>
          </a:prstGeom>
          <a:solidFill>
            <a:srgbClr val="F4F7FB"/>
          </a:solidFill>
          <a:ln>
            <a:solidFill>
              <a:srgbClr val="187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88920" y="2377440"/>
            <a:ext cx="2121408" cy="566928"/>
          </a:xfrm>
          <a:prstGeom prst="rect">
            <a:avLst/>
          </a:prstGeom>
          <a:noFill/>
        </p:spPr>
        <p:txBody>
          <a:bodyPr wrap="square">
            <a:spAutoFit/>
          </a:bodyPr>
          <a:lstStyle/>
          <a:p>
            <a:pPr algn="ctr"/>
            <a:r>
              <a:rPr sz="3400" b="1">
                <a:solidFill>
                  <a:srgbClr val="187A33"/>
                </a:solidFill>
                <a:latin typeface="Calibri"/>
              </a:rPr>
              <a:t>28</a:t>
            </a:r>
          </a:p>
        </p:txBody>
      </p:sp>
      <p:sp>
        <p:nvSpPr>
          <p:cNvPr id="15" name="TextBox 14"/>
          <p:cNvSpPr txBox="1"/>
          <p:nvPr/>
        </p:nvSpPr>
        <p:spPr>
          <a:xfrm>
            <a:off x="2788920" y="2926080"/>
            <a:ext cx="2121408" cy="292608"/>
          </a:xfrm>
          <a:prstGeom prst="rect">
            <a:avLst/>
          </a:prstGeom>
          <a:noFill/>
        </p:spPr>
        <p:txBody>
          <a:bodyPr wrap="square">
            <a:spAutoFit/>
          </a:bodyPr>
          <a:lstStyle/>
          <a:p>
            <a:pPr algn="ctr"/>
            <a:r>
              <a:rPr sz="1100" b="0">
                <a:solidFill>
                  <a:srgbClr val="5F6368"/>
                </a:solidFill>
                <a:latin typeface="Calibri"/>
              </a:rPr>
              <a:t>of 50 within 1%</a:t>
            </a:r>
          </a:p>
        </p:txBody>
      </p:sp>
      <p:sp>
        <p:nvSpPr>
          <p:cNvPr id="16" name="Rounded Rectangle 15"/>
          <p:cNvSpPr/>
          <p:nvPr/>
        </p:nvSpPr>
        <p:spPr>
          <a:xfrm>
            <a:off x="5029200" y="2249424"/>
            <a:ext cx="2121408" cy="1060704"/>
          </a:xfrm>
          <a:prstGeom prst="roundRect">
            <a:avLst/>
          </a:prstGeom>
          <a:solidFill>
            <a:srgbClr val="F4F7FB"/>
          </a:solidFill>
          <a:ln>
            <a:solidFill>
              <a:srgbClr val="187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0" y="2377440"/>
            <a:ext cx="2121408" cy="566928"/>
          </a:xfrm>
          <a:prstGeom prst="rect">
            <a:avLst/>
          </a:prstGeom>
          <a:noFill/>
        </p:spPr>
        <p:txBody>
          <a:bodyPr wrap="square">
            <a:spAutoFit/>
          </a:bodyPr>
          <a:lstStyle/>
          <a:p>
            <a:pPr algn="ctr"/>
            <a:r>
              <a:rPr sz="3400" b="1">
                <a:solidFill>
                  <a:srgbClr val="187A33"/>
                </a:solidFill>
                <a:latin typeface="Calibri"/>
              </a:rPr>
              <a:t>41</a:t>
            </a:r>
          </a:p>
        </p:txBody>
      </p:sp>
      <p:sp>
        <p:nvSpPr>
          <p:cNvPr id="18" name="TextBox 17"/>
          <p:cNvSpPr txBox="1"/>
          <p:nvPr/>
        </p:nvSpPr>
        <p:spPr>
          <a:xfrm>
            <a:off x="5029200" y="2926080"/>
            <a:ext cx="2121408" cy="292608"/>
          </a:xfrm>
          <a:prstGeom prst="rect">
            <a:avLst/>
          </a:prstGeom>
          <a:noFill/>
        </p:spPr>
        <p:txBody>
          <a:bodyPr wrap="square">
            <a:spAutoFit/>
          </a:bodyPr>
          <a:lstStyle/>
          <a:p>
            <a:pPr algn="ctr"/>
            <a:r>
              <a:rPr sz="1100" b="0">
                <a:solidFill>
                  <a:srgbClr val="5F6368"/>
                </a:solidFill>
                <a:latin typeface="Calibri"/>
              </a:rPr>
              <a:t>of 50 within 2%</a:t>
            </a:r>
          </a:p>
        </p:txBody>
      </p:sp>
      <p:sp>
        <p:nvSpPr>
          <p:cNvPr id="19" name="Rounded Rectangle 18"/>
          <p:cNvSpPr/>
          <p:nvPr/>
        </p:nvSpPr>
        <p:spPr>
          <a:xfrm>
            <a:off x="7269480" y="2249424"/>
            <a:ext cx="2121408" cy="1060704"/>
          </a:xfrm>
          <a:prstGeom prst="roundRect">
            <a:avLst/>
          </a:prstGeom>
          <a:solidFill>
            <a:srgbClr val="F4F7FB"/>
          </a:solidFill>
          <a:ln>
            <a:solidFill>
              <a:srgbClr val="187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69480" y="2377440"/>
            <a:ext cx="2121408" cy="566928"/>
          </a:xfrm>
          <a:prstGeom prst="rect">
            <a:avLst/>
          </a:prstGeom>
          <a:noFill/>
        </p:spPr>
        <p:txBody>
          <a:bodyPr wrap="square">
            <a:spAutoFit/>
          </a:bodyPr>
          <a:lstStyle/>
          <a:p>
            <a:pPr algn="ctr"/>
            <a:r>
              <a:rPr sz="3400" b="1">
                <a:solidFill>
                  <a:srgbClr val="187A33"/>
                </a:solidFill>
                <a:latin typeface="Calibri"/>
              </a:rPr>
              <a:t>45</a:t>
            </a:r>
          </a:p>
        </p:txBody>
      </p:sp>
      <p:sp>
        <p:nvSpPr>
          <p:cNvPr id="21" name="TextBox 20"/>
          <p:cNvSpPr txBox="1"/>
          <p:nvPr/>
        </p:nvSpPr>
        <p:spPr>
          <a:xfrm>
            <a:off x="7269480" y="2926080"/>
            <a:ext cx="2121408" cy="292608"/>
          </a:xfrm>
          <a:prstGeom prst="rect">
            <a:avLst/>
          </a:prstGeom>
          <a:noFill/>
        </p:spPr>
        <p:txBody>
          <a:bodyPr wrap="square">
            <a:spAutoFit/>
          </a:bodyPr>
          <a:lstStyle/>
          <a:p>
            <a:pPr algn="ctr"/>
            <a:r>
              <a:rPr sz="1100" b="0">
                <a:solidFill>
                  <a:srgbClr val="5F6368"/>
                </a:solidFill>
                <a:latin typeface="Calibri"/>
              </a:rPr>
              <a:t>of 50 within 5%</a:t>
            </a:r>
          </a:p>
        </p:txBody>
      </p:sp>
      <p:sp>
        <p:nvSpPr>
          <p:cNvPr id="22" name="Rounded Rectangle 21"/>
          <p:cNvSpPr/>
          <p:nvPr/>
        </p:nvSpPr>
        <p:spPr>
          <a:xfrm>
            <a:off x="9509760" y="2249424"/>
            <a:ext cx="2121408" cy="1060704"/>
          </a:xfrm>
          <a:prstGeom prst="roundRect">
            <a:avLst/>
          </a:prstGeom>
          <a:solidFill>
            <a:srgbClr val="F4F7FB"/>
          </a:solidFill>
          <a:ln>
            <a:solidFill>
              <a:srgbClr val="B06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509760" y="2377440"/>
            <a:ext cx="2121408" cy="566928"/>
          </a:xfrm>
          <a:prstGeom prst="rect">
            <a:avLst/>
          </a:prstGeom>
          <a:noFill/>
        </p:spPr>
        <p:txBody>
          <a:bodyPr wrap="square">
            <a:spAutoFit/>
          </a:bodyPr>
          <a:lstStyle/>
          <a:p>
            <a:pPr algn="ctr"/>
            <a:r>
              <a:rPr sz="3400" b="1">
                <a:solidFill>
                  <a:srgbClr val="B06000"/>
                </a:solidFill>
                <a:latin typeface="Calibri"/>
              </a:rPr>
              <a:t>5</a:t>
            </a:r>
          </a:p>
        </p:txBody>
      </p:sp>
      <p:sp>
        <p:nvSpPr>
          <p:cNvPr id="24" name="TextBox 23"/>
          <p:cNvSpPr txBox="1"/>
          <p:nvPr/>
        </p:nvSpPr>
        <p:spPr>
          <a:xfrm>
            <a:off x="9509760" y="2926080"/>
            <a:ext cx="2121408" cy="292608"/>
          </a:xfrm>
          <a:prstGeom prst="rect">
            <a:avLst/>
          </a:prstGeom>
          <a:noFill/>
        </p:spPr>
        <p:txBody>
          <a:bodyPr wrap="square">
            <a:spAutoFit/>
          </a:bodyPr>
          <a:lstStyle/>
          <a:p>
            <a:pPr algn="ctr"/>
            <a:r>
              <a:rPr sz="1100" b="0">
                <a:solidFill>
                  <a:srgbClr val="5F6368"/>
                </a:solidFill>
                <a:latin typeface="Calibri"/>
              </a:rPr>
              <a:t>of 50 above 5%</a:t>
            </a:r>
          </a:p>
        </p:txBody>
      </p:sp>
      <p:sp>
        <p:nvSpPr>
          <p:cNvPr id="25" name="TextBox 24"/>
          <p:cNvSpPr txBox="1"/>
          <p:nvPr/>
        </p:nvSpPr>
        <p:spPr>
          <a:xfrm>
            <a:off x="548640" y="3493008"/>
            <a:ext cx="11064240" cy="292608"/>
          </a:xfrm>
          <a:prstGeom prst="rect">
            <a:avLst/>
          </a:prstGeom>
          <a:noFill/>
        </p:spPr>
        <p:txBody>
          <a:bodyPr wrap="square">
            <a:spAutoFit/>
          </a:bodyPr>
          <a:lstStyle/>
          <a:p>
            <a:pPr algn="l"/>
            <a:r>
              <a:rPr sz="1150" b="1">
                <a:solidFill>
                  <a:srgbClr val="202124"/>
                </a:solidFill>
                <a:latin typeface="Calibri"/>
              </a:rPr>
              <a:t>The ten applications that agree least well — the whole tail, nothing hidden:</a:t>
            </a:r>
          </a:p>
        </p:txBody>
      </p:sp>
      <p:graphicFrame>
        <p:nvGraphicFramePr>
          <p:cNvPr id="26" name="Table 25"/>
          <p:cNvGraphicFramePr>
            <a:graphicFrameLocks noGrp="1"/>
          </p:cNvGraphicFramePr>
          <p:nvPr/>
        </p:nvGraphicFramePr>
        <p:xfrm>
          <a:off x="548640" y="3840480"/>
          <a:ext cx="5394960" cy="1975104"/>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29184">
                <a:tc>
                  <a:txBody>
                    <a:bodyPr/>
                    <a:lstStyle/>
                    <a:p>
                      <a:r>
                        <a:rPr sz="1100" b="1">
                          <a:solidFill>
                            <a:srgbClr val="FFFFFF"/>
                          </a:solidFill>
                          <a:latin typeface="Calibri"/>
                        </a:rPr>
                        <a:t>application</a:t>
                      </a:r>
                    </a:p>
                  </a:txBody>
                  <a:tcPr>
                    <a:solidFill>
                      <a:srgbClr val="202124"/>
                    </a:solidFill>
                  </a:tcPr>
                </a:tc>
                <a:tc>
                  <a:txBody>
                    <a:bodyPr/>
                    <a:lstStyle/>
                    <a:p>
                      <a:r>
                        <a:rPr sz="1100" b="1">
                          <a:solidFill>
                            <a:srgbClr val="FFFFFF"/>
                          </a:solidFill>
                          <a:latin typeface="Calibri"/>
                        </a:rPr>
                        <a:t>QEMU G-insn</a:t>
                      </a:r>
                    </a:p>
                  </a:txBody>
                  <a:tcPr>
                    <a:solidFill>
                      <a:srgbClr val="202124"/>
                    </a:solidFill>
                  </a:tcPr>
                </a:tc>
                <a:tc>
                  <a:txBody>
                    <a:bodyPr/>
                    <a:lstStyle/>
                    <a:p>
                      <a:r>
                        <a:rPr sz="1100" b="1">
                          <a:solidFill>
                            <a:srgbClr val="FFFFFF"/>
                          </a:solidFill>
                          <a:latin typeface="Calibri"/>
                        </a:rPr>
                        <a:t>silicon G-insn</a:t>
                      </a:r>
                    </a:p>
                  </a:txBody>
                  <a:tcPr>
                    <a:solidFill>
                      <a:srgbClr val="202124"/>
                    </a:solidFill>
                  </a:tcPr>
                </a:tc>
                <a:tc>
                  <a:txBody>
                    <a:bodyPr/>
                    <a:lstStyle/>
                    <a:p>
                      <a:r>
                        <a:rPr sz="1100" b="1">
                          <a:solidFill>
                            <a:srgbClr val="FFFFFF"/>
                          </a:solidFill>
                          <a:latin typeface="Calibri"/>
                        </a:rPr>
                        <a:t>error</a:t>
                      </a:r>
                    </a:p>
                  </a:txBody>
                  <a:tcPr>
                    <a:solidFill>
                      <a:srgbClr val="202124"/>
                    </a:solidFill>
                  </a:tcPr>
                </a:tc>
                <a:extLst>
                  <a:ext uri="{0D108BD9-81ED-4DB2-BD59-A6C34878D82A}">
                    <a16:rowId xmlns:a16="http://schemas.microsoft.com/office/drawing/2014/main" val="10000"/>
                  </a:ext>
                </a:extLst>
              </a:tr>
              <a:tr h="329184">
                <a:tc>
                  <a:txBody>
                    <a:bodyPr/>
                    <a:lstStyle/>
                    <a:p>
                      <a:r>
                        <a:rPr sz="1100" b="1">
                          <a:latin typeface="Calibri"/>
                        </a:rPr>
                        <a:t>bb-cksum</a:t>
                      </a:r>
                    </a:p>
                  </a:txBody>
                  <a:tcPr>
                    <a:solidFill>
                      <a:srgbClr val="EFF3FA"/>
                    </a:solidFill>
                  </a:tcPr>
                </a:tc>
                <a:tc>
                  <a:txBody>
                    <a:bodyPr/>
                    <a:lstStyle/>
                    <a:p>
                      <a:r>
                        <a:rPr sz="1100" b="0">
                          <a:latin typeface="Calibri"/>
                        </a:rPr>
                        <a:t>0.27</a:t>
                      </a:r>
                    </a:p>
                  </a:txBody>
                  <a:tcPr>
                    <a:solidFill>
                      <a:srgbClr val="EFF3FA"/>
                    </a:solidFill>
                  </a:tcPr>
                </a:tc>
                <a:tc>
                  <a:txBody>
                    <a:bodyPr/>
                    <a:lstStyle/>
                    <a:p>
                      <a:r>
                        <a:rPr sz="1100" b="0">
                          <a:latin typeface="Calibri"/>
                        </a:rPr>
                        <a:t>0.32</a:t>
                      </a:r>
                    </a:p>
                  </a:txBody>
                  <a:tcPr>
                    <a:solidFill>
                      <a:srgbClr val="EFF3FA"/>
                    </a:solidFill>
                  </a:tcPr>
                </a:tc>
                <a:tc>
                  <a:txBody>
                    <a:bodyPr/>
                    <a:lstStyle/>
                    <a:p>
                      <a:r>
                        <a:rPr sz="1100" b="1">
                          <a:solidFill>
                            <a:srgbClr val="B31412"/>
                          </a:solidFill>
                          <a:latin typeface="Calibri"/>
                        </a:rPr>
                        <a:t>-15.4%</a:t>
                      </a:r>
                    </a:p>
                  </a:txBody>
                  <a:tcPr>
                    <a:solidFill>
                      <a:srgbClr val="EFF3FA"/>
                    </a:solidFill>
                  </a:tcPr>
                </a:tc>
                <a:extLst>
                  <a:ext uri="{0D108BD9-81ED-4DB2-BD59-A6C34878D82A}">
                    <a16:rowId xmlns:a16="http://schemas.microsoft.com/office/drawing/2014/main" val="10001"/>
                  </a:ext>
                </a:extLst>
              </a:tr>
              <a:tr h="329184">
                <a:tc>
                  <a:txBody>
                    <a:bodyPr/>
                    <a:lstStyle/>
                    <a:p>
                      <a:r>
                        <a:rPr sz="1100" b="1">
                          <a:latin typeface="Calibri"/>
                        </a:rPr>
                        <a:t>bb-b64</a:t>
                      </a:r>
                    </a:p>
                  </a:txBody>
                  <a:tcPr>
                    <a:solidFill>
                      <a:srgbClr val="FFFFFF"/>
                    </a:solidFill>
                  </a:tcPr>
                </a:tc>
                <a:tc>
                  <a:txBody>
                    <a:bodyPr/>
                    <a:lstStyle/>
                    <a:p>
                      <a:r>
                        <a:rPr sz="1100" b="0">
                          <a:latin typeface="Calibri"/>
                        </a:rPr>
                        <a:t>0.73</a:t>
                      </a:r>
                    </a:p>
                  </a:txBody>
                  <a:tcPr>
                    <a:solidFill>
                      <a:srgbClr val="FFFFFF"/>
                    </a:solidFill>
                  </a:tcPr>
                </a:tc>
                <a:tc>
                  <a:txBody>
                    <a:bodyPr/>
                    <a:lstStyle/>
                    <a:p>
                      <a:r>
                        <a:rPr sz="1100" b="0">
                          <a:latin typeface="Calibri"/>
                        </a:rPr>
                        <a:t>0.83</a:t>
                      </a:r>
                    </a:p>
                  </a:txBody>
                  <a:tcPr>
                    <a:solidFill>
                      <a:srgbClr val="FFFFFF"/>
                    </a:solidFill>
                  </a:tcPr>
                </a:tc>
                <a:tc>
                  <a:txBody>
                    <a:bodyPr/>
                    <a:lstStyle/>
                    <a:p>
                      <a:r>
                        <a:rPr sz="1100" b="1">
                          <a:solidFill>
                            <a:srgbClr val="B31412"/>
                          </a:solidFill>
                          <a:latin typeface="Calibri"/>
                        </a:rPr>
                        <a:t>-12.6%</a:t>
                      </a:r>
                    </a:p>
                  </a:txBody>
                  <a:tcPr>
                    <a:solidFill>
                      <a:srgbClr val="FFFFFF"/>
                    </a:solidFill>
                  </a:tcPr>
                </a:tc>
                <a:extLst>
                  <a:ext uri="{0D108BD9-81ED-4DB2-BD59-A6C34878D82A}">
                    <a16:rowId xmlns:a16="http://schemas.microsoft.com/office/drawing/2014/main" val="10002"/>
                  </a:ext>
                </a:extLst>
              </a:tr>
              <a:tr h="329184">
                <a:tc>
                  <a:txBody>
                    <a:bodyPr/>
                    <a:lstStyle/>
                    <a:p>
                      <a:r>
                        <a:rPr sz="1100" b="1">
                          <a:latin typeface="Calibri"/>
                        </a:rPr>
                        <a:t>lz4-fast</a:t>
                      </a:r>
                    </a:p>
                  </a:txBody>
                  <a:tcPr>
                    <a:solidFill>
                      <a:srgbClr val="EFF3FA"/>
                    </a:solidFill>
                  </a:tcPr>
                </a:tc>
                <a:tc>
                  <a:txBody>
                    <a:bodyPr/>
                    <a:lstStyle/>
                    <a:p>
                      <a:r>
                        <a:rPr sz="1100" b="0">
                          <a:latin typeface="Calibri"/>
                        </a:rPr>
                        <a:t>0.28</a:t>
                      </a:r>
                    </a:p>
                  </a:txBody>
                  <a:tcPr>
                    <a:solidFill>
                      <a:srgbClr val="EFF3FA"/>
                    </a:solidFill>
                  </a:tcPr>
                </a:tc>
                <a:tc>
                  <a:txBody>
                    <a:bodyPr/>
                    <a:lstStyle/>
                    <a:p>
                      <a:r>
                        <a:rPr sz="1100" b="0">
                          <a:latin typeface="Calibri"/>
                        </a:rPr>
                        <a:t>0.30</a:t>
                      </a:r>
                    </a:p>
                  </a:txBody>
                  <a:tcPr>
                    <a:solidFill>
                      <a:srgbClr val="EFF3FA"/>
                    </a:solidFill>
                  </a:tcPr>
                </a:tc>
                <a:tc>
                  <a:txBody>
                    <a:bodyPr/>
                    <a:lstStyle/>
                    <a:p>
                      <a:r>
                        <a:rPr sz="1100" b="1">
                          <a:solidFill>
                            <a:srgbClr val="B06000"/>
                          </a:solidFill>
                          <a:latin typeface="Calibri"/>
                        </a:rPr>
                        <a:t>-7.5%</a:t>
                      </a:r>
                    </a:p>
                  </a:txBody>
                  <a:tcPr>
                    <a:solidFill>
                      <a:srgbClr val="EFF3FA"/>
                    </a:solidFill>
                  </a:tcPr>
                </a:tc>
                <a:extLst>
                  <a:ext uri="{0D108BD9-81ED-4DB2-BD59-A6C34878D82A}">
                    <a16:rowId xmlns:a16="http://schemas.microsoft.com/office/drawing/2014/main" val="10003"/>
                  </a:ext>
                </a:extLst>
              </a:tr>
              <a:tr h="329184">
                <a:tc>
                  <a:txBody>
                    <a:bodyPr/>
                    <a:lstStyle/>
                    <a:p>
                      <a:r>
                        <a:rPr sz="1100" b="1">
                          <a:latin typeface="Calibri"/>
                        </a:rPr>
                        <a:t>parson</a:t>
                      </a:r>
                    </a:p>
                  </a:txBody>
                  <a:tcPr>
                    <a:solidFill>
                      <a:srgbClr val="FFFFFF"/>
                    </a:solidFill>
                  </a:tcPr>
                </a:tc>
                <a:tc>
                  <a:txBody>
                    <a:bodyPr/>
                    <a:lstStyle/>
                    <a:p>
                      <a:r>
                        <a:rPr sz="1100" b="0">
                          <a:latin typeface="Calibri"/>
                        </a:rPr>
                        <a:t>1.90</a:t>
                      </a:r>
                    </a:p>
                  </a:txBody>
                  <a:tcPr>
                    <a:solidFill>
                      <a:srgbClr val="FFFFFF"/>
                    </a:solidFill>
                  </a:tcPr>
                </a:tc>
                <a:tc>
                  <a:txBody>
                    <a:bodyPr/>
                    <a:lstStyle/>
                    <a:p>
                      <a:r>
                        <a:rPr sz="1100" b="0">
                          <a:latin typeface="Calibri"/>
                        </a:rPr>
                        <a:t>2.00</a:t>
                      </a:r>
                    </a:p>
                  </a:txBody>
                  <a:tcPr>
                    <a:solidFill>
                      <a:srgbClr val="FFFFFF"/>
                    </a:solidFill>
                  </a:tcPr>
                </a:tc>
                <a:tc>
                  <a:txBody>
                    <a:bodyPr/>
                    <a:lstStyle/>
                    <a:p>
                      <a:r>
                        <a:rPr sz="1100" b="1">
                          <a:solidFill>
                            <a:srgbClr val="B06000"/>
                          </a:solidFill>
                          <a:latin typeface="Calibri"/>
                        </a:rPr>
                        <a:t>-5.2%</a:t>
                      </a:r>
                    </a:p>
                  </a:txBody>
                  <a:tcPr>
                    <a:solidFill>
                      <a:srgbClr val="FFFFFF"/>
                    </a:solidFill>
                  </a:tcPr>
                </a:tc>
                <a:extLst>
                  <a:ext uri="{0D108BD9-81ED-4DB2-BD59-A6C34878D82A}">
                    <a16:rowId xmlns:a16="http://schemas.microsoft.com/office/drawing/2014/main" val="10004"/>
                  </a:ext>
                </a:extLst>
              </a:tr>
              <a:tr h="329184">
                <a:tc>
                  <a:txBody>
                    <a:bodyPr/>
                    <a:lstStyle/>
                    <a:p>
                      <a:r>
                        <a:rPr sz="1100" b="1">
                          <a:latin typeface="Calibri"/>
                        </a:rPr>
                        <a:t>chase</a:t>
                      </a:r>
                    </a:p>
                  </a:txBody>
                  <a:tcPr>
                    <a:solidFill>
                      <a:srgbClr val="EFF3FA"/>
                    </a:solidFill>
                  </a:tcPr>
                </a:tc>
                <a:tc>
                  <a:txBody>
                    <a:bodyPr/>
                    <a:lstStyle/>
                    <a:p>
                      <a:r>
                        <a:rPr sz="1100" b="0">
                          <a:latin typeface="Calibri"/>
                        </a:rPr>
                        <a:t>0.21</a:t>
                      </a:r>
                    </a:p>
                  </a:txBody>
                  <a:tcPr>
                    <a:solidFill>
                      <a:srgbClr val="EFF3FA"/>
                    </a:solidFill>
                  </a:tcPr>
                </a:tc>
                <a:tc>
                  <a:txBody>
                    <a:bodyPr/>
                    <a:lstStyle/>
                    <a:p>
                      <a:r>
                        <a:rPr sz="1100" b="0">
                          <a:latin typeface="Calibri"/>
                        </a:rPr>
                        <a:t>0.20</a:t>
                      </a:r>
                    </a:p>
                  </a:txBody>
                  <a:tcPr>
                    <a:solidFill>
                      <a:srgbClr val="EFF3FA"/>
                    </a:solidFill>
                  </a:tcPr>
                </a:tc>
                <a:tc>
                  <a:txBody>
                    <a:bodyPr/>
                    <a:lstStyle/>
                    <a:p>
                      <a:r>
                        <a:rPr sz="1100" b="1">
                          <a:solidFill>
                            <a:srgbClr val="B06000"/>
                          </a:solidFill>
                          <a:latin typeface="Calibri"/>
                        </a:rPr>
                        <a:t>+5.1%</a:t>
                      </a:r>
                    </a:p>
                  </a:txBody>
                  <a:tcPr>
                    <a:solidFill>
                      <a:srgbClr val="EFF3FA"/>
                    </a:solidFill>
                  </a:tcPr>
                </a:tc>
                <a:extLst>
                  <a:ext uri="{0D108BD9-81ED-4DB2-BD59-A6C34878D82A}">
                    <a16:rowId xmlns:a16="http://schemas.microsoft.com/office/drawing/2014/main" val="10005"/>
                  </a:ext>
                </a:extLst>
              </a:tr>
            </a:tbl>
          </a:graphicData>
        </a:graphic>
      </p:graphicFrame>
      <p:graphicFrame>
        <p:nvGraphicFramePr>
          <p:cNvPr id="27" name="Table 26"/>
          <p:cNvGraphicFramePr>
            <a:graphicFrameLocks noGrp="1"/>
          </p:cNvGraphicFramePr>
          <p:nvPr/>
        </p:nvGraphicFramePr>
        <p:xfrm>
          <a:off x="6217920" y="3840480"/>
          <a:ext cx="5394960" cy="1975104"/>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29184">
                <a:tc>
                  <a:txBody>
                    <a:bodyPr/>
                    <a:lstStyle/>
                    <a:p>
                      <a:r>
                        <a:rPr sz="1100" b="1">
                          <a:solidFill>
                            <a:srgbClr val="FFFFFF"/>
                          </a:solidFill>
                          <a:latin typeface="Calibri"/>
                        </a:rPr>
                        <a:t>application</a:t>
                      </a:r>
                    </a:p>
                  </a:txBody>
                  <a:tcPr>
                    <a:solidFill>
                      <a:srgbClr val="202124"/>
                    </a:solidFill>
                  </a:tcPr>
                </a:tc>
                <a:tc>
                  <a:txBody>
                    <a:bodyPr/>
                    <a:lstStyle/>
                    <a:p>
                      <a:r>
                        <a:rPr sz="1100" b="1">
                          <a:solidFill>
                            <a:srgbClr val="FFFFFF"/>
                          </a:solidFill>
                          <a:latin typeface="Calibri"/>
                        </a:rPr>
                        <a:t>QEMU G-insn</a:t>
                      </a:r>
                    </a:p>
                  </a:txBody>
                  <a:tcPr>
                    <a:solidFill>
                      <a:srgbClr val="202124"/>
                    </a:solidFill>
                  </a:tcPr>
                </a:tc>
                <a:tc>
                  <a:txBody>
                    <a:bodyPr/>
                    <a:lstStyle/>
                    <a:p>
                      <a:r>
                        <a:rPr sz="1100" b="1">
                          <a:solidFill>
                            <a:srgbClr val="FFFFFF"/>
                          </a:solidFill>
                          <a:latin typeface="Calibri"/>
                        </a:rPr>
                        <a:t>silicon G-insn</a:t>
                      </a:r>
                    </a:p>
                  </a:txBody>
                  <a:tcPr>
                    <a:solidFill>
                      <a:srgbClr val="202124"/>
                    </a:solidFill>
                  </a:tcPr>
                </a:tc>
                <a:tc>
                  <a:txBody>
                    <a:bodyPr/>
                    <a:lstStyle/>
                    <a:p>
                      <a:r>
                        <a:rPr sz="1100" b="1">
                          <a:solidFill>
                            <a:srgbClr val="FFFFFF"/>
                          </a:solidFill>
                          <a:latin typeface="Calibri"/>
                        </a:rPr>
                        <a:t>error</a:t>
                      </a:r>
                    </a:p>
                  </a:txBody>
                  <a:tcPr>
                    <a:solidFill>
                      <a:srgbClr val="202124"/>
                    </a:solidFill>
                  </a:tcPr>
                </a:tc>
                <a:extLst>
                  <a:ext uri="{0D108BD9-81ED-4DB2-BD59-A6C34878D82A}">
                    <a16:rowId xmlns:a16="http://schemas.microsoft.com/office/drawing/2014/main" val="10000"/>
                  </a:ext>
                </a:extLst>
              </a:tr>
              <a:tr h="329184">
                <a:tc>
                  <a:txBody>
                    <a:bodyPr/>
                    <a:lstStyle/>
                    <a:p>
                      <a:r>
                        <a:rPr sz="1100" b="1">
                          <a:latin typeface="Calibri"/>
                        </a:rPr>
                        <a:t>bb-md5</a:t>
                      </a:r>
                    </a:p>
                  </a:txBody>
                  <a:tcPr>
                    <a:solidFill>
                      <a:srgbClr val="EFF3FA"/>
                    </a:solidFill>
                  </a:tcPr>
                </a:tc>
                <a:tc>
                  <a:txBody>
                    <a:bodyPr/>
                    <a:lstStyle/>
                    <a:p>
                      <a:r>
                        <a:rPr sz="1100" b="0">
                          <a:latin typeface="Calibri"/>
                        </a:rPr>
                        <a:t>0.42</a:t>
                      </a:r>
                    </a:p>
                  </a:txBody>
                  <a:tcPr>
                    <a:solidFill>
                      <a:srgbClr val="EFF3FA"/>
                    </a:solidFill>
                  </a:tcPr>
                </a:tc>
                <a:tc>
                  <a:txBody>
                    <a:bodyPr/>
                    <a:lstStyle/>
                    <a:p>
                      <a:r>
                        <a:rPr sz="1100" b="0">
                          <a:latin typeface="Calibri"/>
                        </a:rPr>
                        <a:t>0.44</a:t>
                      </a:r>
                    </a:p>
                  </a:txBody>
                  <a:tcPr>
                    <a:solidFill>
                      <a:srgbClr val="EFF3FA"/>
                    </a:solidFill>
                  </a:tcPr>
                </a:tc>
                <a:tc>
                  <a:txBody>
                    <a:bodyPr/>
                    <a:lstStyle/>
                    <a:p>
                      <a:r>
                        <a:rPr sz="1100" b="1">
                          <a:solidFill>
                            <a:srgbClr val="B06000"/>
                          </a:solidFill>
                          <a:latin typeface="Calibri"/>
                        </a:rPr>
                        <a:t>-4.3%</a:t>
                      </a:r>
                    </a:p>
                  </a:txBody>
                  <a:tcPr>
                    <a:solidFill>
                      <a:srgbClr val="EFF3FA"/>
                    </a:solidFill>
                  </a:tcPr>
                </a:tc>
                <a:extLst>
                  <a:ext uri="{0D108BD9-81ED-4DB2-BD59-A6C34878D82A}">
                    <a16:rowId xmlns:a16="http://schemas.microsoft.com/office/drawing/2014/main" val="10001"/>
                  </a:ext>
                </a:extLst>
              </a:tr>
              <a:tr h="329184">
                <a:tc>
                  <a:txBody>
                    <a:bodyPr/>
                    <a:lstStyle/>
                    <a:p>
                      <a:r>
                        <a:rPr sz="1100" b="1">
                          <a:latin typeface="Calibri"/>
                        </a:rPr>
                        <a:t>chase-big</a:t>
                      </a:r>
                    </a:p>
                  </a:txBody>
                  <a:tcPr>
                    <a:solidFill>
                      <a:srgbClr val="FFFFFF"/>
                    </a:solidFill>
                  </a:tcPr>
                </a:tc>
                <a:tc>
                  <a:txBody>
                    <a:bodyPr/>
                    <a:lstStyle/>
                    <a:p>
                      <a:r>
                        <a:rPr sz="1100" b="0">
                          <a:latin typeface="Calibri"/>
                        </a:rPr>
                        <a:t>0.32</a:t>
                      </a:r>
                    </a:p>
                  </a:txBody>
                  <a:tcPr>
                    <a:solidFill>
                      <a:srgbClr val="FFFFFF"/>
                    </a:solidFill>
                  </a:tcPr>
                </a:tc>
                <a:tc>
                  <a:txBody>
                    <a:bodyPr/>
                    <a:lstStyle/>
                    <a:p>
                      <a:r>
                        <a:rPr sz="1100" b="0">
                          <a:latin typeface="Calibri"/>
                        </a:rPr>
                        <a:t>0.33</a:t>
                      </a:r>
                    </a:p>
                  </a:txBody>
                  <a:tcPr>
                    <a:solidFill>
                      <a:srgbClr val="FFFFFF"/>
                    </a:solidFill>
                  </a:tcPr>
                </a:tc>
                <a:tc>
                  <a:txBody>
                    <a:bodyPr/>
                    <a:lstStyle/>
                    <a:p>
                      <a:r>
                        <a:rPr sz="1100" b="1">
                          <a:solidFill>
                            <a:srgbClr val="B06000"/>
                          </a:solidFill>
                          <a:latin typeface="Calibri"/>
                        </a:rPr>
                        <a:t>-3.6%</a:t>
                      </a:r>
                    </a:p>
                  </a:txBody>
                  <a:tcPr>
                    <a:solidFill>
                      <a:srgbClr val="FFFFFF"/>
                    </a:solidFill>
                  </a:tcPr>
                </a:tc>
                <a:extLst>
                  <a:ext uri="{0D108BD9-81ED-4DB2-BD59-A6C34878D82A}">
                    <a16:rowId xmlns:a16="http://schemas.microsoft.com/office/drawing/2014/main" val="10002"/>
                  </a:ext>
                </a:extLst>
              </a:tr>
              <a:tr h="329184">
                <a:tc>
                  <a:txBody>
                    <a:bodyPr/>
                    <a:lstStyle/>
                    <a:p>
                      <a:r>
                        <a:rPr sz="1100" b="1">
                          <a:latin typeface="Calibri"/>
                        </a:rPr>
                        <a:t>bb-awk</a:t>
                      </a:r>
                    </a:p>
                  </a:txBody>
                  <a:tcPr>
                    <a:solidFill>
                      <a:srgbClr val="EFF3FA"/>
                    </a:solidFill>
                  </a:tcPr>
                </a:tc>
                <a:tc>
                  <a:txBody>
                    <a:bodyPr/>
                    <a:lstStyle/>
                    <a:p>
                      <a:r>
                        <a:rPr sz="1100" b="0">
                          <a:latin typeface="Calibri"/>
                        </a:rPr>
                        <a:t>2.59</a:t>
                      </a:r>
                    </a:p>
                  </a:txBody>
                  <a:tcPr>
                    <a:solidFill>
                      <a:srgbClr val="EFF3FA"/>
                    </a:solidFill>
                  </a:tcPr>
                </a:tc>
                <a:tc>
                  <a:txBody>
                    <a:bodyPr/>
                    <a:lstStyle/>
                    <a:p>
                      <a:r>
                        <a:rPr sz="1100" b="0">
                          <a:latin typeface="Calibri"/>
                        </a:rPr>
                        <a:t>2.67</a:t>
                      </a:r>
                    </a:p>
                  </a:txBody>
                  <a:tcPr>
                    <a:solidFill>
                      <a:srgbClr val="EFF3FA"/>
                    </a:solidFill>
                  </a:tcPr>
                </a:tc>
                <a:tc>
                  <a:txBody>
                    <a:bodyPr/>
                    <a:lstStyle/>
                    <a:p>
                      <a:r>
                        <a:rPr sz="1100" b="1">
                          <a:solidFill>
                            <a:srgbClr val="B06000"/>
                          </a:solidFill>
                          <a:latin typeface="Calibri"/>
                        </a:rPr>
                        <a:t>-2.9%</a:t>
                      </a:r>
                    </a:p>
                  </a:txBody>
                  <a:tcPr>
                    <a:solidFill>
                      <a:srgbClr val="EFF3FA"/>
                    </a:solidFill>
                  </a:tcPr>
                </a:tc>
                <a:extLst>
                  <a:ext uri="{0D108BD9-81ED-4DB2-BD59-A6C34878D82A}">
                    <a16:rowId xmlns:a16="http://schemas.microsoft.com/office/drawing/2014/main" val="10003"/>
                  </a:ext>
                </a:extLst>
              </a:tr>
              <a:tr h="329184">
                <a:tc>
                  <a:txBody>
                    <a:bodyPr/>
                    <a:lstStyle/>
                    <a:p>
                      <a:r>
                        <a:rPr sz="1100" b="1">
                          <a:latin typeface="Calibri"/>
                        </a:rPr>
                        <a:t>bb-sortn</a:t>
                      </a:r>
                    </a:p>
                  </a:txBody>
                  <a:tcPr>
                    <a:solidFill>
                      <a:srgbClr val="FFFFFF"/>
                    </a:solidFill>
                  </a:tcPr>
                </a:tc>
                <a:tc>
                  <a:txBody>
                    <a:bodyPr/>
                    <a:lstStyle/>
                    <a:p>
                      <a:r>
                        <a:rPr sz="1100" b="0">
                          <a:latin typeface="Calibri"/>
                        </a:rPr>
                        <a:t>16.43</a:t>
                      </a:r>
                    </a:p>
                  </a:txBody>
                  <a:tcPr>
                    <a:solidFill>
                      <a:srgbClr val="FFFFFF"/>
                    </a:solidFill>
                  </a:tcPr>
                </a:tc>
                <a:tc>
                  <a:txBody>
                    <a:bodyPr/>
                    <a:lstStyle/>
                    <a:p>
                      <a:r>
                        <a:rPr sz="1100" b="0">
                          <a:latin typeface="Calibri"/>
                        </a:rPr>
                        <a:t>16.78</a:t>
                      </a:r>
                    </a:p>
                  </a:txBody>
                  <a:tcPr>
                    <a:solidFill>
                      <a:srgbClr val="FFFFFF"/>
                    </a:solidFill>
                  </a:tcPr>
                </a:tc>
                <a:tc>
                  <a:txBody>
                    <a:bodyPr/>
                    <a:lstStyle/>
                    <a:p>
                      <a:r>
                        <a:rPr sz="1100" b="1">
                          <a:solidFill>
                            <a:srgbClr val="B06000"/>
                          </a:solidFill>
                          <a:latin typeface="Calibri"/>
                        </a:rPr>
                        <a:t>-2.1%</a:t>
                      </a:r>
                    </a:p>
                  </a:txBody>
                  <a:tcPr>
                    <a:solidFill>
                      <a:srgbClr val="FFFFFF"/>
                    </a:solidFill>
                  </a:tcPr>
                </a:tc>
                <a:extLst>
                  <a:ext uri="{0D108BD9-81ED-4DB2-BD59-A6C34878D82A}">
                    <a16:rowId xmlns:a16="http://schemas.microsoft.com/office/drawing/2014/main" val="10004"/>
                  </a:ext>
                </a:extLst>
              </a:tr>
              <a:tr h="329184">
                <a:tc>
                  <a:txBody>
                    <a:bodyPr/>
                    <a:lstStyle/>
                    <a:p>
                      <a:r>
                        <a:rPr sz="1100" b="1">
                          <a:latin typeface="Calibri"/>
                        </a:rPr>
                        <a:t>mem</a:t>
                      </a:r>
                    </a:p>
                  </a:txBody>
                  <a:tcPr>
                    <a:solidFill>
                      <a:srgbClr val="EFF3FA"/>
                    </a:solidFill>
                  </a:tcPr>
                </a:tc>
                <a:tc>
                  <a:txBody>
                    <a:bodyPr/>
                    <a:lstStyle/>
                    <a:p>
                      <a:r>
                        <a:rPr sz="1100" b="0">
                          <a:latin typeface="Calibri"/>
                        </a:rPr>
                        <a:t>0.54</a:t>
                      </a:r>
                    </a:p>
                  </a:txBody>
                  <a:tcPr>
                    <a:solidFill>
                      <a:srgbClr val="EFF3FA"/>
                    </a:solidFill>
                  </a:tcPr>
                </a:tc>
                <a:tc>
                  <a:txBody>
                    <a:bodyPr/>
                    <a:lstStyle/>
                    <a:p>
                      <a:r>
                        <a:rPr sz="1100" b="0">
                          <a:latin typeface="Calibri"/>
                        </a:rPr>
                        <a:t>0.55</a:t>
                      </a:r>
                    </a:p>
                  </a:txBody>
                  <a:tcPr>
                    <a:solidFill>
                      <a:srgbClr val="EFF3FA"/>
                    </a:solidFill>
                  </a:tcPr>
                </a:tc>
                <a:tc>
                  <a:txBody>
                    <a:bodyPr/>
                    <a:lstStyle/>
                    <a:p>
                      <a:r>
                        <a:rPr sz="1100" b="1">
                          <a:solidFill>
                            <a:srgbClr val="187A33"/>
                          </a:solidFill>
                          <a:latin typeface="Calibri"/>
                        </a:rPr>
                        <a:t>-2.0%</a:t>
                      </a:r>
                    </a:p>
                  </a:txBody>
                  <a:tcPr>
                    <a:solidFill>
                      <a:srgbClr val="EFF3FA"/>
                    </a:solidFill>
                  </a:tcPr>
                </a:tc>
                <a:extLst>
                  <a:ext uri="{0D108BD9-81ED-4DB2-BD59-A6C34878D82A}">
                    <a16:rowId xmlns:a16="http://schemas.microsoft.com/office/drawing/2014/main" val="10005"/>
                  </a:ext>
                </a:extLst>
              </a:tr>
            </a:tbl>
          </a:graphicData>
        </a:graphic>
      </p:graphicFrame>
      <p:sp>
        <p:nvSpPr>
          <p:cNvPr id="28" name="TextBox 27"/>
          <p:cNvSpPr txBox="1"/>
          <p:nvPr/>
        </p:nvSpPr>
        <p:spPr>
          <a:xfrm>
            <a:off x="548640" y="5989320"/>
            <a:ext cx="11064240" cy="584775"/>
          </a:xfrm>
          <a:prstGeom prst="rect">
            <a:avLst/>
          </a:prstGeom>
          <a:noFill/>
        </p:spPr>
        <p:txBody>
          <a:bodyPr wrap="square">
            <a:spAutoFit/>
          </a:bodyPr>
          <a:lstStyle/>
          <a:p>
            <a:pPr algn="ctr"/>
            <a:r>
              <a:rPr sz="1600" b="0" dirty="0">
                <a:solidFill>
                  <a:srgbClr val="1A53A0"/>
                </a:solidFill>
                <a:latin typeface="Calibri"/>
              </a:rPr>
              <a:t>This is the activity factor a power model consumes. It is also, on its own, the thing you want when you are reading code flows and usage — how much work a workload does, where it does it, and how that changes when the code changes.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18872"/>
            <a:ext cx="11155680" cy="603504"/>
          </a:xfrm>
          <a:prstGeom prst="rect">
            <a:avLst/>
          </a:prstGeom>
          <a:noFill/>
        </p:spPr>
        <p:txBody>
          <a:bodyPr wrap="square">
            <a:spAutoFit/>
          </a:bodyPr>
          <a:lstStyle/>
          <a:p>
            <a:pPr algn="l"/>
            <a:r>
              <a:rPr sz="2200" b="1">
                <a:solidFill>
                  <a:srgbClr val="FFFFFF"/>
                </a:solidFill>
                <a:latin typeface="Calibri"/>
              </a:rPr>
              <a:t>Part 1 — Where QEMU does not see the same work</a:t>
            </a: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969264"/>
            <a:ext cx="11155680" cy="369332"/>
          </a:xfrm>
          <a:prstGeom prst="rect">
            <a:avLst/>
          </a:prstGeom>
          <a:noFill/>
        </p:spPr>
        <p:txBody>
          <a:bodyPr wrap="square">
            <a:spAutoFit/>
          </a:bodyPr>
          <a:lstStyle/>
          <a:p>
            <a:pPr algn="l"/>
            <a:r>
              <a:rPr b="0" dirty="0">
                <a:solidFill>
                  <a:srgbClr val="5F6368"/>
                </a:solidFill>
                <a:latin typeface="Calibri"/>
              </a:rPr>
              <a:t>Memory bandwidth. QEMU's DRAM proxy against the A55's l3d_cache_refill counter.</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activity · QEMU counts DERIVED from TCG plugins · silicon counts MEASURED via ARM PMU on i.MX95 (A55 core 0, pinned 1.8 GHz)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5</a:t>
            </a:r>
          </a:p>
        </p:txBody>
      </p:sp>
      <p:sp>
        <p:nvSpPr>
          <p:cNvPr id="8" name="Rectangle 7"/>
          <p:cNvSpPr/>
          <p:nvPr/>
        </p:nvSpPr>
        <p:spPr>
          <a:xfrm>
            <a:off x="548640" y="1481328"/>
            <a:ext cx="11064240" cy="566928"/>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572768"/>
            <a:ext cx="10607040" cy="420624"/>
          </a:xfrm>
          <a:prstGeom prst="rect">
            <a:avLst/>
          </a:prstGeom>
          <a:noFill/>
        </p:spPr>
        <p:txBody>
          <a:bodyPr wrap="square">
            <a:spAutoFit/>
          </a:bodyPr>
          <a:lstStyle/>
          <a:p>
            <a:pPr algn="l"/>
            <a:r>
              <a:rPr sz="1700" b="1">
                <a:solidFill>
                  <a:srgbClr val="FFFFFF"/>
                </a:solidFill>
                <a:latin typeface="Calibri"/>
              </a:rPr>
              <a:t>QEMU over-reports DRAM bandwidth by roughly 2x — the one place it does not match the silicon.</a:t>
            </a:r>
          </a:p>
        </p:txBody>
      </p:sp>
      <p:graphicFrame>
        <p:nvGraphicFramePr>
          <p:cNvPr id="10" name="Table 9"/>
          <p:cNvGraphicFramePr>
            <a:graphicFrameLocks noGrp="1"/>
          </p:cNvGraphicFramePr>
          <p:nvPr/>
        </p:nvGraphicFramePr>
        <p:xfrm>
          <a:off x="548640" y="2286000"/>
          <a:ext cx="11064240" cy="1609344"/>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2651760">
                  <a:extLst>
                    <a:ext uri="{9D8B030D-6E8A-4147-A177-3AD203B41FA5}">
                      <a16:colId xmlns:a16="http://schemas.microsoft.com/office/drawing/2014/main" val="20004"/>
                    </a:ext>
                  </a:extLst>
                </a:gridCol>
              </a:tblGrid>
              <a:tr h="402336">
                <a:tc>
                  <a:txBody>
                    <a:bodyPr/>
                    <a:lstStyle/>
                    <a:p>
                      <a:r>
                        <a:rPr sz="1200" b="1">
                          <a:solidFill>
                            <a:srgbClr val="FFFFFF"/>
                          </a:solidFill>
                          <a:latin typeface="Calibri"/>
                        </a:rPr>
                        <a:t>application</a:t>
                      </a:r>
                    </a:p>
                  </a:txBody>
                  <a:tcPr>
                    <a:solidFill>
                      <a:srgbClr val="202124"/>
                    </a:solidFill>
                  </a:tcPr>
                </a:tc>
                <a:tc>
                  <a:txBody>
                    <a:bodyPr/>
                    <a:lstStyle/>
                    <a:p>
                      <a:r>
                        <a:rPr sz="1200" b="1">
                          <a:solidFill>
                            <a:srgbClr val="FFFFFF"/>
                          </a:solidFill>
                          <a:latin typeface="Calibri"/>
                        </a:rPr>
                        <a:t>QEMU GB/s</a:t>
                      </a:r>
                    </a:p>
                  </a:txBody>
                  <a:tcPr>
                    <a:solidFill>
                      <a:srgbClr val="202124"/>
                    </a:solidFill>
                  </a:tcPr>
                </a:tc>
                <a:tc>
                  <a:txBody>
                    <a:bodyPr/>
                    <a:lstStyle/>
                    <a:p>
                      <a:r>
                        <a:rPr sz="1200" b="1">
                          <a:solidFill>
                            <a:srgbClr val="FFFFFF"/>
                          </a:solidFill>
                          <a:latin typeface="Calibri"/>
                        </a:rPr>
                        <a:t>silicon GB/s</a:t>
                      </a:r>
                    </a:p>
                  </a:txBody>
                  <a:tcPr>
                    <a:solidFill>
                      <a:srgbClr val="202124"/>
                    </a:solidFill>
                  </a:tcPr>
                </a:tc>
                <a:tc>
                  <a:txBody>
                    <a:bodyPr/>
                    <a:lstStyle/>
                    <a:p>
                      <a:r>
                        <a:rPr sz="1200" b="1">
                          <a:solidFill>
                            <a:srgbClr val="FFFFFF"/>
                          </a:solidFill>
                          <a:latin typeface="Calibri"/>
                        </a:rPr>
                        <a:t>error</a:t>
                      </a:r>
                    </a:p>
                  </a:txBody>
                  <a:tcPr>
                    <a:solidFill>
                      <a:srgbClr val="202124"/>
                    </a:solidFill>
                  </a:tcPr>
                </a:tc>
                <a:tc>
                  <a:txBody>
                    <a:bodyPr/>
                    <a:lstStyle/>
                    <a:p>
                      <a:r>
                        <a:rPr sz="1200" b="1">
                          <a:solidFill>
                            <a:srgbClr val="FFFFFF"/>
                          </a:solidFill>
                          <a:latin typeface="Calibri"/>
                        </a:rPr>
                        <a:t>core-rail impact</a:t>
                      </a:r>
                    </a:p>
                  </a:txBody>
                  <a:tcPr>
                    <a:solidFill>
                      <a:srgbClr val="202124"/>
                    </a:solidFill>
                  </a:tcPr>
                </a:tc>
                <a:extLst>
                  <a:ext uri="{0D108BD9-81ED-4DB2-BD59-A6C34878D82A}">
                    <a16:rowId xmlns:a16="http://schemas.microsoft.com/office/drawing/2014/main" val="10000"/>
                  </a:ext>
                </a:extLst>
              </a:tr>
              <a:tr h="402336">
                <a:tc>
                  <a:txBody>
                    <a:bodyPr/>
                    <a:lstStyle/>
                    <a:p>
                      <a:r>
                        <a:rPr sz="1200" b="1">
                          <a:latin typeface="Calibri"/>
                        </a:rPr>
                        <a:t>mem-w</a:t>
                      </a:r>
                    </a:p>
                  </a:txBody>
                  <a:tcPr>
                    <a:solidFill>
                      <a:srgbClr val="EFF3FA"/>
                    </a:solidFill>
                  </a:tcPr>
                </a:tc>
                <a:tc>
                  <a:txBody>
                    <a:bodyPr/>
                    <a:lstStyle/>
                    <a:p>
                      <a:r>
                        <a:rPr sz="1200" b="0">
                          <a:latin typeface="Calibri"/>
                        </a:rPr>
                        <a:t>4.66</a:t>
                      </a:r>
                    </a:p>
                  </a:txBody>
                  <a:tcPr>
                    <a:solidFill>
                      <a:srgbClr val="EFF3FA"/>
                    </a:solidFill>
                  </a:tcPr>
                </a:tc>
                <a:tc>
                  <a:txBody>
                    <a:bodyPr/>
                    <a:lstStyle/>
                    <a:p>
                      <a:r>
                        <a:rPr sz="1200" b="0">
                          <a:latin typeface="Calibri"/>
                        </a:rPr>
                        <a:t>2.62</a:t>
                      </a:r>
                    </a:p>
                  </a:txBody>
                  <a:tcPr>
                    <a:solidFill>
                      <a:srgbClr val="EFF3FA"/>
                    </a:solidFill>
                  </a:tcPr>
                </a:tc>
                <a:tc>
                  <a:txBody>
                    <a:bodyPr/>
                    <a:lstStyle/>
                    <a:p>
                      <a:r>
                        <a:rPr sz="1200" b="1">
                          <a:solidFill>
                            <a:srgbClr val="B31412"/>
                          </a:solidFill>
                          <a:latin typeface="Calibri"/>
                        </a:rPr>
                        <a:t>+78%</a:t>
                      </a:r>
                    </a:p>
                  </a:txBody>
                  <a:tcPr>
                    <a:solidFill>
                      <a:srgbClr val="EFF3FA"/>
                    </a:solidFill>
                  </a:tcPr>
                </a:tc>
                <a:tc>
                  <a:txBody>
                    <a:bodyPr/>
                    <a:lstStyle/>
                    <a:p>
                      <a:r>
                        <a:rPr sz="1200" b="0">
                          <a:latin typeface="Calibri"/>
                        </a:rPr>
                        <a:t>124 mW</a:t>
                      </a:r>
                    </a:p>
                  </a:txBody>
                  <a:tcPr>
                    <a:solidFill>
                      <a:srgbClr val="EFF3FA"/>
                    </a:solidFill>
                  </a:tcPr>
                </a:tc>
                <a:extLst>
                  <a:ext uri="{0D108BD9-81ED-4DB2-BD59-A6C34878D82A}">
                    <a16:rowId xmlns:a16="http://schemas.microsoft.com/office/drawing/2014/main" val="10001"/>
                  </a:ext>
                </a:extLst>
              </a:tr>
              <a:tr h="402336">
                <a:tc>
                  <a:txBody>
                    <a:bodyPr/>
                    <a:lstStyle/>
                    <a:p>
                      <a:r>
                        <a:rPr sz="1200" b="1">
                          <a:latin typeface="Calibri"/>
                        </a:rPr>
                        <a:t>mem</a:t>
                      </a:r>
                    </a:p>
                  </a:txBody>
                  <a:tcPr>
                    <a:solidFill>
                      <a:srgbClr val="FFFFFF"/>
                    </a:solidFill>
                  </a:tcPr>
                </a:tc>
                <a:tc>
                  <a:txBody>
                    <a:bodyPr/>
                    <a:lstStyle/>
                    <a:p>
                      <a:r>
                        <a:rPr sz="1200" b="0">
                          <a:latin typeface="Calibri"/>
                        </a:rPr>
                        <a:t>4.93</a:t>
                      </a:r>
                    </a:p>
                  </a:txBody>
                  <a:tcPr>
                    <a:solidFill>
                      <a:srgbClr val="FFFFFF"/>
                    </a:solidFill>
                  </a:tcPr>
                </a:tc>
                <a:tc>
                  <a:txBody>
                    <a:bodyPr/>
                    <a:lstStyle/>
                    <a:p>
                      <a:r>
                        <a:rPr sz="1200" b="0">
                          <a:latin typeface="Calibri"/>
                        </a:rPr>
                        <a:t>2.53</a:t>
                      </a:r>
                    </a:p>
                  </a:txBody>
                  <a:tcPr>
                    <a:solidFill>
                      <a:srgbClr val="FFFFFF"/>
                    </a:solidFill>
                  </a:tcPr>
                </a:tc>
                <a:tc>
                  <a:txBody>
                    <a:bodyPr/>
                    <a:lstStyle/>
                    <a:p>
                      <a:r>
                        <a:rPr sz="1200" b="1">
                          <a:solidFill>
                            <a:srgbClr val="B31412"/>
                          </a:solidFill>
                          <a:latin typeface="Calibri"/>
                        </a:rPr>
                        <a:t>+95%</a:t>
                      </a:r>
                    </a:p>
                  </a:txBody>
                  <a:tcPr>
                    <a:solidFill>
                      <a:srgbClr val="FFFFFF"/>
                    </a:solidFill>
                  </a:tcPr>
                </a:tc>
                <a:tc>
                  <a:txBody>
                    <a:bodyPr/>
                    <a:lstStyle/>
                    <a:p>
                      <a:r>
                        <a:rPr sz="1200" b="0">
                          <a:latin typeface="Calibri"/>
                        </a:rPr>
                        <a:t>145 mW</a:t>
                      </a:r>
                    </a:p>
                  </a:txBody>
                  <a:tcPr>
                    <a:solidFill>
                      <a:srgbClr val="FFFFFF"/>
                    </a:solidFill>
                  </a:tcPr>
                </a:tc>
                <a:extLst>
                  <a:ext uri="{0D108BD9-81ED-4DB2-BD59-A6C34878D82A}">
                    <a16:rowId xmlns:a16="http://schemas.microsoft.com/office/drawing/2014/main" val="10002"/>
                  </a:ext>
                </a:extLst>
              </a:tr>
              <a:tr h="402336">
                <a:tc>
                  <a:txBody>
                    <a:bodyPr/>
                    <a:lstStyle/>
                    <a:p>
                      <a:r>
                        <a:rPr sz="1200" b="1">
                          <a:latin typeface="Calibri"/>
                        </a:rPr>
                        <a:t>mm-big</a:t>
                      </a:r>
                    </a:p>
                  </a:txBody>
                  <a:tcPr>
                    <a:solidFill>
                      <a:srgbClr val="EFF3FA"/>
                    </a:solidFill>
                  </a:tcPr>
                </a:tc>
                <a:tc>
                  <a:txBody>
                    <a:bodyPr/>
                    <a:lstStyle/>
                    <a:p>
                      <a:r>
                        <a:rPr sz="1200" b="0">
                          <a:latin typeface="Calibri"/>
                        </a:rPr>
                        <a:t>1.49</a:t>
                      </a:r>
                    </a:p>
                  </a:txBody>
                  <a:tcPr>
                    <a:solidFill>
                      <a:srgbClr val="EFF3FA"/>
                    </a:solidFill>
                  </a:tcPr>
                </a:tc>
                <a:tc>
                  <a:txBody>
                    <a:bodyPr/>
                    <a:lstStyle/>
                    <a:p>
                      <a:r>
                        <a:rPr sz="1200" b="0">
                          <a:latin typeface="Calibri"/>
                        </a:rPr>
                        <a:t>0.60</a:t>
                      </a:r>
                    </a:p>
                  </a:txBody>
                  <a:tcPr>
                    <a:solidFill>
                      <a:srgbClr val="EFF3FA"/>
                    </a:solidFill>
                  </a:tcPr>
                </a:tc>
                <a:tc>
                  <a:txBody>
                    <a:bodyPr/>
                    <a:lstStyle/>
                    <a:p>
                      <a:r>
                        <a:rPr sz="1200" b="1">
                          <a:solidFill>
                            <a:srgbClr val="B31412"/>
                          </a:solidFill>
                          <a:latin typeface="Calibri"/>
                        </a:rPr>
                        <a:t>+149%</a:t>
                      </a:r>
                    </a:p>
                  </a:txBody>
                  <a:tcPr>
                    <a:solidFill>
                      <a:srgbClr val="EFF3FA"/>
                    </a:solidFill>
                  </a:tcPr>
                </a:tc>
                <a:tc>
                  <a:txBody>
                    <a:bodyPr/>
                    <a:lstStyle/>
                    <a:p>
                      <a:r>
                        <a:rPr sz="1200" b="0">
                          <a:latin typeface="Calibri"/>
                        </a:rPr>
                        <a:t>54 mW</a:t>
                      </a:r>
                    </a:p>
                  </a:txBody>
                  <a:tcPr>
                    <a:solidFill>
                      <a:srgbClr val="EFF3FA"/>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548640" y="3931920"/>
            <a:ext cx="11064240" cy="369332"/>
          </a:xfrm>
          <a:prstGeom prst="rect">
            <a:avLst/>
          </a:prstGeom>
          <a:noFill/>
        </p:spPr>
        <p:txBody>
          <a:bodyPr wrap="square">
            <a:spAutoFit/>
          </a:bodyPr>
          <a:lstStyle/>
          <a:p>
            <a:pPr algn="l"/>
            <a:r>
              <a:rPr b="1">
                <a:solidFill>
                  <a:srgbClr val="202124"/>
                </a:solidFill>
                <a:latin typeface="Calibri"/>
              </a:rPr>
              <a:t>Those are the only 3 applications of 50 that exceed 0.5 GB/s.</a:t>
            </a:r>
          </a:p>
        </p:txBody>
      </p:sp>
      <p:sp>
        <p:nvSpPr>
          <p:cNvPr id="12" name="TextBox 11"/>
          <p:cNvSpPr txBox="1"/>
          <p:nvPr/>
        </p:nvSpPr>
        <p:spPr>
          <a:xfrm>
            <a:off x="548640" y="4315968"/>
            <a:ext cx="11064240" cy="830997"/>
          </a:xfrm>
          <a:prstGeom prst="rect">
            <a:avLst/>
          </a:prstGeom>
          <a:noFill/>
        </p:spPr>
        <p:txBody>
          <a:bodyPr wrap="square">
            <a:spAutoFit/>
          </a:bodyPr>
          <a:lstStyle/>
          <a:p>
            <a:pPr algn="l"/>
            <a:r>
              <a:rPr sz="1600" b="0">
                <a:solidFill>
                  <a:srgbClr val="5F6368"/>
                </a:solidFill>
                <a:latin typeface="Calibri"/>
              </a:rPr>
              <a:t>The cause is write streaming: the A55 skips read-for-ownership on a full cache-line write, so the line is never fetched from DRAM. QEMU's cache model allocates it anyway and counts a transaction the silicon never issued. It is a known, single-mechanism gap — not noise — and it is the one piece of upstream work this campaign produced.</a:t>
            </a:r>
          </a:p>
        </p:txBody>
      </p:sp>
      <p:sp>
        <p:nvSpPr>
          <p:cNvPr id="13" name="Rounded Rectangle 12"/>
          <p:cNvSpPr/>
          <p:nvPr/>
        </p:nvSpPr>
        <p:spPr>
          <a:xfrm>
            <a:off x="548640" y="5358384"/>
            <a:ext cx="11064240" cy="969264"/>
          </a:xfrm>
          <a:prstGeom prst="roundRect">
            <a:avLst/>
          </a:prstGeom>
          <a:solidFill>
            <a:srgbClr val="F4F7FB"/>
          </a:solidFill>
          <a:ln>
            <a:solidFill>
              <a:srgbClr val="1A53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5468112"/>
            <a:ext cx="10515600" cy="830997"/>
          </a:xfrm>
          <a:prstGeom prst="rect">
            <a:avLst/>
          </a:prstGeom>
          <a:noFill/>
        </p:spPr>
        <p:txBody>
          <a:bodyPr wrap="square">
            <a:spAutoFit/>
          </a:bodyPr>
          <a:lstStyle/>
          <a:p>
            <a:pPr algn="ctr"/>
            <a:r>
              <a:rPr sz="1600" b="1" dirty="0">
                <a:solidFill>
                  <a:srgbClr val="202124"/>
                </a:solidFill>
                <a:latin typeface="Calibri"/>
              </a:rPr>
              <a:t>Why the power result survives it: 47 of 50 applications run below 0.5 GB/s, where the entire bandwidth term is worth under 27 </a:t>
            </a:r>
            <a:r>
              <a:rPr sz="1600" b="1" dirty="0" err="1">
                <a:solidFill>
                  <a:srgbClr val="202124"/>
                </a:solidFill>
                <a:latin typeface="Calibri"/>
              </a:rPr>
              <a:t>mW</a:t>
            </a:r>
            <a:r>
              <a:rPr sz="1600" b="1" dirty="0">
                <a:solidFill>
                  <a:srgbClr val="202124"/>
                </a:solidFill>
                <a:latin typeface="Calibri"/>
              </a:rPr>
              <a:t> of a ~1400 </a:t>
            </a:r>
            <a:r>
              <a:rPr sz="1600" b="1" dirty="0" err="1">
                <a:solidFill>
                  <a:srgbClr val="202124"/>
                </a:solidFill>
                <a:latin typeface="Calibri"/>
              </a:rPr>
              <a:t>mW</a:t>
            </a:r>
            <a:r>
              <a:rPr sz="1600" b="1" dirty="0">
                <a:solidFill>
                  <a:srgbClr val="202124"/>
                </a:solidFill>
                <a:latin typeface="Calibri"/>
              </a:rPr>
              <a:t> budget. The error is real, it is in the right place to be harmless for application workloads, and it is the first thing to fix before this is pointed at streaming or DMA-heavy code.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18872"/>
            <a:ext cx="11155680" cy="603504"/>
          </a:xfrm>
          <a:prstGeom prst="rect">
            <a:avLst/>
          </a:prstGeom>
          <a:noFill/>
        </p:spPr>
        <p:txBody>
          <a:bodyPr wrap="square">
            <a:spAutoFit/>
          </a:bodyPr>
          <a:lstStyle/>
          <a:p>
            <a:pPr algn="l"/>
            <a:r>
              <a:rPr sz="2600" b="1">
                <a:solidFill>
                  <a:srgbClr val="FFFFFF"/>
                </a:solidFill>
                <a:latin typeface="Calibri"/>
              </a:rPr>
              <a:t>Part 2 — The power models</a:t>
            </a: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969264"/>
            <a:ext cx="11155680" cy="369332"/>
          </a:xfrm>
          <a:prstGeom prst="rect">
            <a:avLst/>
          </a:prstGeom>
          <a:noFill/>
        </p:spPr>
        <p:txBody>
          <a:bodyPr wrap="square">
            <a:spAutoFit/>
          </a:bodyPr>
          <a:lstStyle/>
          <a:p>
            <a:pPr algn="l"/>
            <a:r>
              <a:rPr b="0" dirty="0">
                <a:solidFill>
                  <a:srgbClr val="5F6368"/>
                </a:solidFill>
                <a:latin typeface="Calibri"/>
              </a:rPr>
              <a:t>Measured on silicon, driven by QEMU activity. Valid at the stated OPP — the frequency is part of the claim.</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power · rails MEASURED on IMX95LPD5EVK-19 (NXP BCU) · A55 die 40–41 °C under load · activity DERIVED from QEMU TCG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6</a:t>
            </a:r>
          </a:p>
        </p:txBody>
      </p:sp>
      <p:sp>
        <p:nvSpPr>
          <p:cNvPr id="8" name="Rounded Rectangle 7"/>
          <p:cNvSpPr/>
          <p:nvPr/>
        </p:nvSpPr>
        <p:spPr>
          <a:xfrm>
            <a:off x="548640" y="1463040"/>
            <a:ext cx="11064240" cy="1828800"/>
          </a:xfrm>
          <a:prstGeom prst="roundRect">
            <a:avLst/>
          </a:prstGeom>
          <a:solidFill>
            <a:srgbClr val="EFF3FA"/>
          </a:solidFill>
          <a:ln w="19050">
            <a:solidFill>
              <a:srgbClr val="1A53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600200"/>
            <a:ext cx="10515600" cy="329184"/>
          </a:xfrm>
          <a:prstGeom prst="rect">
            <a:avLst/>
          </a:prstGeom>
          <a:noFill/>
        </p:spPr>
        <p:txBody>
          <a:bodyPr wrap="square">
            <a:spAutoFit/>
          </a:bodyPr>
          <a:lstStyle/>
          <a:p>
            <a:pPr algn="l"/>
            <a:r>
              <a:rPr sz="1500" b="1">
                <a:solidFill>
                  <a:srgbClr val="1A53A0"/>
                </a:solidFill>
                <a:latin typeface="Consolas"/>
              </a:rPr>
              <a:t>vdd_arm  =  243.8  +  0.1266·ALU Mops/s  +  60.62·GB/s  +  169.3·active_cores</a:t>
            </a:r>
          </a:p>
        </p:txBody>
      </p:sp>
      <p:sp>
        <p:nvSpPr>
          <p:cNvPr id="10" name="TextBox 9"/>
          <p:cNvSpPr txBox="1"/>
          <p:nvPr/>
        </p:nvSpPr>
        <p:spPr>
          <a:xfrm>
            <a:off x="822960" y="1993392"/>
            <a:ext cx="10515600" cy="329184"/>
          </a:xfrm>
          <a:prstGeom prst="rect">
            <a:avLst/>
          </a:prstGeom>
          <a:noFill/>
        </p:spPr>
        <p:txBody>
          <a:bodyPr wrap="square">
            <a:spAutoFit/>
          </a:bodyPr>
          <a:lstStyle/>
          <a:p>
            <a:pPr algn="l"/>
            <a:r>
              <a:rPr sz="1500" b="1">
                <a:solidFill>
                  <a:srgbClr val="1A53A0"/>
                </a:solidFill>
                <a:latin typeface="Consolas"/>
              </a:rPr>
              <a:t>vdd_soc  =  851.0  +  0.0043·ALU Mops/s  +  20.40·GB/s</a:t>
            </a:r>
          </a:p>
        </p:txBody>
      </p:sp>
      <p:sp>
        <p:nvSpPr>
          <p:cNvPr id="11" name="TextBox 10"/>
          <p:cNvSpPr txBox="1"/>
          <p:nvPr/>
        </p:nvSpPr>
        <p:spPr>
          <a:xfrm>
            <a:off x="822960" y="2386584"/>
            <a:ext cx="10515600" cy="329184"/>
          </a:xfrm>
          <a:prstGeom prst="rect">
            <a:avLst/>
          </a:prstGeom>
          <a:noFill/>
        </p:spPr>
        <p:txBody>
          <a:bodyPr wrap="square">
            <a:spAutoFit/>
          </a:bodyPr>
          <a:lstStyle/>
          <a:p>
            <a:pPr algn="l"/>
            <a:r>
              <a:rPr sz="1500" b="1">
                <a:solidFill>
                  <a:srgbClr val="1A53A0"/>
                </a:solidFill>
                <a:latin typeface="Consolas"/>
              </a:rPr>
              <a:t>DRAM     =   45.7  +  160.06·√(GB/s)                        R² = 0.994</a:t>
            </a:r>
          </a:p>
        </p:txBody>
      </p:sp>
      <p:sp>
        <p:nvSpPr>
          <p:cNvPr id="12" name="TextBox 11"/>
          <p:cNvSpPr txBox="1"/>
          <p:nvPr/>
        </p:nvSpPr>
        <p:spPr>
          <a:xfrm>
            <a:off x="822960" y="2834640"/>
            <a:ext cx="10515600" cy="338554"/>
          </a:xfrm>
          <a:prstGeom prst="rect">
            <a:avLst/>
          </a:prstGeom>
          <a:noFill/>
        </p:spPr>
        <p:txBody>
          <a:bodyPr wrap="square">
            <a:spAutoFit/>
          </a:bodyPr>
          <a:lstStyle/>
          <a:p>
            <a:pPr algn="l"/>
            <a:r>
              <a:rPr sz="1600" b="0" dirty="0" err="1">
                <a:solidFill>
                  <a:srgbClr val="202124"/>
                </a:solidFill>
                <a:latin typeface="Calibri"/>
              </a:rPr>
              <a:t>mW</a:t>
            </a:r>
            <a:r>
              <a:rPr sz="1600" b="0" dirty="0">
                <a:solidFill>
                  <a:srgbClr val="202124"/>
                </a:solidFill>
                <a:latin typeface="Calibri"/>
              </a:rPr>
              <a:t>, at 1800 </a:t>
            </a:r>
            <a:r>
              <a:rPr sz="1600" b="0" dirty="0" err="1">
                <a:solidFill>
                  <a:srgbClr val="202124"/>
                </a:solidFill>
                <a:latin typeface="Calibri"/>
              </a:rPr>
              <a:t>MHz.</a:t>
            </a:r>
            <a:r>
              <a:rPr sz="1600" b="0" dirty="0">
                <a:solidFill>
                  <a:srgbClr val="202124"/>
                </a:solidFill>
                <a:latin typeface="Calibri"/>
              </a:rPr>
              <a:t> </a:t>
            </a:r>
            <a:r>
              <a:rPr sz="1600" b="0" dirty="0" err="1">
                <a:solidFill>
                  <a:srgbClr val="202124"/>
                </a:solidFill>
                <a:latin typeface="Calibri"/>
              </a:rPr>
              <a:t>vdd_soc</a:t>
            </a:r>
            <a:r>
              <a:rPr sz="1600" b="0" dirty="0">
                <a:solidFill>
                  <a:srgbClr val="202124"/>
                </a:solidFill>
                <a:latin typeface="Calibri"/>
              </a:rPr>
              <a:t> holds at 900 MHz unchanged (2.5% MAPE). </a:t>
            </a:r>
            <a:r>
              <a:rPr sz="1600" b="0" dirty="0" err="1">
                <a:solidFill>
                  <a:srgbClr val="202124"/>
                </a:solidFill>
                <a:latin typeface="Calibri"/>
              </a:rPr>
              <a:t>vdd_arm</a:t>
            </a:r>
            <a:r>
              <a:rPr sz="1600" b="0" dirty="0">
                <a:solidFill>
                  <a:srgbClr val="202124"/>
                </a:solidFill>
                <a:latin typeface="Calibri"/>
              </a:rPr>
              <a:t> needs its own per-OPP set.</a:t>
            </a:r>
          </a:p>
        </p:txBody>
      </p:sp>
      <p:graphicFrame>
        <p:nvGraphicFramePr>
          <p:cNvPr id="13" name="Table 12"/>
          <p:cNvGraphicFramePr>
            <a:graphicFrameLocks noGrp="1"/>
          </p:cNvGraphicFramePr>
          <p:nvPr/>
        </p:nvGraphicFramePr>
        <p:xfrm>
          <a:off x="548640" y="3520440"/>
          <a:ext cx="11064240" cy="1609344"/>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4572000">
                  <a:extLst>
                    <a:ext uri="{9D8B030D-6E8A-4147-A177-3AD203B41FA5}">
                      <a16:colId xmlns:a16="http://schemas.microsoft.com/office/drawing/2014/main" val="20003"/>
                    </a:ext>
                  </a:extLst>
                </a:gridCol>
              </a:tblGrid>
              <a:tr h="402336">
                <a:tc>
                  <a:txBody>
                    <a:bodyPr/>
                    <a:lstStyle/>
                    <a:p>
                      <a:r>
                        <a:rPr sz="1100" b="1">
                          <a:solidFill>
                            <a:srgbClr val="FFFFFF"/>
                          </a:solidFill>
                          <a:latin typeface="Calibri"/>
                        </a:rPr>
                        <a:t>rail</a:t>
                      </a:r>
                    </a:p>
                  </a:txBody>
                  <a:tcPr>
                    <a:solidFill>
                      <a:srgbClr val="202124"/>
                    </a:solidFill>
                  </a:tcPr>
                </a:tc>
                <a:tc>
                  <a:txBody>
                    <a:bodyPr/>
                    <a:lstStyle/>
                    <a:p>
                      <a:r>
                        <a:rPr sz="1100" b="1">
                          <a:solidFill>
                            <a:srgbClr val="FFFFFF"/>
                          </a:solidFill>
                          <a:latin typeface="Calibri"/>
                        </a:rPr>
                        <a:t>form</a:t>
                      </a:r>
                    </a:p>
                  </a:txBody>
                  <a:tcPr>
                    <a:solidFill>
                      <a:srgbClr val="202124"/>
                    </a:solidFill>
                  </a:tcPr>
                </a:tc>
                <a:tc>
                  <a:txBody>
                    <a:bodyPr/>
                    <a:lstStyle/>
                    <a:p>
                      <a:r>
                        <a:rPr sz="1100" b="1">
                          <a:solidFill>
                            <a:srgbClr val="FFFFFF"/>
                          </a:solidFill>
                          <a:latin typeface="Calibri"/>
                        </a:rPr>
                        <a:t>accuracy</a:t>
                      </a:r>
                    </a:p>
                  </a:txBody>
                  <a:tcPr>
                    <a:solidFill>
                      <a:srgbClr val="202124"/>
                    </a:solidFill>
                  </a:tcPr>
                </a:tc>
                <a:tc>
                  <a:txBody>
                    <a:bodyPr/>
                    <a:lstStyle/>
                    <a:p>
                      <a:r>
                        <a:rPr sz="1100" b="1">
                          <a:solidFill>
                            <a:srgbClr val="FFFFFF"/>
                          </a:solidFill>
                          <a:latin typeface="Calibri"/>
                        </a:rPr>
                        <a:t>note</a:t>
                      </a:r>
                    </a:p>
                  </a:txBody>
                  <a:tcPr>
                    <a:solidFill>
                      <a:srgbClr val="202124"/>
                    </a:solidFill>
                  </a:tcPr>
                </a:tc>
                <a:extLst>
                  <a:ext uri="{0D108BD9-81ED-4DB2-BD59-A6C34878D82A}">
                    <a16:rowId xmlns:a16="http://schemas.microsoft.com/office/drawing/2014/main" val="10000"/>
                  </a:ext>
                </a:extLst>
              </a:tr>
              <a:tr h="402336">
                <a:tc>
                  <a:txBody>
                    <a:bodyPr/>
                    <a:lstStyle/>
                    <a:p>
                      <a:r>
                        <a:rPr sz="1100" b="1">
                          <a:latin typeface="Calibri"/>
                        </a:rPr>
                        <a:t>vdd_soc</a:t>
                      </a:r>
                    </a:p>
                  </a:txBody>
                  <a:tcPr>
                    <a:solidFill>
                      <a:srgbClr val="EFF3FA"/>
                    </a:solidFill>
                  </a:tcPr>
                </a:tc>
                <a:tc>
                  <a:txBody>
                    <a:bodyPr/>
                    <a:lstStyle/>
                    <a:p>
                      <a:r>
                        <a:rPr sz="1100" b="0">
                          <a:latin typeface="Calibri"/>
                        </a:rPr>
                        <a:t>bandwidth only</a:t>
                      </a:r>
                    </a:p>
                  </a:txBody>
                  <a:tcPr>
                    <a:solidFill>
                      <a:srgbClr val="EFF3FA"/>
                    </a:solidFill>
                  </a:tcPr>
                </a:tc>
                <a:tc>
                  <a:txBody>
                    <a:bodyPr/>
                    <a:lstStyle/>
                    <a:p>
                      <a:r>
                        <a:rPr sz="1100" b="0">
                          <a:latin typeface="Calibri"/>
                        </a:rPr>
                        <a:t>2.5–7%</a:t>
                      </a:r>
                    </a:p>
                  </a:txBody>
                  <a:tcPr>
                    <a:solidFill>
                      <a:srgbClr val="EFF3FA"/>
                    </a:solidFill>
                  </a:tcPr>
                </a:tc>
                <a:tc>
                  <a:txBody>
                    <a:bodyPr/>
                    <a:lstStyle/>
                    <a:p>
                      <a:r>
                        <a:rPr sz="1100" b="0">
                          <a:latin typeface="Calibri"/>
                        </a:rPr>
                        <a:t>transfers across OPPs unchanged</a:t>
                      </a:r>
                    </a:p>
                  </a:txBody>
                  <a:tcPr>
                    <a:solidFill>
                      <a:srgbClr val="EFF3FA"/>
                    </a:solidFill>
                  </a:tcPr>
                </a:tc>
                <a:extLst>
                  <a:ext uri="{0D108BD9-81ED-4DB2-BD59-A6C34878D82A}">
                    <a16:rowId xmlns:a16="http://schemas.microsoft.com/office/drawing/2014/main" val="10001"/>
                  </a:ext>
                </a:extLst>
              </a:tr>
              <a:tr h="402336">
                <a:tc>
                  <a:txBody>
                    <a:bodyPr/>
                    <a:lstStyle/>
                    <a:p>
                      <a:r>
                        <a:rPr sz="1100" b="1">
                          <a:latin typeface="Calibri"/>
                        </a:rPr>
                        <a:t>vdd_arm</a:t>
                      </a:r>
                    </a:p>
                  </a:txBody>
                  <a:tcPr>
                    <a:solidFill>
                      <a:srgbClr val="FFFFFF"/>
                    </a:solidFill>
                  </a:tcPr>
                </a:tc>
                <a:tc>
                  <a:txBody>
                    <a:bodyPr/>
                    <a:lstStyle/>
                    <a:p>
                      <a:r>
                        <a:rPr sz="1100" b="0">
                          <a:latin typeface="Calibri"/>
                        </a:rPr>
                        <a:t>alu + bandwidth + cores</a:t>
                      </a:r>
                    </a:p>
                  </a:txBody>
                  <a:tcPr>
                    <a:solidFill>
                      <a:srgbClr val="FFFFFF"/>
                    </a:solidFill>
                  </a:tcPr>
                </a:tc>
                <a:tc>
                  <a:txBody>
                    <a:bodyPr/>
                    <a:lstStyle/>
                    <a:p>
                      <a:r>
                        <a:rPr sz="1100" b="0">
                          <a:latin typeface="Calibri"/>
                        </a:rPr>
                        <a:t>4–5%</a:t>
                      </a:r>
                    </a:p>
                  </a:txBody>
                  <a:tcPr>
                    <a:solidFill>
                      <a:srgbClr val="FFFFFF"/>
                    </a:solidFill>
                  </a:tcPr>
                </a:tc>
                <a:tc>
                  <a:txBody>
                    <a:bodyPr/>
                    <a:lstStyle/>
                    <a:p>
                      <a:r>
                        <a:rPr sz="1100" b="0">
                          <a:latin typeface="Calibri"/>
                        </a:rPr>
                        <a:t>per-OPP coefficient sets; halving the clock roughly halves this rail</a:t>
                      </a:r>
                    </a:p>
                  </a:txBody>
                  <a:tcPr>
                    <a:solidFill>
                      <a:srgbClr val="FFFFFF"/>
                    </a:solidFill>
                  </a:tcPr>
                </a:tc>
                <a:extLst>
                  <a:ext uri="{0D108BD9-81ED-4DB2-BD59-A6C34878D82A}">
                    <a16:rowId xmlns:a16="http://schemas.microsoft.com/office/drawing/2014/main" val="10002"/>
                  </a:ext>
                </a:extLst>
              </a:tr>
              <a:tr h="402336">
                <a:tc>
                  <a:txBody>
                    <a:bodyPr/>
                    <a:lstStyle/>
                    <a:p>
                      <a:r>
                        <a:rPr sz="1100" b="1">
                          <a:latin typeface="Calibri"/>
                        </a:rPr>
                        <a:t>DRAM group</a:t>
                      </a:r>
                    </a:p>
                  </a:txBody>
                  <a:tcPr>
                    <a:solidFill>
                      <a:srgbClr val="EFF3FA"/>
                    </a:solidFill>
                  </a:tcPr>
                </a:tc>
                <a:tc>
                  <a:txBody>
                    <a:bodyPr/>
                    <a:lstStyle/>
                    <a:p>
                      <a:r>
                        <a:rPr sz="1100" b="0">
                          <a:latin typeface="Calibri"/>
                        </a:rPr>
                        <a:t>saturating in bandwidth</a:t>
                      </a:r>
                    </a:p>
                  </a:txBody>
                  <a:tcPr>
                    <a:solidFill>
                      <a:srgbClr val="EFF3FA"/>
                    </a:solidFill>
                  </a:tcPr>
                </a:tc>
                <a:tc>
                  <a:txBody>
                    <a:bodyPr/>
                    <a:lstStyle/>
                    <a:p>
                      <a:r>
                        <a:rPr sz="1100" b="0">
                          <a:latin typeface="Calibri"/>
                        </a:rPr>
                        <a:t>R²=0.994</a:t>
                      </a:r>
                    </a:p>
                  </a:txBody>
                  <a:tcPr>
                    <a:solidFill>
                      <a:srgbClr val="EFF3FA"/>
                    </a:solidFill>
                  </a:tcPr>
                </a:tc>
                <a:tc>
                  <a:txBody>
                    <a:bodyPr/>
                    <a:lstStyle/>
                    <a:p>
                      <a:r>
                        <a:rPr sz="1100" b="0">
                          <a:latin typeface="Calibri"/>
                        </a:rPr>
                        <a:t>intercept PINNED to the measured idle floor</a:t>
                      </a:r>
                    </a:p>
                  </a:txBody>
                  <a:tcPr>
                    <a:solidFill>
                      <a:srgbClr val="EFF3FA"/>
                    </a:solidFill>
                  </a:tcPr>
                </a:tc>
                <a:extLst>
                  <a:ext uri="{0D108BD9-81ED-4DB2-BD59-A6C34878D82A}">
                    <a16:rowId xmlns:a16="http://schemas.microsoft.com/office/drawing/2014/main" val="10003"/>
                  </a:ext>
                </a:extLst>
              </a:tr>
            </a:tbl>
          </a:graphicData>
        </a:graphic>
      </p:graphicFrame>
      <p:sp>
        <p:nvSpPr>
          <p:cNvPr id="14" name="TextBox 13"/>
          <p:cNvSpPr txBox="1"/>
          <p:nvPr/>
        </p:nvSpPr>
        <p:spPr>
          <a:xfrm>
            <a:off x="548640" y="5120640"/>
            <a:ext cx="11064240" cy="584775"/>
          </a:xfrm>
          <a:prstGeom prst="rect">
            <a:avLst/>
          </a:prstGeom>
          <a:noFill/>
        </p:spPr>
        <p:txBody>
          <a:bodyPr wrap="square">
            <a:spAutoFit/>
          </a:bodyPr>
          <a:lstStyle/>
          <a:p>
            <a:pPr algn="ctr"/>
            <a:r>
              <a:rPr sz="1600" b="1" dirty="0">
                <a:solidFill>
                  <a:srgbClr val="B06000"/>
                </a:solidFill>
                <a:latin typeface="Calibri"/>
              </a:rPr>
              <a:t>⚠ The DRAM fit with the HIGHER R² is the more dangerous one: a quadratic scores 0.9984 but its negative BW² term predicts FALLING power above ~17 GB/s. The √ form costs 0.004 of R² and stays physical.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18872"/>
            <a:ext cx="11155680" cy="603504"/>
          </a:xfrm>
          <a:prstGeom prst="rect">
            <a:avLst/>
          </a:prstGeom>
          <a:noFill/>
        </p:spPr>
        <p:txBody>
          <a:bodyPr wrap="square">
            <a:spAutoFit/>
          </a:bodyPr>
          <a:lstStyle/>
          <a:p>
            <a:pPr algn="l"/>
            <a:r>
              <a:rPr sz="2600" b="1">
                <a:solidFill>
                  <a:srgbClr val="FFFFFF"/>
                </a:solidFill>
                <a:latin typeface="Calibri"/>
              </a:rPr>
              <a:t>Part 2 — The finding that changes the model</a:t>
            </a: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969264"/>
            <a:ext cx="11155680" cy="369332"/>
          </a:xfrm>
          <a:prstGeom prst="rect">
            <a:avLst/>
          </a:prstGeom>
          <a:noFill/>
        </p:spPr>
        <p:txBody>
          <a:bodyPr wrap="square">
            <a:spAutoFit/>
          </a:bodyPr>
          <a:lstStyle/>
          <a:p>
            <a:pPr algn="l"/>
            <a:r>
              <a:rPr b="0">
                <a:solidFill>
                  <a:srgbClr val="5F6368"/>
                </a:solidFill>
                <a:latin typeface="Calibri"/>
              </a:rPr>
              <a:t>We expected instruction count to drive core power. It does not.</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power · rails MEASURED on IMX95LPD5EVK-19 (NXP BCU) · A55 die 40–41 °C under load · activity DERIVED from QEMU TCG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7</a:t>
            </a:r>
          </a:p>
        </p:txBody>
      </p:sp>
      <p:sp>
        <p:nvSpPr>
          <p:cNvPr id="8" name="Rounded Rectangle 7"/>
          <p:cNvSpPr/>
          <p:nvPr/>
        </p:nvSpPr>
        <p:spPr>
          <a:xfrm>
            <a:off x="548640" y="1417320"/>
            <a:ext cx="11064240" cy="1234440"/>
          </a:xfrm>
          <a:prstGeom prst="roundRect">
            <a:avLst/>
          </a:prstGeom>
          <a:solidFill>
            <a:srgbClr val="EFF3FA"/>
          </a:solidFill>
          <a:ln w="19050">
            <a:solidFill>
              <a:srgbClr val="B314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536192"/>
            <a:ext cx="10515600" cy="384048"/>
          </a:xfrm>
          <a:prstGeom prst="rect">
            <a:avLst/>
          </a:prstGeom>
          <a:noFill/>
        </p:spPr>
        <p:txBody>
          <a:bodyPr wrap="square">
            <a:spAutoFit/>
          </a:bodyPr>
          <a:lstStyle/>
          <a:p>
            <a:pPr algn="l"/>
            <a:r>
              <a:rPr sz="1900" b="1">
                <a:solidFill>
                  <a:srgbClr val="B31412"/>
                </a:solidFill>
                <a:latin typeface="Consolas"/>
              </a:rPr>
              <a:t>instructions alone:  R² = 0.031        mean error 48%,  worst 149%</a:t>
            </a:r>
          </a:p>
        </p:txBody>
      </p:sp>
      <p:sp>
        <p:nvSpPr>
          <p:cNvPr id="10" name="TextBox 9"/>
          <p:cNvSpPr txBox="1"/>
          <p:nvPr/>
        </p:nvSpPr>
        <p:spPr>
          <a:xfrm>
            <a:off x="822960" y="1975104"/>
            <a:ext cx="10515600" cy="329184"/>
          </a:xfrm>
          <a:prstGeom prst="rect">
            <a:avLst/>
          </a:prstGeom>
          <a:noFill/>
        </p:spPr>
        <p:txBody>
          <a:bodyPr wrap="square">
            <a:spAutoFit/>
          </a:bodyPr>
          <a:lstStyle/>
          <a:p>
            <a:pPr algn="l"/>
            <a:r>
              <a:rPr sz="1400" b="1">
                <a:solidFill>
                  <a:srgbClr val="1A53A0"/>
                </a:solidFill>
                <a:latin typeface="Consolas"/>
              </a:rPr>
              <a:t>bandwidth alone: R² = 0.784          both + active cores: R² = 0.990,  mean error 3.6%</a:t>
            </a:r>
          </a:p>
        </p:txBody>
      </p:sp>
      <p:sp>
        <p:nvSpPr>
          <p:cNvPr id="11" name="TextBox 10"/>
          <p:cNvSpPr txBox="1"/>
          <p:nvPr/>
        </p:nvSpPr>
        <p:spPr>
          <a:xfrm>
            <a:off x="822960" y="2340864"/>
            <a:ext cx="10515600" cy="274320"/>
          </a:xfrm>
          <a:prstGeom prst="rect">
            <a:avLst/>
          </a:prstGeom>
          <a:noFill/>
        </p:spPr>
        <p:txBody>
          <a:bodyPr wrap="square">
            <a:spAutoFit/>
          </a:bodyPr>
          <a:lstStyle/>
          <a:p>
            <a:pPr algn="l"/>
            <a:r>
              <a:rPr sz="1150" b="1">
                <a:solidFill>
                  <a:srgbClr val="202124"/>
                </a:solidFill>
                <a:latin typeface="Calibri"/>
              </a:rPr>
              <a:t>An instructions-only model predicts 1197 mW where the board draws 481.</a:t>
            </a:r>
          </a:p>
        </p:txBody>
      </p:sp>
      <p:graphicFrame>
        <p:nvGraphicFramePr>
          <p:cNvPr id="12" name="Table 11"/>
          <p:cNvGraphicFramePr>
            <a:graphicFrameLocks noGrp="1"/>
          </p:cNvGraphicFramePr>
          <p:nvPr>
            <p:extLst>
              <p:ext uri="{D42A27DB-BD31-4B8C-83A1-F6EECF244321}">
                <p14:modId xmlns:p14="http://schemas.microsoft.com/office/powerpoint/2010/main" val="685418396"/>
              </p:ext>
            </p:extLst>
          </p:nvPr>
        </p:nvGraphicFramePr>
        <p:xfrm>
          <a:off x="548640" y="2834640"/>
          <a:ext cx="11064240" cy="23469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9052560">
                  <a:extLst>
                    <a:ext uri="{9D8B030D-6E8A-4147-A177-3AD203B41FA5}">
                      <a16:colId xmlns:a16="http://schemas.microsoft.com/office/drawing/2014/main" val="20001"/>
                    </a:ext>
                  </a:extLst>
                </a:gridCol>
              </a:tblGrid>
              <a:tr h="457200">
                <a:tc>
                  <a:txBody>
                    <a:bodyPr/>
                    <a:lstStyle/>
                    <a:p>
                      <a:r>
                        <a:rPr sz="1400" b="1" dirty="0">
                          <a:solidFill>
                            <a:srgbClr val="FFFFFF"/>
                          </a:solidFill>
                          <a:latin typeface="Calibri"/>
                        </a:rPr>
                        <a:t>aspect</a:t>
                      </a:r>
                    </a:p>
                  </a:txBody>
                  <a:tcPr>
                    <a:solidFill>
                      <a:srgbClr val="202124"/>
                    </a:solidFill>
                  </a:tcPr>
                </a:tc>
                <a:tc>
                  <a:txBody>
                    <a:bodyPr/>
                    <a:lstStyle/>
                    <a:p>
                      <a:r>
                        <a:rPr sz="1400" b="1">
                          <a:solidFill>
                            <a:srgbClr val="FFFFFF"/>
                          </a:solidFill>
                          <a:latin typeface="Calibri"/>
                        </a:rPr>
                        <a:t>detail</a:t>
                      </a:r>
                    </a:p>
                  </a:txBody>
                  <a:tcPr>
                    <a:solidFill>
                      <a:srgbClr val="202124"/>
                    </a:solidFill>
                  </a:tcPr>
                </a:tc>
                <a:extLst>
                  <a:ext uri="{0D108BD9-81ED-4DB2-BD59-A6C34878D82A}">
                    <a16:rowId xmlns:a16="http://schemas.microsoft.com/office/drawing/2014/main" val="10000"/>
                  </a:ext>
                </a:extLst>
              </a:tr>
              <a:tr h="457200">
                <a:tc>
                  <a:txBody>
                    <a:bodyPr/>
                    <a:lstStyle/>
                    <a:p>
                      <a:r>
                        <a:rPr sz="1400" b="1">
                          <a:latin typeface="Calibri"/>
                        </a:rPr>
                        <a:t>the observation</a:t>
                      </a:r>
                    </a:p>
                  </a:txBody>
                  <a:tcPr>
                    <a:solidFill>
                      <a:srgbClr val="EFF3FA"/>
                    </a:solidFill>
                  </a:tcPr>
                </a:tc>
                <a:tc>
                  <a:txBody>
                    <a:bodyPr/>
                    <a:lstStyle/>
                    <a:p>
                      <a:r>
                        <a:rPr sz="1400" b="0" dirty="0">
                          <a:latin typeface="Calibri"/>
                        </a:rPr>
                        <a:t>a memory-stalling workload drew 760 </a:t>
                      </a:r>
                      <a:r>
                        <a:rPr sz="1400" b="0" dirty="0" err="1">
                          <a:latin typeface="Calibri"/>
                        </a:rPr>
                        <a:t>mW</a:t>
                      </a:r>
                      <a:r>
                        <a:rPr sz="1400" b="0" dirty="0">
                          <a:latin typeface="Calibri"/>
                        </a:rPr>
                        <a:t> on the core rail; a compute workload retiring MORE instructions drew 474 </a:t>
                      </a:r>
                      <a:r>
                        <a:rPr sz="1400" b="0" dirty="0" err="1">
                          <a:latin typeface="Calibri"/>
                        </a:rPr>
                        <a:t>mW</a:t>
                      </a:r>
                      <a:endParaRPr sz="1400" b="0" dirty="0">
                        <a:latin typeface="Calibri"/>
                      </a:endParaRPr>
                    </a:p>
                  </a:txBody>
                  <a:tcPr>
                    <a:solidFill>
                      <a:srgbClr val="EFF3FA"/>
                    </a:solidFill>
                  </a:tcPr>
                </a:tc>
                <a:extLst>
                  <a:ext uri="{0D108BD9-81ED-4DB2-BD59-A6C34878D82A}">
                    <a16:rowId xmlns:a16="http://schemas.microsoft.com/office/drawing/2014/main" val="10001"/>
                  </a:ext>
                </a:extLst>
              </a:tr>
              <a:tr h="457200">
                <a:tc>
                  <a:txBody>
                    <a:bodyPr/>
                    <a:lstStyle/>
                    <a:p>
                      <a:r>
                        <a:rPr sz="1400" b="1">
                          <a:latin typeface="Calibri"/>
                        </a:rPr>
                        <a:t>why</a:t>
                      </a:r>
                    </a:p>
                  </a:txBody>
                  <a:tcPr>
                    <a:solidFill>
                      <a:srgbClr val="FFFFFF"/>
                    </a:solidFill>
                  </a:tcPr>
                </a:tc>
                <a:tc>
                  <a:txBody>
                    <a:bodyPr/>
                    <a:lstStyle/>
                    <a:p>
                      <a:r>
                        <a:rPr sz="1400" b="0" dirty="0">
                          <a:latin typeface="Calibri"/>
                        </a:rPr>
                        <a:t>a stalled core still burns clock trees, speculation, replayed loads, prefetchers and the L2/bus interface</a:t>
                      </a:r>
                    </a:p>
                  </a:txBody>
                  <a:tcPr>
                    <a:solidFill>
                      <a:srgbClr val="FFFFFF"/>
                    </a:solidFill>
                  </a:tcPr>
                </a:tc>
                <a:extLst>
                  <a:ext uri="{0D108BD9-81ED-4DB2-BD59-A6C34878D82A}">
                    <a16:rowId xmlns:a16="http://schemas.microsoft.com/office/drawing/2014/main" val="10002"/>
                  </a:ext>
                </a:extLst>
              </a:tr>
              <a:tr h="457200">
                <a:tc>
                  <a:txBody>
                    <a:bodyPr/>
                    <a:lstStyle/>
                    <a:p>
                      <a:r>
                        <a:rPr sz="1400" b="1">
                          <a:latin typeface="Calibri"/>
                        </a:rPr>
                        <a:t>confirmed twice</a:t>
                      </a:r>
                    </a:p>
                  </a:txBody>
                  <a:tcPr>
                    <a:solidFill>
                      <a:srgbClr val="EFF3FA"/>
                    </a:solidFill>
                  </a:tcPr>
                </a:tc>
                <a:tc>
                  <a:txBody>
                    <a:bodyPr/>
                    <a:lstStyle/>
                    <a:p>
                      <a:r>
                        <a:rPr sz="1400" b="0">
                          <a:latin typeface="Calibri"/>
                        </a:rPr>
                        <a:t>real Dhrystone vs real STREAM: vdd_arm ratio 1.02 — same core power, utterly different instruction mix</a:t>
                      </a:r>
                    </a:p>
                  </a:txBody>
                  <a:tcPr>
                    <a:solidFill>
                      <a:srgbClr val="EFF3FA"/>
                    </a:solidFill>
                  </a:tcPr>
                </a:tc>
                <a:extLst>
                  <a:ext uri="{0D108BD9-81ED-4DB2-BD59-A6C34878D82A}">
                    <a16:rowId xmlns:a16="http://schemas.microsoft.com/office/drawing/2014/main" val="10003"/>
                  </a:ext>
                </a:extLst>
              </a:tr>
              <a:tr h="457200">
                <a:tc>
                  <a:txBody>
                    <a:bodyPr/>
                    <a:lstStyle/>
                    <a:p>
                      <a:r>
                        <a:rPr sz="1400" b="1">
                          <a:latin typeface="Calibri"/>
                        </a:rPr>
                        <a:t>independent</a:t>
                      </a:r>
                    </a:p>
                  </a:txBody>
                  <a:tcPr>
                    <a:solidFill>
                      <a:srgbClr val="FFFFFF"/>
                    </a:solidFill>
                  </a:tcPr>
                </a:tc>
                <a:tc>
                  <a:txBody>
                    <a:bodyPr/>
                    <a:lstStyle/>
                    <a:p>
                      <a:r>
                        <a:rPr sz="1400" b="0" dirty="0">
                          <a:latin typeface="Calibri"/>
                        </a:rPr>
                        <a:t>Walker et al. (TCAD 2017) regressed PMCs against ODROID-XU3 per-cluster rails. Retired instruction count is NOT in their model either.</a:t>
                      </a:r>
                    </a:p>
                  </a:txBody>
                  <a:tcPr>
                    <a:solidFill>
                      <a:srgbClr val="FFFFFF"/>
                    </a:solidFill>
                  </a:tcPr>
                </a:tc>
                <a:extLst>
                  <a:ext uri="{0D108BD9-81ED-4DB2-BD59-A6C34878D82A}">
                    <a16:rowId xmlns:a16="http://schemas.microsoft.com/office/drawing/2014/main" val="10004"/>
                  </a:ext>
                </a:extLst>
              </a:tr>
            </a:tbl>
          </a:graphicData>
        </a:graphic>
      </p:graphicFrame>
      <p:sp>
        <p:nvSpPr>
          <p:cNvPr id="13" name="TextBox 12"/>
          <p:cNvSpPr txBox="1"/>
          <p:nvPr/>
        </p:nvSpPr>
        <p:spPr>
          <a:xfrm>
            <a:off x="640080" y="5257800"/>
            <a:ext cx="11064240" cy="646331"/>
          </a:xfrm>
          <a:prstGeom prst="rect">
            <a:avLst/>
          </a:prstGeom>
          <a:noFill/>
        </p:spPr>
        <p:txBody>
          <a:bodyPr wrap="square">
            <a:spAutoFit/>
          </a:bodyPr>
          <a:lstStyle/>
          <a:p>
            <a:pPr algn="ctr"/>
            <a:r>
              <a:rPr b="1" dirty="0">
                <a:solidFill>
                  <a:srgbClr val="187A33"/>
                </a:solidFill>
                <a:latin typeface="Calibri"/>
              </a:rPr>
              <a:t>Consequence: an activity factor built on instruction count alone MIS-RANKS exactly the memory-bound workloads that dominate a real power budget.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1249"/>
            <a:ext cx="11155680" cy="892552"/>
          </a:xfrm>
          <a:prstGeom prst="rect">
            <a:avLst/>
          </a:prstGeom>
          <a:noFill/>
        </p:spPr>
        <p:txBody>
          <a:bodyPr wrap="square">
            <a:spAutoFit/>
          </a:bodyPr>
          <a:lstStyle/>
          <a:p>
            <a:pPr algn="l"/>
            <a:r>
              <a:rPr sz="2600" b="1" dirty="0">
                <a:solidFill>
                  <a:srgbClr val="FFFFFF"/>
                </a:solidFill>
                <a:latin typeface="Calibri"/>
              </a:rPr>
              <a:t>Part 2 — The blind test, 50 applications</a:t>
            </a:r>
            <a:r>
              <a:rPr lang="en-US" sz="2600" b="1" dirty="0">
                <a:solidFill>
                  <a:srgbClr val="FFFFFF"/>
                </a:solidFill>
                <a:latin typeface="Calibri"/>
              </a:rPr>
              <a:t> – </a:t>
            </a:r>
            <a:br>
              <a:rPr lang="en-US" sz="2600" b="1" dirty="0">
                <a:solidFill>
                  <a:srgbClr val="FFFFFF"/>
                </a:solidFill>
                <a:latin typeface="Calibri"/>
              </a:rPr>
            </a:br>
            <a:r>
              <a:rPr lang="en-US" sz="2600" b="1" dirty="0">
                <a:solidFill>
                  <a:srgbClr val="FFFFFF"/>
                </a:solidFill>
                <a:latin typeface="Calibri"/>
              </a:rPr>
              <a:t>did QEMU accurately predict power run apps one at a time?</a:t>
            </a:r>
            <a:endParaRPr sz="2600" b="1" dirty="0">
              <a:solidFill>
                <a:srgbClr val="FFFFFF"/>
              </a:solidFill>
              <a:latin typeface="Calibri"/>
            </a:endParaRP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969264"/>
            <a:ext cx="11155680" cy="369332"/>
          </a:xfrm>
          <a:prstGeom prst="rect">
            <a:avLst/>
          </a:prstGeom>
          <a:noFill/>
        </p:spPr>
        <p:txBody>
          <a:bodyPr wrap="square">
            <a:spAutoFit/>
          </a:bodyPr>
          <a:lstStyle/>
          <a:p>
            <a:pPr algn="l"/>
            <a:r>
              <a:rPr b="0" dirty="0">
                <a:solidFill>
                  <a:srgbClr val="5F6368"/>
                </a:solidFill>
                <a:latin typeface="Calibri"/>
              </a:rPr>
              <a:t>Predictions committed to git before the board was touched. This is the headline result.</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power · rails MEASURED on IMX95LPD5EVK-19 (NXP BCU) · A55 die 40–41 °C under load · activity DERIVED from QEMU TCG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8</a:t>
            </a:r>
          </a:p>
        </p:txBody>
      </p:sp>
      <p:sp>
        <p:nvSpPr>
          <p:cNvPr id="8" name="TextBox 7"/>
          <p:cNvSpPr txBox="1"/>
          <p:nvPr/>
        </p:nvSpPr>
        <p:spPr>
          <a:xfrm>
            <a:off x="548640" y="1371600"/>
            <a:ext cx="11064240" cy="338554"/>
          </a:xfrm>
          <a:prstGeom prst="rect">
            <a:avLst/>
          </a:prstGeom>
          <a:noFill/>
        </p:spPr>
        <p:txBody>
          <a:bodyPr wrap="square">
            <a:spAutoFit/>
          </a:bodyPr>
          <a:lstStyle/>
          <a:p>
            <a:pPr algn="l"/>
            <a:r>
              <a:rPr sz="1600" b="1" dirty="0">
                <a:solidFill>
                  <a:srgbClr val="202124"/>
                </a:solidFill>
                <a:latin typeface="Calibri"/>
              </a:rPr>
              <a:t>Coefficients fitted on an 11-point synthetic alu/mem grid. None of these 50 applications appear in it.</a:t>
            </a:r>
          </a:p>
        </p:txBody>
      </p:sp>
      <p:graphicFrame>
        <p:nvGraphicFramePr>
          <p:cNvPr id="9" name="Table 8"/>
          <p:cNvGraphicFramePr>
            <a:graphicFrameLocks noGrp="1"/>
          </p:cNvGraphicFramePr>
          <p:nvPr>
            <p:extLst>
              <p:ext uri="{D42A27DB-BD31-4B8C-83A1-F6EECF244321}">
                <p14:modId xmlns:p14="http://schemas.microsoft.com/office/powerpoint/2010/main" val="3252473220"/>
              </p:ext>
            </p:extLst>
          </p:nvPr>
        </p:nvGraphicFramePr>
        <p:xfrm>
          <a:off x="548640" y="1828800"/>
          <a:ext cx="5486400" cy="402336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10896">
                <a:tc>
                  <a:txBody>
                    <a:bodyPr/>
                    <a:lstStyle/>
                    <a:p>
                      <a:r>
                        <a:rPr sz="1800" b="1">
                          <a:solidFill>
                            <a:srgbClr val="FFFFFF"/>
                          </a:solidFill>
                          <a:latin typeface="Calibri"/>
                        </a:rPr>
                        <a:t>application</a:t>
                      </a:r>
                    </a:p>
                  </a:txBody>
                  <a:tcPr>
                    <a:solidFill>
                      <a:srgbClr val="202124"/>
                    </a:solidFill>
                  </a:tcPr>
                </a:tc>
                <a:tc>
                  <a:txBody>
                    <a:bodyPr/>
                    <a:lstStyle/>
                    <a:p>
                      <a:r>
                        <a:rPr sz="1800" b="1">
                          <a:solidFill>
                            <a:srgbClr val="FFFFFF"/>
                          </a:solidFill>
                          <a:latin typeface="Calibri"/>
                        </a:rPr>
                        <a:t>pred mW</a:t>
                      </a:r>
                    </a:p>
                  </a:txBody>
                  <a:tcPr>
                    <a:solidFill>
                      <a:srgbClr val="202124"/>
                    </a:solidFill>
                  </a:tcPr>
                </a:tc>
                <a:tc>
                  <a:txBody>
                    <a:bodyPr/>
                    <a:lstStyle/>
                    <a:p>
                      <a:r>
                        <a:rPr sz="1800" b="1">
                          <a:solidFill>
                            <a:srgbClr val="FFFFFF"/>
                          </a:solidFill>
                          <a:latin typeface="Calibri"/>
                        </a:rPr>
                        <a:t>meas mW</a:t>
                      </a:r>
                    </a:p>
                  </a:txBody>
                  <a:tcPr>
                    <a:solidFill>
                      <a:srgbClr val="202124"/>
                    </a:solidFill>
                  </a:tcPr>
                </a:tc>
                <a:tc>
                  <a:txBody>
                    <a:bodyPr/>
                    <a:lstStyle/>
                    <a:p>
                      <a:r>
                        <a:rPr sz="1800" b="1">
                          <a:solidFill>
                            <a:srgbClr val="FFFFFF"/>
                          </a:solidFill>
                          <a:latin typeface="Calibri"/>
                        </a:rPr>
                        <a:t>err</a:t>
                      </a:r>
                    </a:p>
                  </a:txBody>
                  <a:tcPr>
                    <a:solidFill>
                      <a:srgbClr val="202124"/>
                    </a:solidFill>
                  </a:tcPr>
                </a:tc>
                <a:extLst>
                  <a:ext uri="{0D108BD9-81ED-4DB2-BD59-A6C34878D82A}">
                    <a16:rowId xmlns:a16="http://schemas.microsoft.com/office/drawing/2014/main" val="10000"/>
                  </a:ext>
                </a:extLst>
              </a:tr>
              <a:tr h="310896">
                <a:tc>
                  <a:txBody>
                    <a:bodyPr/>
                    <a:lstStyle/>
                    <a:p>
                      <a:r>
                        <a:rPr sz="1800" b="1">
                          <a:latin typeface="Calibri"/>
                        </a:rPr>
                        <a:t>mem-w</a:t>
                      </a:r>
                    </a:p>
                  </a:txBody>
                  <a:tcPr>
                    <a:solidFill>
                      <a:srgbClr val="EFF3FA"/>
                    </a:solidFill>
                  </a:tcPr>
                </a:tc>
                <a:tc>
                  <a:txBody>
                    <a:bodyPr/>
                    <a:lstStyle/>
                    <a:p>
                      <a:r>
                        <a:rPr sz="1800" b="0">
                          <a:latin typeface="Calibri"/>
                        </a:rPr>
                        <a:t>1744</a:t>
                      </a:r>
                    </a:p>
                  </a:txBody>
                  <a:tcPr>
                    <a:solidFill>
                      <a:srgbClr val="EFF3FA"/>
                    </a:solidFill>
                  </a:tcPr>
                </a:tc>
                <a:tc>
                  <a:txBody>
                    <a:bodyPr/>
                    <a:lstStyle/>
                    <a:p>
                      <a:r>
                        <a:rPr sz="1800" b="0">
                          <a:latin typeface="Calibri"/>
                        </a:rPr>
                        <a:t>1795</a:t>
                      </a:r>
                    </a:p>
                  </a:txBody>
                  <a:tcPr>
                    <a:solidFill>
                      <a:srgbClr val="EFF3FA"/>
                    </a:solidFill>
                  </a:tcPr>
                </a:tc>
                <a:tc>
                  <a:txBody>
                    <a:bodyPr/>
                    <a:lstStyle/>
                    <a:p>
                      <a:r>
                        <a:rPr sz="1800" b="0">
                          <a:solidFill>
                            <a:srgbClr val="187A33"/>
                          </a:solidFill>
                          <a:latin typeface="Calibri"/>
                        </a:rPr>
                        <a:t>3%</a:t>
                      </a:r>
                    </a:p>
                  </a:txBody>
                  <a:tcPr>
                    <a:solidFill>
                      <a:srgbClr val="EFF3FA"/>
                    </a:solidFill>
                  </a:tcPr>
                </a:tc>
                <a:extLst>
                  <a:ext uri="{0D108BD9-81ED-4DB2-BD59-A6C34878D82A}">
                    <a16:rowId xmlns:a16="http://schemas.microsoft.com/office/drawing/2014/main" val="10001"/>
                  </a:ext>
                </a:extLst>
              </a:tr>
              <a:tr h="310896">
                <a:tc>
                  <a:txBody>
                    <a:bodyPr/>
                    <a:lstStyle/>
                    <a:p>
                      <a:r>
                        <a:rPr sz="1800" b="1" dirty="0">
                          <a:latin typeface="Calibri"/>
                        </a:rPr>
                        <a:t>mem</a:t>
                      </a:r>
                    </a:p>
                  </a:txBody>
                  <a:tcPr>
                    <a:solidFill>
                      <a:srgbClr val="FFFFFF"/>
                    </a:solidFill>
                  </a:tcPr>
                </a:tc>
                <a:tc>
                  <a:txBody>
                    <a:bodyPr/>
                    <a:lstStyle/>
                    <a:p>
                      <a:r>
                        <a:rPr sz="1800" b="0">
                          <a:latin typeface="Calibri"/>
                        </a:rPr>
                        <a:t>1771</a:t>
                      </a:r>
                    </a:p>
                  </a:txBody>
                  <a:tcPr>
                    <a:solidFill>
                      <a:srgbClr val="FFFFFF"/>
                    </a:solidFill>
                  </a:tcPr>
                </a:tc>
                <a:tc>
                  <a:txBody>
                    <a:bodyPr/>
                    <a:lstStyle/>
                    <a:p>
                      <a:r>
                        <a:rPr sz="1800" b="0">
                          <a:latin typeface="Calibri"/>
                        </a:rPr>
                        <a:t>1767</a:t>
                      </a:r>
                    </a:p>
                  </a:txBody>
                  <a:tcPr>
                    <a:solidFill>
                      <a:srgbClr val="FFFFFF"/>
                    </a:solidFill>
                  </a:tcPr>
                </a:tc>
                <a:tc>
                  <a:txBody>
                    <a:bodyPr/>
                    <a:lstStyle/>
                    <a:p>
                      <a:r>
                        <a:rPr sz="1800" b="0">
                          <a:solidFill>
                            <a:srgbClr val="187A33"/>
                          </a:solidFill>
                          <a:latin typeface="Calibri"/>
                        </a:rPr>
                        <a:t>0%</a:t>
                      </a:r>
                    </a:p>
                  </a:txBody>
                  <a:tcPr>
                    <a:solidFill>
                      <a:srgbClr val="FFFFFF"/>
                    </a:solidFill>
                  </a:tcPr>
                </a:tc>
                <a:extLst>
                  <a:ext uri="{0D108BD9-81ED-4DB2-BD59-A6C34878D82A}">
                    <a16:rowId xmlns:a16="http://schemas.microsoft.com/office/drawing/2014/main" val="10002"/>
                  </a:ext>
                </a:extLst>
              </a:tr>
              <a:tr h="310896">
                <a:tc>
                  <a:txBody>
                    <a:bodyPr/>
                    <a:lstStyle/>
                    <a:p>
                      <a:r>
                        <a:rPr sz="1800" b="1">
                          <a:latin typeface="Calibri"/>
                        </a:rPr>
                        <a:t>sgm</a:t>
                      </a:r>
                    </a:p>
                  </a:txBody>
                  <a:tcPr>
                    <a:solidFill>
                      <a:srgbClr val="EFF3FA"/>
                    </a:solidFill>
                  </a:tcPr>
                </a:tc>
                <a:tc>
                  <a:txBody>
                    <a:bodyPr/>
                    <a:lstStyle/>
                    <a:p>
                      <a:r>
                        <a:rPr sz="1800" b="0">
                          <a:latin typeface="Calibri"/>
                        </a:rPr>
                        <a:t>1375</a:t>
                      </a:r>
                    </a:p>
                  </a:txBody>
                  <a:tcPr>
                    <a:solidFill>
                      <a:srgbClr val="EFF3FA"/>
                    </a:solidFill>
                  </a:tcPr>
                </a:tc>
                <a:tc>
                  <a:txBody>
                    <a:bodyPr/>
                    <a:lstStyle/>
                    <a:p>
                      <a:r>
                        <a:rPr sz="1800" b="0">
                          <a:latin typeface="Calibri"/>
                        </a:rPr>
                        <a:t>1614</a:t>
                      </a:r>
                    </a:p>
                  </a:txBody>
                  <a:tcPr>
                    <a:solidFill>
                      <a:srgbClr val="EFF3FA"/>
                    </a:solidFill>
                  </a:tcPr>
                </a:tc>
                <a:tc>
                  <a:txBody>
                    <a:bodyPr/>
                    <a:lstStyle/>
                    <a:p>
                      <a:r>
                        <a:rPr sz="1800" b="0">
                          <a:solidFill>
                            <a:srgbClr val="B31412"/>
                          </a:solidFill>
                          <a:latin typeface="Calibri"/>
                        </a:rPr>
                        <a:t>15%</a:t>
                      </a:r>
                    </a:p>
                  </a:txBody>
                  <a:tcPr>
                    <a:solidFill>
                      <a:srgbClr val="EFF3FA"/>
                    </a:solidFill>
                  </a:tcPr>
                </a:tc>
                <a:extLst>
                  <a:ext uri="{0D108BD9-81ED-4DB2-BD59-A6C34878D82A}">
                    <a16:rowId xmlns:a16="http://schemas.microsoft.com/office/drawing/2014/main" val="10003"/>
                  </a:ext>
                </a:extLst>
              </a:tr>
              <a:tr h="310896">
                <a:tc>
                  <a:txBody>
                    <a:bodyPr/>
                    <a:lstStyle/>
                    <a:p>
                      <a:r>
                        <a:rPr sz="1800" b="1">
                          <a:latin typeface="Calibri"/>
                        </a:rPr>
                        <a:t>lz4-fast</a:t>
                      </a:r>
                    </a:p>
                  </a:txBody>
                  <a:tcPr>
                    <a:solidFill>
                      <a:srgbClr val="FFFFFF"/>
                    </a:solidFill>
                  </a:tcPr>
                </a:tc>
                <a:tc>
                  <a:txBody>
                    <a:bodyPr/>
                    <a:lstStyle/>
                    <a:p>
                      <a:r>
                        <a:rPr sz="1800" b="0">
                          <a:latin typeface="Calibri"/>
                        </a:rPr>
                        <a:t>1359</a:t>
                      </a:r>
                    </a:p>
                  </a:txBody>
                  <a:tcPr>
                    <a:solidFill>
                      <a:srgbClr val="FFFFFF"/>
                    </a:solidFill>
                  </a:tcPr>
                </a:tc>
                <a:tc>
                  <a:txBody>
                    <a:bodyPr/>
                    <a:lstStyle/>
                    <a:p>
                      <a:r>
                        <a:rPr sz="1800" b="0">
                          <a:latin typeface="Calibri"/>
                        </a:rPr>
                        <a:t>1565</a:t>
                      </a:r>
                    </a:p>
                  </a:txBody>
                  <a:tcPr>
                    <a:solidFill>
                      <a:srgbClr val="FFFFFF"/>
                    </a:solidFill>
                  </a:tcPr>
                </a:tc>
                <a:tc>
                  <a:txBody>
                    <a:bodyPr/>
                    <a:lstStyle/>
                    <a:p>
                      <a:r>
                        <a:rPr sz="1800" b="0">
                          <a:solidFill>
                            <a:srgbClr val="B31412"/>
                          </a:solidFill>
                          <a:latin typeface="Calibri"/>
                        </a:rPr>
                        <a:t>13%</a:t>
                      </a:r>
                    </a:p>
                  </a:txBody>
                  <a:tcPr>
                    <a:solidFill>
                      <a:srgbClr val="FFFFFF"/>
                    </a:solidFill>
                  </a:tcPr>
                </a:tc>
                <a:extLst>
                  <a:ext uri="{0D108BD9-81ED-4DB2-BD59-A6C34878D82A}">
                    <a16:rowId xmlns:a16="http://schemas.microsoft.com/office/drawing/2014/main" val="10004"/>
                  </a:ext>
                </a:extLst>
              </a:tr>
              <a:tr h="310896">
                <a:tc>
                  <a:txBody>
                    <a:bodyPr/>
                    <a:lstStyle/>
                    <a:p>
                      <a:r>
                        <a:rPr sz="1800" b="1">
                          <a:latin typeface="Calibri"/>
                        </a:rPr>
                        <a:t>mm-big</a:t>
                      </a:r>
                    </a:p>
                  </a:txBody>
                  <a:tcPr>
                    <a:solidFill>
                      <a:srgbClr val="EFF3FA"/>
                    </a:solidFill>
                  </a:tcPr>
                </a:tc>
                <a:tc>
                  <a:txBody>
                    <a:bodyPr/>
                    <a:lstStyle/>
                    <a:p>
                      <a:r>
                        <a:rPr sz="1800" b="0">
                          <a:latin typeface="Calibri"/>
                        </a:rPr>
                        <a:t>1449</a:t>
                      </a:r>
                    </a:p>
                  </a:txBody>
                  <a:tcPr>
                    <a:solidFill>
                      <a:srgbClr val="EFF3FA"/>
                    </a:solidFill>
                  </a:tcPr>
                </a:tc>
                <a:tc>
                  <a:txBody>
                    <a:bodyPr/>
                    <a:lstStyle/>
                    <a:p>
                      <a:r>
                        <a:rPr sz="1800" b="0">
                          <a:latin typeface="Calibri"/>
                        </a:rPr>
                        <a:t>1558</a:t>
                      </a:r>
                    </a:p>
                  </a:txBody>
                  <a:tcPr>
                    <a:solidFill>
                      <a:srgbClr val="EFF3FA"/>
                    </a:solidFill>
                  </a:tcPr>
                </a:tc>
                <a:tc>
                  <a:txBody>
                    <a:bodyPr/>
                    <a:lstStyle/>
                    <a:p>
                      <a:r>
                        <a:rPr sz="1800" b="0">
                          <a:solidFill>
                            <a:srgbClr val="B06000"/>
                          </a:solidFill>
                          <a:latin typeface="Calibri"/>
                        </a:rPr>
                        <a:t>7%</a:t>
                      </a:r>
                    </a:p>
                  </a:txBody>
                  <a:tcPr>
                    <a:solidFill>
                      <a:srgbClr val="EFF3FA"/>
                    </a:solidFill>
                  </a:tcPr>
                </a:tc>
                <a:extLst>
                  <a:ext uri="{0D108BD9-81ED-4DB2-BD59-A6C34878D82A}">
                    <a16:rowId xmlns:a16="http://schemas.microsoft.com/office/drawing/2014/main" val="10005"/>
                  </a:ext>
                </a:extLst>
              </a:tr>
              <a:tr h="310896">
                <a:tc>
                  <a:txBody>
                    <a:bodyPr/>
                    <a:lstStyle/>
                    <a:p>
                      <a:r>
                        <a:rPr sz="1800" b="1">
                          <a:latin typeface="Calibri"/>
                        </a:rPr>
                        <a:t>lz4</a:t>
                      </a:r>
                    </a:p>
                  </a:txBody>
                  <a:tcPr>
                    <a:solidFill>
                      <a:srgbClr val="FFFFFF"/>
                    </a:solidFill>
                  </a:tcPr>
                </a:tc>
                <a:tc>
                  <a:txBody>
                    <a:bodyPr/>
                    <a:lstStyle/>
                    <a:p>
                      <a:r>
                        <a:rPr sz="1800" b="0">
                          <a:latin typeface="Calibri"/>
                        </a:rPr>
                        <a:t>1342</a:t>
                      </a:r>
                    </a:p>
                  </a:txBody>
                  <a:tcPr>
                    <a:solidFill>
                      <a:srgbClr val="FFFFFF"/>
                    </a:solidFill>
                  </a:tcPr>
                </a:tc>
                <a:tc>
                  <a:txBody>
                    <a:bodyPr/>
                    <a:lstStyle/>
                    <a:p>
                      <a:r>
                        <a:rPr sz="1800" b="0">
                          <a:latin typeface="Calibri"/>
                        </a:rPr>
                        <a:t>1529</a:t>
                      </a:r>
                    </a:p>
                  </a:txBody>
                  <a:tcPr>
                    <a:solidFill>
                      <a:srgbClr val="FFFFFF"/>
                    </a:solidFill>
                  </a:tcPr>
                </a:tc>
                <a:tc>
                  <a:txBody>
                    <a:bodyPr/>
                    <a:lstStyle/>
                    <a:p>
                      <a:r>
                        <a:rPr sz="1800" b="0">
                          <a:solidFill>
                            <a:srgbClr val="B31412"/>
                          </a:solidFill>
                          <a:latin typeface="Calibri"/>
                        </a:rPr>
                        <a:t>12%</a:t>
                      </a:r>
                    </a:p>
                  </a:txBody>
                  <a:tcPr>
                    <a:solidFill>
                      <a:srgbClr val="FFFFFF"/>
                    </a:solidFill>
                  </a:tcPr>
                </a:tc>
                <a:extLst>
                  <a:ext uri="{0D108BD9-81ED-4DB2-BD59-A6C34878D82A}">
                    <a16:rowId xmlns:a16="http://schemas.microsoft.com/office/drawing/2014/main" val="10006"/>
                  </a:ext>
                </a:extLst>
              </a:tr>
              <a:tr h="310896">
                <a:tc>
                  <a:txBody>
                    <a:bodyPr/>
                    <a:lstStyle/>
                    <a:p>
                      <a:r>
                        <a:rPr sz="1800" b="1">
                          <a:latin typeface="Calibri"/>
                        </a:rPr>
                        <a:t>chase</a:t>
                      </a:r>
                    </a:p>
                  </a:txBody>
                  <a:tcPr>
                    <a:solidFill>
                      <a:srgbClr val="EFF3FA"/>
                    </a:solidFill>
                  </a:tcPr>
                </a:tc>
                <a:tc>
                  <a:txBody>
                    <a:bodyPr/>
                    <a:lstStyle/>
                    <a:p>
                      <a:r>
                        <a:rPr sz="1800" b="0">
                          <a:latin typeface="Calibri"/>
                        </a:rPr>
                        <a:t>1304</a:t>
                      </a:r>
                    </a:p>
                  </a:txBody>
                  <a:tcPr>
                    <a:solidFill>
                      <a:srgbClr val="EFF3FA"/>
                    </a:solidFill>
                  </a:tcPr>
                </a:tc>
                <a:tc>
                  <a:txBody>
                    <a:bodyPr/>
                    <a:lstStyle/>
                    <a:p>
                      <a:r>
                        <a:rPr sz="1800" b="0">
                          <a:latin typeface="Calibri"/>
                        </a:rPr>
                        <a:t>1295</a:t>
                      </a:r>
                    </a:p>
                  </a:txBody>
                  <a:tcPr>
                    <a:solidFill>
                      <a:srgbClr val="EFF3FA"/>
                    </a:solidFill>
                  </a:tcPr>
                </a:tc>
                <a:tc>
                  <a:txBody>
                    <a:bodyPr/>
                    <a:lstStyle/>
                    <a:p>
                      <a:r>
                        <a:rPr sz="1800" b="0">
                          <a:solidFill>
                            <a:srgbClr val="187A33"/>
                          </a:solidFill>
                          <a:latin typeface="Calibri"/>
                        </a:rPr>
                        <a:t>1%</a:t>
                      </a:r>
                    </a:p>
                  </a:txBody>
                  <a:tcPr>
                    <a:solidFill>
                      <a:srgbClr val="EFF3FA"/>
                    </a:solidFill>
                  </a:tcPr>
                </a:tc>
                <a:extLst>
                  <a:ext uri="{0D108BD9-81ED-4DB2-BD59-A6C34878D82A}">
                    <a16:rowId xmlns:a16="http://schemas.microsoft.com/office/drawing/2014/main" val="10007"/>
                  </a:ext>
                </a:extLst>
              </a:tr>
              <a:tr h="310896">
                <a:tc>
                  <a:txBody>
                    <a:bodyPr/>
                    <a:lstStyle/>
                    <a:p>
                      <a:r>
                        <a:rPr sz="1800" b="1">
                          <a:latin typeface="Calibri"/>
                        </a:rPr>
                        <a:t>chase-big</a:t>
                      </a:r>
                    </a:p>
                  </a:txBody>
                  <a:tcPr>
                    <a:solidFill>
                      <a:srgbClr val="FFFFFF"/>
                    </a:solidFill>
                  </a:tcPr>
                </a:tc>
                <a:tc>
                  <a:txBody>
                    <a:bodyPr/>
                    <a:lstStyle/>
                    <a:p>
                      <a:r>
                        <a:rPr sz="1800" b="0">
                          <a:latin typeface="Calibri"/>
                        </a:rPr>
                        <a:t>1306</a:t>
                      </a:r>
                    </a:p>
                  </a:txBody>
                  <a:tcPr>
                    <a:solidFill>
                      <a:srgbClr val="FFFFFF"/>
                    </a:solidFill>
                  </a:tcPr>
                </a:tc>
                <a:tc>
                  <a:txBody>
                    <a:bodyPr/>
                    <a:lstStyle/>
                    <a:p>
                      <a:r>
                        <a:rPr sz="1800" b="0">
                          <a:latin typeface="Calibri"/>
                        </a:rPr>
                        <a:t>1314</a:t>
                      </a:r>
                    </a:p>
                  </a:txBody>
                  <a:tcPr>
                    <a:solidFill>
                      <a:srgbClr val="FFFFFF"/>
                    </a:solidFill>
                  </a:tcPr>
                </a:tc>
                <a:tc>
                  <a:txBody>
                    <a:bodyPr/>
                    <a:lstStyle/>
                    <a:p>
                      <a:r>
                        <a:rPr sz="1800" b="0">
                          <a:solidFill>
                            <a:srgbClr val="187A33"/>
                          </a:solidFill>
                          <a:latin typeface="Calibri"/>
                        </a:rPr>
                        <a:t>1%</a:t>
                      </a:r>
                    </a:p>
                  </a:txBody>
                  <a:tcPr>
                    <a:solidFill>
                      <a:srgbClr val="FFFFFF"/>
                    </a:solidFill>
                  </a:tcPr>
                </a:tc>
                <a:extLst>
                  <a:ext uri="{0D108BD9-81ED-4DB2-BD59-A6C34878D82A}">
                    <a16:rowId xmlns:a16="http://schemas.microsoft.com/office/drawing/2014/main" val="10008"/>
                  </a:ext>
                </a:extLst>
              </a:tr>
              <a:tr h="310896">
                <a:tc>
                  <a:txBody>
                    <a:bodyPr/>
                    <a:lstStyle/>
                    <a:p>
                      <a:r>
                        <a:rPr sz="1800" b="1">
                          <a:latin typeface="Calibri"/>
                        </a:rPr>
                        <a:t>alu</a:t>
                      </a:r>
                    </a:p>
                  </a:txBody>
                  <a:tcPr>
                    <a:solidFill>
                      <a:srgbClr val="EFF3FA"/>
                    </a:solidFill>
                  </a:tcPr>
                </a:tc>
                <a:tc>
                  <a:txBody>
                    <a:bodyPr/>
                    <a:lstStyle/>
                    <a:p>
                      <a:r>
                        <a:rPr sz="1800" b="0">
                          <a:latin typeface="Calibri"/>
                        </a:rPr>
                        <a:t>1342</a:t>
                      </a:r>
                    </a:p>
                  </a:txBody>
                  <a:tcPr>
                    <a:solidFill>
                      <a:srgbClr val="EFF3FA"/>
                    </a:solidFill>
                  </a:tcPr>
                </a:tc>
                <a:tc>
                  <a:txBody>
                    <a:bodyPr/>
                    <a:lstStyle/>
                    <a:p>
                      <a:r>
                        <a:rPr sz="1800" b="0">
                          <a:latin typeface="Calibri"/>
                        </a:rPr>
                        <a:t>1355</a:t>
                      </a:r>
                    </a:p>
                  </a:txBody>
                  <a:tcPr>
                    <a:solidFill>
                      <a:srgbClr val="EFF3FA"/>
                    </a:solidFill>
                  </a:tcPr>
                </a:tc>
                <a:tc>
                  <a:txBody>
                    <a:bodyPr/>
                    <a:lstStyle/>
                    <a:p>
                      <a:r>
                        <a:rPr sz="1800" b="0">
                          <a:solidFill>
                            <a:srgbClr val="187A33"/>
                          </a:solidFill>
                          <a:latin typeface="Calibri"/>
                        </a:rPr>
                        <a:t>1%</a:t>
                      </a:r>
                    </a:p>
                  </a:txBody>
                  <a:tcPr>
                    <a:solidFill>
                      <a:srgbClr val="EFF3FA"/>
                    </a:solidFill>
                  </a:tcPr>
                </a:tc>
                <a:extLst>
                  <a:ext uri="{0D108BD9-81ED-4DB2-BD59-A6C34878D82A}">
                    <a16:rowId xmlns:a16="http://schemas.microsoft.com/office/drawing/2014/main" val="10009"/>
                  </a:ext>
                </a:extLst>
              </a:tr>
              <a:tr h="310896">
                <a:tc>
                  <a:txBody>
                    <a:bodyPr/>
                    <a:lstStyle/>
                    <a:p>
                      <a:r>
                        <a:rPr sz="1800" b="1">
                          <a:latin typeface="Calibri"/>
                        </a:rPr>
                        <a:t>rd-ray</a:t>
                      </a:r>
                    </a:p>
                  </a:txBody>
                  <a:tcPr>
                    <a:solidFill>
                      <a:srgbClr val="FFFFFF"/>
                    </a:solidFill>
                  </a:tcPr>
                </a:tc>
                <a:tc>
                  <a:txBody>
                    <a:bodyPr/>
                    <a:lstStyle/>
                    <a:p>
                      <a:r>
                        <a:rPr sz="1800" b="0">
                          <a:latin typeface="Calibri"/>
                        </a:rPr>
                        <a:t>1289</a:t>
                      </a:r>
                    </a:p>
                  </a:txBody>
                  <a:tcPr>
                    <a:solidFill>
                      <a:srgbClr val="FFFFFF"/>
                    </a:solidFill>
                  </a:tcPr>
                </a:tc>
                <a:tc>
                  <a:txBody>
                    <a:bodyPr/>
                    <a:lstStyle/>
                    <a:p>
                      <a:r>
                        <a:rPr sz="1800" b="0">
                          <a:latin typeface="Calibri"/>
                        </a:rPr>
                        <a:t>1367</a:t>
                      </a:r>
                    </a:p>
                  </a:txBody>
                  <a:tcPr>
                    <a:solidFill>
                      <a:srgbClr val="FFFFFF"/>
                    </a:solidFill>
                  </a:tcPr>
                </a:tc>
                <a:tc>
                  <a:txBody>
                    <a:bodyPr/>
                    <a:lstStyle/>
                    <a:p>
                      <a:r>
                        <a:rPr sz="1800" b="0" dirty="0">
                          <a:solidFill>
                            <a:srgbClr val="B06000"/>
                          </a:solidFill>
                          <a:latin typeface="Calibri"/>
                        </a:rPr>
                        <a:t>6%</a:t>
                      </a:r>
                    </a:p>
                  </a:txBody>
                  <a:tcPr>
                    <a:solidFill>
                      <a:srgbClr val="FFFFFF"/>
                    </a:solidFill>
                  </a:tcPr>
                </a:tc>
                <a:extLst>
                  <a:ext uri="{0D108BD9-81ED-4DB2-BD59-A6C34878D82A}">
                    <a16:rowId xmlns:a16="http://schemas.microsoft.com/office/drawing/2014/main" val="10010"/>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3221436279"/>
              </p:ext>
            </p:extLst>
          </p:nvPr>
        </p:nvGraphicFramePr>
        <p:xfrm>
          <a:off x="6400800" y="1828800"/>
          <a:ext cx="5212080" cy="2304288"/>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384048">
                <a:tc>
                  <a:txBody>
                    <a:bodyPr/>
                    <a:lstStyle/>
                    <a:p>
                      <a:r>
                        <a:rPr sz="1800" b="1" dirty="0">
                          <a:solidFill>
                            <a:srgbClr val="FFFFFF"/>
                          </a:solidFill>
                          <a:latin typeface="Calibri"/>
                        </a:rPr>
                        <a:t>prediction error</a:t>
                      </a:r>
                      <a:r>
                        <a:rPr lang="en-US" sz="1800" b="1" dirty="0">
                          <a:solidFill>
                            <a:srgbClr val="FFFFFF"/>
                          </a:solidFill>
                          <a:latin typeface="Calibri"/>
                        </a:rPr>
                        <a:t> </a:t>
                      </a:r>
                      <a:endParaRPr sz="1800" b="1" dirty="0">
                        <a:solidFill>
                          <a:srgbClr val="FFFFFF"/>
                        </a:solidFill>
                        <a:latin typeface="Calibri"/>
                      </a:endParaRPr>
                    </a:p>
                  </a:txBody>
                  <a:tcPr>
                    <a:solidFill>
                      <a:srgbClr val="202124"/>
                    </a:solidFill>
                  </a:tcPr>
                </a:tc>
                <a:tc>
                  <a:txBody>
                    <a:bodyPr/>
                    <a:lstStyle/>
                    <a:p>
                      <a:r>
                        <a:rPr sz="1800" b="1">
                          <a:solidFill>
                            <a:srgbClr val="FFFFFF"/>
                          </a:solidFill>
                          <a:latin typeface="Calibri"/>
                        </a:rPr>
                        <a:t>value</a:t>
                      </a:r>
                    </a:p>
                  </a:txBody>
                  <a:tcPr>
                    <a:solidFill>
                      <a:srgbClr val="202124"/>
                    </a:solidFill>
                  </a:tcPr>
                </a:tc>
                <a:extLst>
                  <a:ext uri="{0D108BD9-81ED-4DB2-BD59-A6C34878D82A}">
                    <a16:rowId xmlns:a16="http://schemas.microsoft.com/office/drawing/2014/main" val="10000"/>
                  </a:ext>
                </a:extLst>
              </a:tr>
              <a:tr h="384048">
                <a:tc>
                  <a:txBody>
                    <a:bodyPr/>
                    <a:lstStyle/>
                    <a:p>
                      <a:r>
                        <a:rPr sz="1800" b="1" dirty="0">
                          <a:latin typeface="Calibri"/>
                        </a:rPr>
                        <a:t>MAPE, total power</a:t>
                      </a:r>
                    </a:p>
                  </a:txBody>
                  <a:tcPr>
                    <a:solidFill>
                      <a:srgbClr val="EFF3FA"/>
                    </a:solidFill>
                  </a:tcPr>
                </a:tc>
                <a:tc>
                  <a:txBody>
                    <a:bodyPr/>
                    <a:lstStyle/>
                    <a:p>
                      <a:r>
                        <a:rPr sz="1800" b="1">
                          <a:latin typeface="Calibri"/>
                        </a:rPr>
                        <a:t>6.4%</a:t>
                      </a:r>
                    </a:p>
                  </a:txBody>
                  <a:tcPr>
                    <a:solidFill>
                      <a:srgbClr val="EFF3FA"/>
                    </a:solidFill>
                  </a:tcPr>
                </a:tc>
                <a:extLst>
                  <a:ext uri="{0D108BD9-81ED-4DB2-BD59-A6C34878D82A}">
                    <a16:rowId xmlns:a16="http://schemas.microsoft.com/office/drawing/2014/main" val="10001"/>
                  </a:ext>
                </a:extLst>
              </a:tr>
              <a:tr h="384048">
                <a:tc>
                  <a:txBody>
                    <a:bodyPr/>
                    <a:lstStyle/>
                    <a:p>
                      <a:r>
                        <a:rPr sz="1800" b="1">
                          <a:latin typeface="Calibri"/>
                        </a:rPr>
                        <a:t>median</a:t>
                      </a:r>
                    </a:p>
                  </a:txBody>
                  <a:tcPr>
                    <a:solidFill>
                      <a:srgbClr val="FFFFFF"/>
                    </a:solidFill>
                  </a:tcPr>
                </a:tc>
                <a:tc>
                  <a:txBody>
                    <a:bodyPr/>
                    <a:lstStyle/>
                    <a:p>
                      <a:r>
                        <a:rPr sz="1800" b="1">
                          <a:latin typeface="Calibri"/>
                        </a:rPr>
                        <a:t>6.5%</a:t>
                      </a:r>
                    </a:p>
                  </a:txBody>
                  <a:tcPr>
                    <a:solidFill>
                      <a:srgbClr val="FFFFFF"/>
                    </a:solidFill>
                  </a:tcPr>
                </a:tc>
                <a:extLst>
                  <a:ext uri="{0D108BD9-81ED-4DB2-BD59-A6C34878D82A}">
                    <a16:rowId xmlns:a16="http://schemas.microsoft.com/office/drawing/2014/main" val="10002"/>
                  </a:ext>
                </a:extLst>
              </a:tr>
              <a:tr h="384048">
                <a:tc>
                  <a:txBody>
                    <a:bodyPr/>
                    <a:lstStyle/>
                    <a:p>
                      <a:r>
                        <a:rPr sz="1800" b="1" dirty="0">
                          <a:latin typeface="Calibri"/>
                        </a:rPr>
                        <a:t>p90</a:t>
                      </a:r>
                    </a:p>
                  </a:txBody>
                  <a:tcPr>
                    <a:solidFill>
                      <a:srgbClr val="EFF3FA"/>
                    </a:solidFill>
                  </a:tcPr>
                </a:tc>
                <a:tc>
                  <a:txBody>
                    <a:bodyPr/>
                    <a:lstStyle/>
                    <a:p>
                      <a:r>
                        <a:rPr sz="1800" b="1">
                          <a:latin typeface="Calibri"/>
                        </a:rPr>
                        <a:t>10.2%</a:t>
                      </a:r>
                    </a:p>
                  </a:txBody>
                  <a:tcPr>
                    <a:solidFill>
                      <a:srgbClr val="EFF3FA"/>
                    </a:solidFill>
                  </a:tcPr>
                </a:tc>
                <a:extLst>
                  <a:ext uri="{0D108BD9-81ED-4DB2-BD59-A6C34878D82A}">
                    <a16:rowId xmlns:a16="http://schemas.microsoft.com/office/drawing/2014/main" val="10003"/>
                  </a:ext>
                </a:extLst>
              </a:tr>
              <a:tr h="384048">
                <a:tc>
                  <a:txBody>
                    <a:bodyPr/>
                    <a:lstStyle/>
                    <a:p>
                      <a:r>
                        <a:rPr sz="1800" b="1" dirty="0">
                          <a:latin typeface="Calibri"/>
                        </a:rPr>
                        <a:t>worst, any single app</a:t>
                      </a:r>
                    </a:p>
                  </a:txBody>
                  <a:tcPr>
                    <a:solidFill>
                      <a:srgbClr val="FFFFFF"/>
                    </a:solidFill>
                  </a:tcPr>
                </a:tc>
                <a:tc>
                  <a:txBody>
                    <a:bodyPr/>
                    <a:lstStyle/>
                    <a:p>
                      <a:r>
                        <a:rPr sz="1800" b="1" dirty="0">
                          <a:latin typeface="Calibri"/>
                        </a:rPr>
                        <a:t>15%</a:t>
                      </a:r>
                    </a:p>
                  </a:txBody>
                  <a:tcPr>
                    <a:solidFill>
                      <a:srgbClr val="FFFFFF"/>
                    </a:solidFill>
                  </a:tcPr>
                </a:tc>
                <a:extLst>
                  <a:ext uri="{0D108BD9-81ED-4DB2-BD59-A6C34878D82A}">
                    <a16:rowId xmlns:a16="http://schemas.microsoft.com/office/drawing/2014/main" val="10004"/>
                  </a:ext>
                </a:extLst>
              </a:tr>
              <a:tr h="384048">
                <a:tc>
                  <a:txBody>
                    <a:bodyPr/>
                    <a:lstStyle/>
                    <a:p>
                      <a:r>
                        <a:rPr sz="1800" b="1">
                          <a:latin typeface="Calibri"/>
                        </a:rPr>
                        <a:t>bias (signed)</a:t>
                      </a:r>
                    </a:p>
                  </a:txBody>
                  <a:tcPr>
                    <a:solidFill>
                      <a:srgbClr val="EFF3FA"/>
                    </a:solidFill>
                  </a:tcPr>
                </a:tc>
                <a:tc>
                  <a:txBody>
                    <a:bodyPr/>
                    <a:lstStyle/>
                    <a:p>
                      <a:r>
                        <a:rPr sz="1800" b="1" dirty="0">
                          <a:latin typeface="Calibri"/>
                        </a:rPr>
                        <a:t>-6.4%</a:t>
                      </a:r>
                    </a:p>
                  </a:txBody>
                  <a:tcPr>
                    <a:solidFill>
                      <a:srgbClr val="EFF3FA"/>
                    </a:solid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6400800" y="4069080"/>
            <a:ext cx="5212080" cy="269304"/>
          </a:xfrm>
          <a:prstGeom prst="rect">
            <a:avLst/>
          </a:prstGeom>
          <a:noFill/>
        </p:spPr>
        <p:txBody>
          <a:bodyPr wrap="square">
            <a:spAutoFit/>
          </a:bodyPr>
          <a:lstStyle/>
          <a:p>
            <a:pPr algn="ctr"/>
            <a:r>
              <a:rPr sz="1150" b="1" dirty="0">
                <a:solidFill>
                  <a:srgbClr val="1A53A0"/>
                </a:solidFill>
                <a:latin typeface="Calibri"/>
              </a:rPr>
              <a:t>Every number above is a PREDICTION ERROR.</a:t>
            </a:r>
          </a:p>
        </p:txBody>
      </p:sp>
      <p:graphicFrame>
        <p:nvGraphicFramePr>
          <p:cNvPr id="12" name="Table 11"/>
          <p:cNvGraphicFramePr>
            <a:graphicFrameLocks noGrp="1"/>
          </p:cNvGraphicFramePr>
          <p:nvPr/>
        </p:nvGraphicFramePr>
        <p:xfrm>
          <a:off x="6400800" y="4434840"/>
          <a:ext cx="5212080" cy="1152144"/>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384048">
                <a:tc>
                  <a:txBody>
                    <a:bodyPr/>
                    <a:lstStyle/>
                    <a:p>
                      <a:r>
                        <a:rPr sz="1150" b="1">
                          <a:solidFill>
                            <a:srgbClr val="FFFFFF"/>
                          </a:solidFill>
                          <a:latin typeface="Calibri"/>
                        </a:rPr>
                        <a:t>workload power range</a:t>
                      </a:r>
                    </a:p>
                  </a:txBody>
                  <a:tcPr>
                    <a:solidFill>
                      <a:srgbClr val="202124"/>
                    </a:solidFill>
                  </a:tcPr>
                </a:tc>
                <a:tc>
                  <a:txBody>
                    <a:bodyPr/>
                    <a:lstStyle/>
                    <a:p>
                      <a:r>
                        <a:rPr sz="1150" b="1">
                          <a:solidFill>
                            <a:srgbClr val="FFFFFF"/>
                          </a:solidFill>
                          <a:latin typeface="Calibri"/>
                        </a:rPr>
                        <a:t>mW</a:t>
                      </a:r>
                    </a:p>
                  </a:txBody>
                  <a:tcPr>
                    <a:solidFill>
                      <a:srgbClr val="202124"/>
                    </a:solidFill>
                  </a:tcPr>
                </a:tc>
                <a:extLst>
                  <a:ext uri="{0D108BD9-81ED-4DB2-BD59-A6C34878D82A}">
                    <a16:rowId xmlns:a16="http://schemas.microsoft.com/office/drawing/2014/main" val="10000"/>
                  </a:ext>
                </a:extLst>
              </a:tr>
              <a:tr h="384048">
                <a:tc>
                  <a:txBody>
                    <a:bodyPr/>
                    <a:lstStyle/>
                    <a:p>
                      <a:r>
                        <a:rPr sz="1150" b="1">
                          <a:latin typeface="Calibri"/>
                        </a:rPr>
                        <a:t>what the 50 apps actually draw</a:t>
                      </a:r>
                    </a:p>
                  </a:txBody>
                  <a:tcPr>
                    <a:solidFill>
                      <a:srgbClr val="EFF3FA"/>
                    </a:solidFill>
                  </a:tcPr>
                </a:tc>
                <a:tc>
                  <a:txBody>
                    <a:bodyPr/>
                    <a:lstStyle/>
                    <a:p>
                      <a:r>
                        <a:rPr sz="1150" b="1">
                          <a:latin typeface="Calibri"/>
                        </a:rPr>
                        <a:t>1295 – 1795 mW</a:t>
                      </a:r>
                    </a:p>
                  </a:txBody>
                  <a:tcPr>
                    <a:solidFill>
                      <a:srgbClr val="EFF3FA"/>
                    </a:solidFill>
                  </a:tcPr>
                </a:tc>
                <a:extLst>
                  <a:ext uri="{0D108BD9-81ED-4DB2-BD59-A6C34878D82A}">
                    <a16:rowId xmlns:a16="http://schemas.microsoft.com/office/drawing/2014/main" val="10001"/>
                  </a:ext>
                </a:extLst>
              </a:tr>
              <a:tr h="384048">
                <a:tc>
                  <a:txBody>
                    <a:bodyPr/>
                    <a:lstStyle/>
                    <a:p>
                      <a:r>
                        <a:rPr sz="1150" b="1">
                          <a:latin typeface="Calibri"/>
                        </a:rPr>
                        <a:t>what the model predicted they draw</a:t>
                      </a:r>
                    </a:p>
                  </a:txBody>
                  <a:tcPr>
                    <a:solidFill>
                      <a:srgbClr val="FFFFFF"/>
                    </a:solidFill>
                  </a:tcPr>
                </a:tc>
                <a:tc>
                  <a:txBody>
                    <a:bodyPr/>
                    <a:lstStyle/>
                    <a:p>
                      <a:r>
                        <a:rPr sz="1150" b="1">
                          <a:latin typeface="Calibri"/>
                        </a:rPr>
                        <a:t>1289 – 1771 mW</a:t>
                      </a:r>
                    </a:p>
                  </a:txBody>
                  <a:tcPr>
                    <a:solidFill>
                      <a:srgbClr val="FFFFFF"/>
                    </a:solidFill>
                  </a:tcPr>
                </a:tc>
                <a:extLst>
                  <a:ext uri="{0D108BD9-81ED-4DB2-BD59-A6C34878D82A}">
                    <a16:rowId xmlns:a16="http://schemas.microsoft.com/office/drawing/2014/main" val="10002"/>
                  </a:ext>
                </a:extLst>
              </a:tr>
            </a:tbl>
          </a:graphicData>
        </a:graphic>
      </p:graphicFrame>
      <p:sp>
        <p:nvSpPr>
          <p:cNvPr id="13" name="TextBox 12"/>
          <p:cNvSpPr txBox="1"/>
          <p:nvPr/>
        </p:nvSpPr>
        <p:spPr>
          <a:xfrm>
            <a:off x="6477002" y="5571607"/>
            <a:ext cx="5212080" cy="457200"/>
          </a:xfrm>
          <a:prstGeom prst="rect">
            <a:avLst/>
          </a:prstGeom>
          <a:noFill/>
        </p:spPr>
        <p:txBody>
          <a:bodyPr wrap="square">
            <a:spAutoFit/>
          </a:bodyPr>
          <a:lstStyle/>
          <a:p>
            <a:pPr algn="l"/>
            <a:r>
              <a:rPr sz="1050" b="0" dirty="0">
                <a:solidFill>
                  <a:srgbClr val="5F6368"/>
                </a:solidFill>
                <a:latin typeface="Calibri"/>
              </a:rPr>
              <a:t>Stated in </a:t>
            </a:r>
            <a:r>
              <a:rPr sz="1050" b="0" dirty="0" err="1">
                <a:solidFill>
                  <a:srgbClr val="5F6368"/>
                </a:solidFill>
                <a:latin typeface="Calibri"/>
              </a:rPr>
              <a:t>mW</a:t>
            </a:r>
            <a:r>
              <a:rPr sz="1050" b="0" dirty="0">
                <a:solidFill>
                  <a:srgbClr val="5F6368"/>
                </a:solidFill>
                <a:latin typeface="Calibri"/>
              </a:rPr>
              <a:t>, not as a ratio: the model must reproduce the RANGE, not just the average. A model predicting every app near the mean would still score a good MAPE.</a:t>
            </a:r>
          </a:p>
        </p:txBody>
      </p:sp>
      <p:sp>
        <p:nvSpPr>
          <p:cNvPr id="14" name="TextBox 13"/>
          <p:cNvSpPr txBox="1"/>
          <p:nvPr/>
        </p:nvSpPr>
        <p:spPr>
          <a:xfrm>
            <a:off x="624842" y="5983087"/>
            <a:ext cx="11064240" cy="365760"/>
          </a:xfrm>
          <a:prstGeom prst="rect">
            <a:avLst/>
          </a:prstGeom>
          <a:noFill/>
        </p:spPr>
        <p:txBody>
          <a:bodyPr wrap="square">
            <a:spAutoFit/>
          </a:bodyPr>
          <a:lstStyle/>
          <a:p>
            <a:pPr algn="l"/>
            <a:r>
              <a:rPr sz="1150" b="0">
                <a:solidFill>
                  <a:srgbClr val="202124"/>
                </a:solidFill>
                <a:latin typeface="Calibri"/>
              </a:rPr>
              <a:t>Predictions run 6.4% low on average — a systematic offset, not scatter, and therefore correctable if a future revision wants it.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1001"/>
            <a:ext cx="11155680" cy="892552"/>
          </a:xfrm>
          <a:prstGeom prst="rect">
            <a:avLst/>
          </a:prstGeom>
          <a:noFill/>
        </p:spPr>
        <p:txBody>
          <a:bodyPr wrap="square">
            <a:spAutoFit/>
          </a:bodyPr>
          <a:lstStyle/>
          <a:p>
            <a:pPr algn="l"/>
            <a:r>
              <a:rPr sz="2600" b="1" dirty="0">
                <a:solidFill>
                  <a:srgbClr val="FFFFFF"/>
                </a:solidFill>
                <a:latin typeface="Calibri"/>
              </a:rPr>
              <a:t>Part 2 — All fifty applications</a:t>
            </a:r>
            <a:r>
              <a:rPr lang="en-US" sz="2600" b="1" dirty="0">
                <a:solidFill>
                  <a:srgbClr val="FFFFFF"/>
                </a:solidFill>
                <a:latin typeface="Calibri"/>
              </a:rPr>
              <a:t> – Power Prediction vs Measured</a:t>
            </a:r>
          </a:p>
          <a:p>
            <a:pPr algn="l"/>
            <a:r>
              <a:rPr lang="en-US" sz="2600" b="1" dirty="0">
                <a:solidFill>
                  <a:srgbClr val="FFFFFF"/>
                </a:solidFill>
                <a:latin typeface="Calibri"/>
              </a:rPr>
              <a:t>Single App, Single Prediction, Single Run Measured</a:t>
            </a:r>
            <a:endParaRPr sz="2600" b="1" dirty="0">
              <a:solidFill>
                <a:srgbClr val="FFFFFF"/>
              </a:solidFill>
              <a:latin typeface="Calibri"/>
            </a:endParaRP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969264"/>
            <a:ext cx="11155680" cy="369332"/>
          </a:xfrm>
          <a:prstGeom prst="rect">
            <a:avLst/>
          </a:prstGeom>
          <a:noFill/>
        </p:spPr>
        <p:txBody>
          <a:bodyPr wrap="square">
            <a:spAutoFit/>
          </a:bodyPr>
          <a:lstStyle/>
          <a:p>
            <a:pPr algn="l"/>
            <a:r>
              <a:rPr b="0" dirty="0">
                <a:solidFill>
                  <a:srgbClr val="5F6368"/>
                </a:solidFill>
                <a:latin typeface="Calibri"/>
              </a:rPr>
              <a:t>Every prediction, every measurement. Nothing selected, nothing dropped.</a:t>
            </a:r>
          </a:p>
        </p:txBody>
      </p:sp>
      <p:sp>
        <p:nvSpPr>
          <p:cNvPr id="6" name="TextBox 5"/>
          <p:cNvSpPr txBox="1"/>
          <p:nvPr/>
        </p:nvSpPr>
        <p:spPr>
          <a:xfrm>
            <a:off x="548640" y="6616785"/>
            <a:ext cx="10424160" cy="274320"/>
          </a:xfrm>
          <a:prstGeom prst="rect">
            <a:avLst/>
          </a:prstGeom>
          <a:noFill/>
        </p:spPr>
        <p:txBody>
          <a:bodyPr wrap="square">
            <a:spAutoFit/>
          </a:bodyPr>
          <a:lstStyle/>
          <a:p>
            <a:pPr algn="l"/>
            <a:r>
              <a:rPr sz="950" b="0">
                <a:solidFill>
                  <a:srgbClr val="5F6368"/>
                </a:solidFill>
                <a:latin typeface="Calibri"/>
              </a:rPr>
              <a:t>wattson power · rails MEASURED on IMX95LPD5EVK-19 (NXP BCU) · A55 die 40–41 °C under load · activity DERIVED from QEMU TCG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9</a:t>
            </a:r>
          </a:p>
        </p:txBody>
      </p:sp>
      <p:sp>
        <p:nvSpPr>
          <p:cNvPr id="8" name="TextBox 7"/>
          <p:cNvSpPr txBox="1"/>
          <p:nvPr/>
        </p:nvSpPr>
        <p:spPr>
          <a:xfrm>
            <a:off x="548640" y="1316736"/>
            <a:ext cx="11064240" cy="523220"/>
          </a:xfrm>
          <a:prstGeom prst="rect">
            <a:avLst/>
          </a:prstGeom>
          <a:noFill/>
        </p:spPr>
        <p:txBody>
          <a:bodyPr wrap="square">
            <a:spAutoFit/>
          </a:bodyPr>
          <a:lstStyle/>
          <a:p>
            <a:pPr algn="l"/>
            <a:r>
              <a:rPr sz="1400" b="1" dirty="0">
                <a:solidFill>
                  <a:srgbClr val="5F6368"/>
                </a:solidFill>
                <a:latin typeface="Calibri"/>
              </a:rPr>
              <a:t>GREEN ≤ 8% error   ·   AMBER 8–12%   ·   RED &gt; 12%      — the 8% line is the published bar for a good per-rail model, and is this corpus's own p90 (8.3%).</a:t>
            </a:r>
          </a:p>
        </p:txBody>
      </p:sp>
      <p:graphicFrame>
        <p:nvGraphicFramePr>
          <p:cNvPr id="9" name="Table 8"/>
          <p:cNvGraphicFramePr>
            <a:graphicFrameLocks noGrp="1"/>
          </p:cNvGraphicFramePr>
          <p:nvPr>
            <p:extLst>
              <p:ext uri="{D42A27DB-BD31-4B8C-83A1-F6EECF244321}">
                <p14:modId xmlns:p14="http://schemas.microsoft.com/office/powerpoint/2010/main" val="1515609341"/>
              </p:ext>
            </p:extLst>
          </p:nvPr>
        </p:nvGraphicFramePr>
        <p:xfrm>
          <a:off x="548640" y="1664208"/>
          <a:ext cx="3703320" cy="4389120"/>
        </p:xfrm>
        <a:graphic>
          <a:graphicData uri="http://schemas.openxmlformats.org/drawingml/2006/table">
            <a:tbl>
              <a:tblPr firstRow="1" bandRow="1">
                <a:tableStyleId>{5C22544A-7EE6-4342-B048-85BDC9FD1C3A}</a:tableStyleId>
              </a:tblPr>
              <a:tblGrid>
                <a:gridCol w="141732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224028">
                <a:tc>
                  <a:txBody>
                    <a:bodyPr/>
                    <a:lstStyle/>
                    <a:p>
                      <a:r>
                        <a:rPr sz="1000" b="1" dirty="0">
                          <a:solidFill>
                            <a:srgbClr val="FFFFFF"/>
                          </a:solidFill>
                          <a:latin typeface="Calibri"/>
                        </a:rPr>
                        <a:t>app</a:t>
                      </a:r>
                    </a:p>
                  </a:txBody>
                  <a:tcPr>
                    <a:solidFill>
                      <a:srgbClr val="202124"/>
                    </a:solidFill>
                  </a:tcPr>
                </a:tc>
                <a:tc>
                  <a:txBody>
                    <a:bodyPr/>
                    <a:lstStyle/>
                    <a:p>
                      <a:r>
                        <a:rPr sz="1000" b="1">
                          <a:solidFill>
                            <a:srgbClr val="FFFFFF"/>
                          </a:solidFill>
                          <a:latin typeface="Calibri"/>
                        </a:rPr>
                        <a:t>pred</a:t>
                      </a:r>
                    </a:p>
                  </a:txBody>
                  <a:tcPr>
                    <a:solidFill>
                      <a:srgbClr val="202124"/>
                    </a:solidFill>
                  </a:tcPr>
                </a:tc>
                <a:tc>
                  <a:txBody>
                    <a:bodyPr/>
                    <a:lstStyle/>
                    <a:p>
                      <a:r>
                        <a:rPr sz="1000" b="1">
                          <a:solidFill>
                            <a:srgbClr val="FFFFFF"/>
                          </a:solidFill>
                          <a:latin typeface="Calibri"/>
                        </a:rPr>
                        <a:t>meas</a:t>
                      </a:r>
                    </a:p>
                  </a:txBody>
                  <a:tcPr>
                    <a:solidFill>
                      <a:srgbClr val="202124"/>
                    </a:solidFill>
                  </a:tcPr>
                </a:tc>
                <a:tc>
                  <a:txBody>
                    <a:bodyPr/>
                    <a:lstStyle/>
                    <a:p>
                      <a:r>
                        <a:rPr sz="1000" b="1">
                          <a:solidFill>
                            <a:srgbClr val="FFFFFF"/>
                          </a:solidFill>
                          <a:latin typeface="Calibri"/>
                        </a:rPr>
                        <a:t>err</a:t>
                      </a:r>
                    </a:p>
                  </a:txBody>
                  <a:tcPr>
                    <a:solidFill>
                      <a:srgbClr val="202124"/>
                    </a:solidFill>
                  </a:tcPr>
                </a:tc>
                <a:extLst>
                  <a:ext uri="{0D108BD9-81ED-4DB2-BD59-A6C34878D82A}">
                    <a16:rowId xmlns:a16="http://schemas.microsoft.com/office/drawing/2014/main" val="10000"/>
                  </a:ext>
                </a:extLst>
              </a:tr>
              <a:tr h="224028">
                <a:tc>
                  <a:txBody>
                    <a:bodyPr/>
                    <a:lstStyle/>
                    <a:p>
                      <a:r>
                        <a:rPr sz="1000" b="1">
                          <a:latin typeface="Calibri"/>
                        </a:rPr>
                        <a:t>mem-w</a:t>
                      </a:r>
                    </a:p>
                  </a:txBody>
                  <a:tcPr>
                    <a:solidFill>
                      <a:srgbClr val="EFF3FA"/>
                    </a:solidFill>
                  </a:tcPr>
                </a:tc>
                <a:tc>
                  <a:txBody>
                    <a:bodyPr/>
                    <a:lstStyle/>
                    <a:p>
                      <a:r>
                        <a:rPr sz="1000" b="0">
                          <a:latin typeface="Calibri"/>
                        </a:rPr>
                        <a:t>1744</a:t>
                      </a:r>
                    </a:p>
                  </a:txBody>
                  <a:tcPr>
                    <a:solidFill>
                      <a:srgbClr val="EFF3FA"/>
                    </a:solidFill>
                  </a:tcPr>
                </a:tc>
                <a:tc>
                  <a:txBody>
                    <a:bodyPr/>
                    <a:lstStyle/>
                    <a:p>
                      <a:r>
                        <a:rPr sz="1000" b="0">
                          <a:latin typeface="Calibri"/>
                        </a:rPr>
                        <a:t>1795</a:t>
                      </a:r>
                    </a:p>
                  </a:txBody>
                  <a:tcPr>
                    <a:solidFill>
                      <a:srgbClr val="EFF3FA"/>
                    </a:solidFill>
                  </a:tcPr>
                </a:tc>
                <a:tc>
                  <a:txBody>
                    <a:bodyPr/>
                    <a:lstStyle/>
                    <a:p>
                      <a:r>
                        <a:rPr sz="1000" b="0">
                          <a:solidFill>
                            <a:srgbClr val="187A33"/>
                          </a:solidFill>
                          <a:latin typeface="Calibri"/>
                        </a:rPr>
                        <a:t>3%</a:t>
                      </a:r>
                    </a:p>
                  </a:txBody>
                  <a:tcPr>
                    <a:solidFill>
                      <a:srgbClr val="EFF3FA"/>
                    </a:solidFill>
                  </a:tcPr>
                </a:tc>
                <a:extLst>
                  <a:ext uri="{0D108BD9-81ED-4DB2-BD59-A6C34878D82A}">
                    <a16:rowId xmlns:a16="http://schemas.microsoft.com/office/drawing/2014/main" val="10001"/>
                  </a:ext>
                </a:extLst>
              </a:tr>
              <a:tr h="224028">
                <a:tc>
                  <a:txBody>
                    <a:bodyPr/>
                    <a:lstStyle/>
                    <a:p>
                      <a:r>
                        <a:rPr sz="1000" b="1" dirty="0">
                          <a:latin typeface="Calibri"/>
                        </a:rPr>
                        <a:t>mem</a:t>
                      </a:r>
                    </a:p>
                  </a:txBody>
                  <a:tcPr>
                    <a:solidFill>
                      <a:srgbClr val="FFFFFF"/>
                    </a:solidFill>
                  </a:tcPr>
                </a:tc>
                <a:tc>
                  <a:txBody>
                    <a:bodyPr/>
                    <a:lstStyle/>
                    <a:p>
                      <a:r>
                        <a:rPr sz="1000" b="0">
                          <a:latin typeface="Calibri"/>
                        </a:rPr>
                        <a:t>1771</a:t>
                      </a:r>
                    </a:p>
                  </a:txBody>
                  <a:tcPr>
                    <a:solidFill>
                      <a:srgbClr val="FFFFFF"/>
                    </a:solidFill>
                  </a:tcPr>
                </a:tc>
                <a:tc>
                  <a:txBody>
                    <a:bodyPr/>
                    <a:lstStyle/>
                    <a:p>
                      <a:r>
                        <a:rPr sz="1000" b="0">
                          <a:latin typeface="Calibri"/>
                        </a:rPr>
                        <a:t>1767</a:t>
                      </a:r>
                    </a:p>
                  </a:txBody>
                  <a:tcPr>
                    <a:solidFill>
                      <a:srgbClr val="FFFFFF"/>
                    </a:solidFill>
                  </a:tcPr>
                </a:tc>
                <a:tc>
                  <a:txBody>
                    <a:bodyPr/>
                    <a:lstStyle/>
                    <a:p>
                      <a:r>
                        <a:rPr sz="1000" b="0">
                          <a:solidFill>
                            <a:srgbClr val="187A33"/>
                          </a:solidFill>
                          <a:latin typeface="Calibri"/>
                        </a:rPr>
                        <a:t>0%</a:t>
                      </a:r>
                    </a:p>
                  </a:txBody>
                  <a:tcPr>
                    <a:solidFill>
                      <a:srgbClr val="FFFFFF"/>
                    </a:solidFill>
                  </a:tcPr>
                </a:tc>
                <a:extLst>
                  <a:ext uri="{0D108BD9-81ED-4DB2-BD59-A6C34878D82A}">
                    <a16:rowId xmlns:a16="http://schemas.microsoft.com/office/drawing/2014/main" val="10002"/>
                  </a:ext>
                </a:extLst>
              </a:tr>
              <a:tr h="224028">
                <a:tc>
                  <a:txBody>
                    <a:bodyPr/>
                    <a:lstStyle/>
                    <a:p>
                      <a:r>
                        <a:rPr sz="1000" b="1">
                          <a:latin typeface="Calibri"/>
                        </a:rPr>
                        <a:t>sgm</a:t>
                      </a:r>
                    </a:p>
                  </a:txBody>
                  <a:tcPr>
                    <a:solidFill>
                      <a:srgbClr val="EFF3FA"/>
                    </a:solidFill>
                  </a:tcPr>
                </a:tc>
                <a:tc>
                  <a:txBody>
                    <a:bodyPr/>
                    <a:lstStyle/>
                    <a:p>
                      <a:r>
                        <a:rPr sz="1000" b="0">
                          <a:latin typeface="Calibri"/>
                        </a:rPr>
                        <a:t>1375</a:t>
                      </a:r>
                    </a:p>
                  </a:txBody>
                  <a:tcPr>
                    <a:solidFill>
                      <a:srgbClr val="EFF3FA"/>
                    </a:solidFill>
                  </a:tcPr>
                </a:tc>
                <a:tc>
                  <a:txBody>
                    <a:bodyPr/>
                    <a:lstStyle/>
                    <a:p>
                      <a:r>
                        <a:rPr sz="1000" b="0">
                          <a:latin typeface="Calibri"/>
                        </a:rPr>
                        <a:t>1614</a:t>
                      </a:r>
                    </a:p>
                  </a:txBody>
                  <a:tcPr>
                    <a:solidFill>
                      <a:srgbClr val="EFF3FA"/>
                    </a:solidFill>
                  </a:tcPr>
                </a:tc>
                <a:tc>
                  <a:txBody>
                    <a:bodyPr/>
                    <a:lstStyle/>
                    <a:p>
                      <a:r>
                        <a:rPr sz="1000" b="0">
                          <a:solidFill>
                            <a:srgbClr val="B31412"/>
                          </a:solidFill>
                          <a:latin typeface="Calibri"/>
                        </a:rPr>
                        <a:t>15%</a:t>
                      </a:r>
                    </a:p>
                  </a:txBody>
                  <a:tcPr>
                    <a:solidFill>
                      <a:srgbClr val="EFF3FA"/>
                    </a:solidFill>
                  </a:tcPr>
                </a:tc>
                <a:extLst>
                  <a:ext uri="{0D108BD9-81ED-4DB2-BD59-A6C34878D82A}">
                    <a16:rowId xmlns:a16="http://schemas.microsoft.com/office/drawing/2014/main" val="10003"/>
                  </a:ext>
                </a:extLst>
              </a:tr>
              <a:tr h="224028">
                <a:tc>
                  <a:txBody>
                    <a:bodyPr/>
                    <a:lstStyle/>
                    <a:p>
                      <a:r>
                        <a:rPr sz="1000" b="1">
                          <a:latin typeface="Calibri"/>
                        </a:rPr>
                        <a:t>lz4-fast</a:t>
                      </a:r>
                    </a:p>
                  </a:txBody>
                  <a:tcPr>
                    <a:solidFill>
                      <a:srgbClr val="FFFFFF"/>
                    </a:solidFill>
                  </a:tcPr>
                </a:tc>
                <a:tc>
                  <a:txBody>
                    <a:bodyPr/>
                    <a:lstStyle/>
                    <a:p>
                      <a:r>
                        <a:rPr sz="1000" b="0" dirty="0">
                          <a:latin typeface="Calibri"/>
                        </a:rPr>
                        <a:t>1359</a:t>
                      </a:r>
                    </a:p>
                  </a:txBody>
                  <a:tcPr>
                    <a:solidFill>
                      <a:srgbClr val="FFFFFF"/>
                    </a:solidFill>
                  </a:tcPr>
                </a:tc>
                <a:tc>
                  <a:txBody>
                    <a:bodyPr/>
                    <a:lstStyle/>
                    <a:p>
                      <a:r>
                        <a:rPr sz="1000" b="0">
                          <a:latin typeface="Calibri"/>
                        </a:rPr>
                        <a:t>1565</a:t>
                      </a:r>
                    </a:p>
                  </a:txBody>
                  <a:tcPr>
                    <a:solidFill>
                      <a:srgbClr val="FFFFFF"/>
                    </a:solidFill>
                  </a:tcPr>
                </a:tc>
                <a:tc>
                  <a:txBody>
                    <a:bodyPr/>
                    <a:lstStyle/>
                    <a:p>
                      <a:r>
                        <a:rPr sz="1000" b="0">
                          <a:solidFill>
                            <a:srgbClr val="B31412"/>
                          </a:solidFill>
                          <a:latin typeface="Calibri"/>
                        </a:rPr>
                        <a:t>13%</a:t>
                      </a:r>
                    </a:p>
                  </a:txBody>
                  <a:tcPr>
                    <a:solidFill>
                      <a:srgbClr val="FFFFFF"/>
                    </a:solidFill>
                  </a:tcPr>
                </a:tc>
                <a:extLst>
                  <a:ext uri="{0D108BD9-81ED-4DB2-BD59-A6C34878D82A}">
                    <a16:rowId xmlns:a16="http://schemas.microsoft.com/office/drawing/2014/main" val="10004"/>
                  </a:ext>
                </a:extLst>
              </a:tr>
              <a:tr h="224028">
                <a:tc>
                  <a:txBody>
                    <a:bodyPr/>
                    <a:lstStyle/>
                    <a:p>
                      <a:r>
                        <a:rPr sz="1000" b="1">
                          <a:latin typeface="Calibri"/>
                        </a:rPr>
                        <a:t>mm-big</a:t>
                      </a:r>
                    </a:p>
                  </a:txBody>
                  <a:tcPr>
                    <a:solidFill>
                      <a:srgbClr val="EFF3FA"/>
                    </a:solidFill>
                  </a:tcPr>
                </a:tc>
                <a:tc>
                  <a:txBody>
                    <a:bodyPr/>
                    <a:lstStyle/>
                    <a:p>
                      <a:r>
                        <a:rPr sz="1000" b="0">
                          <a:latin typeface="Calibri"/>
                        </a:rPr>
                        <a:t>1449</a:t>
                      </a:r>
                    </a:p>
                  </a:txBody>
                  <a:tcPr>
                    <a:solidFill>
                      <a:srgbClr val="EFF3FA"/>
                    </a:solidFill>
                  </a:tcPr>
                </a:tc>
                <a:tc>
                  <a:txBody>
                    <a:bodyPr/>
                    <a:lstStyle/>
                    <a:p>
                      <a:r>
                        <a:rPr sz="1000" b="0">
                          <a:latin typeface="Calibri"/>
                        </a:rPr>
                        <a:t>1558</a:t>
                      </a:r>
                    </a:p>
                  </a:txBody>
                  <a:tcPr>
                    <a:solidFill>
                      <a:srgbClr val="EFF3FA"/>
                    </a:solidFill>
                  </a:tcPr>
                </a:tc>
                <a:tc>
                  <a:txBody>
                    <a:bodyPr/>
                    <a:lstStyle/>
                    <a:p>
                      <a:r>
                        <a:rPr sz="1000" b="0">
                          <a:solidFill>
                            <a:srgbClr val="187A33"/>
                          </a:solidFill>
                          <a:latin typeface="Calibri"/>
                        </a:rPr>
                        <a:t>7%</a:t>
                      </a:r>
                    </a:p>
                  </a:txBody>
                  <a:tcPr>
                    <a:solidFill>
                      <a:srgbClr val="EFF3FA"/>
                    </a:solidFill>
                  </a:tcPr>
                </a:tc>
                <a:extLst>
                  <a:ext uri="{0D108BD9-81ED-4DB2-BD59-A6C34878D82A}">
                    <a16:rowId xmlns:a16="http://schemas.microsoft.com/office/drawing/2014/main" val="10005"/>
                  </a:ext>
                </a:extLst>
              </a:tr>
              <a:tr h="224028">
                <a:tc>
                  <a:txBody>
                    <a:bodyPr/>
                    <a:lstStyle/>
                    <a:p>
                      <a:r>
                        <a:rPr sz="1000" b="1">
                          <a:latin typeface="Calibri"/>
                        </a:rPr>
                        <a:t>lz4</a:t>
                      </a:r>
                    </a:p>
                  </a:txBody>
                  <a:tcPr>
                    <a:solidFill>
                      <a:srgbClr val="FFFFFF"/>
                    </a:solidFill>
                  </a:tcPr>
                </a:tc>
                <a:tc>
                  <a:txBody>
                    <a:bodyPr/>
                    <a:lstStyle/>
                    <a:p>
                      <a:r>
                        <a:rPr sz="1000" b="0">
                          <a:latin typeface="Calibri"/>
                        </a:rPr>
                        <a:t>1342</a:t>
                      </a:r>
                    </a:p>
                  </a:txBody>
                  <a:tcPr>
                    <a:solidFill>
                      <a:srgbClr val="FFFFFF"/>
                    </a:solidFill>
                  </a:tcPr>
                </a:tc>
                <a:tc>
                  <a:txBody>
                    <a:bodyPr/>
                    <a:lstStyle/>
                    <a:p>
                      <a:r>
                        <a:rPr sz="1000" b="0">
                          <a:latin typeface="Calibri"/>
                        </a:rPr>
                        <a:t>1529</a:t>
                      </a:r>
                    </a:p>
                  </a:txBody>
                  <a:tcPr>
                    <a:solidFill>
                      <a:srgbClr val="FFFFFF"/>
                    </a:solidFill>
                  </a:tcPr>
                </a:tc>
                <a:tc>
                  <a:txBody>
                    <a:bodyPr/>
                    <a:lstStyle/>
                    <a:p>
                      <a:r>
                        <a:rPr sz="1000" b="0">
                          <a:solidFill>
                            <a:srgbClr val="B06000"/>
                          </a:solidFill>
                          <a:latin typeface="Calibri"/>
                        </a:rPr>
                        <a:t>12%</a:t>
                      </a:r>
                    </a:p>
                  </a:txBody>
                  <a:tcPr>
                    <a:solidFill>
                      <a:srgbClr val="FFFFFF"/>
                    </a:solidFill>
                  </a:tcPr>
                </a:tc>
                <a:extLst>
                  <a:ext uri="{0D108BD9-81ED-4DB2-BD59-A6C34878D82A}">
                    <a16:rowId xmlns:a16="http://schemas.microsoft.com/office/drawing/2014/main" val="10006"/>
                  </a:ext>
                </a:extLst>
              </a:tr>
              <a:tr h="224028">
                <a:tc>
                  <a:txBody>
                    <a:bodyPr/>
                    <a:lstStyle/>
                    <a:p>
                      <a:r>
                        <a:rPr sz="1000" b="1">
                          <a:latin typeface="Calibri"/>
                        </a:rPr>
                        <a:t>rd-life</a:t>
                      </a:r>
                    </a:p>
                  </a:txBody>
                  <a:tcPr>
                    <a:solidFill>
                      <a:srgbClr val="EFF3FA"/>
                    </a:solidFill>
                  </a:tcPr>
                </a:tc>
                <a:tc>
                  <a:txBody>
                    <a:bodyPr/>
                    <a:lstStyle/>
                    <a:p>
                      <a:r>
                        <a:rPr sz="1000" b="0">
                          <a:latin typeface="Calibri"/>
                        </a:rPr>
                        <a:t>1425</a:t>
                      </a:r>
                    </a:p>
                  </a:txBody>
                  <a:tcPr>
                    <a:solidFill>
                      <a:srgbClr val="EFF3FA"/>
                    </a:solidFill>
                  </a:tcPr>
                </a:tc>
                <a:tc>
                  <a:txBody>
                    <a:bodyPr/>
                    <a:lstStyle/>
                    <a:p>
                      <a:r>
                        <a:rPr sz="1000" b="0" dirty="0">
                          <a:latin typeface="Calibri"/>
                        </a:rPr>
                        <a:t>1525</a:t>
                      </a:r>
                    </a:p>
                  </a:txBody>
                  <a:tcPr>
                    <a:solidFill>
                      <a:srgbClr val="EFF3FA"/>
                    </a:solidFill>
                  </a:tcPr>
                </a:tc>
                <a:tc>
                  <a:txBody>
                    <a:bodyPr/>
                    <a:lstStyle/>
                    <a:p>
                      <a:r>
                        <a:rPr sz="1000" b="0">
                          <a:solidFill>
                            <a:srgbClr val="187A33"/>
                          </a:solidFill>
                          <a:latin typeface="Calibri"/>
                        </a:rPr>
                        <a:t>7%</a:t>
                      </a:r>
                    </a:p>
                  </a:txBody>
                  <a:tcPr>
                    <a:solidFill>
                      <a:srgbClr val="EFF3FA"/>
                    </a:solidFill>
                  </a:tcPr>
                </a:tc>
                <a:extLst>
                  <a:ext uri="{0D108BD9-81ED-4DB2-BD59-A6C34878D82A}">
                    <a16:rowId xmlns:a16="http://schemas.microsoft.com/office/drawing/2014/main" val="10007"/>
                  </a:ext>
                </a:extLst>
              </a:tr>
              <a:tr h="224028">
                <a:tc>
                  <a:txBody>
                    <a:bodyPr/>
                    <a:lstStyle/>
                    <a:p>
                      <a:r>
                        <a:rPr sz="1000" b="1">
                          <a:latin typeface="Calibri"/>
                        </a:rPr>
                        <a:t>qoi</a:t>
                      </a:r>
                    </a:p>
                  </a:txBody>
                  <a:tcPr>
                    <a:solidFill>
                      <a:srgbClr val="FFFFFF"/>
                    </a:solidFill>
                  </a:tcPr>
                </a:tc>
                <a:tc>
                  <a:txBody>
                    <a:bodyPr/>
                    <a:lstStyle/>
                    <a:p>
                      <a:r>
                        <a:rPr sz="1000" b="0">
                          <a:latin typeface="Calibri"/>
                        </a:rPr>
                        <a:t>1397</a:t>
                      </a:r>
                    </a:p>
                  </a:txBody>
                  <a:tcPr>
                    <a:solidFill>
                      <a:srgbClr val="FFFFFF"/>
                    </a:solidFill>
                  </a:tcPr>
                </a:tc>
                <a:tc>
                  <a:txBody>
                    <a:bodyPr/>
                    <a:lstStyle/>
                    <a:p>
                      <a:r>
                        <a:rPr sz="1000" b="0">
                          <a:latin typeface="Calibri"/>
                        </a:rPr>
                        <a:t>1524</a:t>
                      </a:r>
                    </a:p>
                  </a:txBody>
                  <a:tcPr>
                    <a:solidFill>
                      <a:srgbClr val="FFFFFF"/>
                    </a:solidFill>
                  </a:tcPr>
                </a:tc>
                <a:tc>
                  <a:txBody>
                    <a:bodyPr/>
                    <a:lstStyle/>
                    <a:p>
                      <a:r>
                        <a:rPr sz="1000" b="0">
                          <a:solidFill>
                            <a:srgbClr val="187A33"/>
                          </a:solidFill>
                          <a:latin typeface="Calibri"/>
                        </a:rPr>
                        <a:t>8%</a:t>
                      </a:r>
                    </a:p>
                  </a:txBody>
                  <a:tcPr>
                    <a:solidFill>
                      <a:srgbClr val="FFFFFF"/>
                    </a:solidFill>
                  </a:tcPr>
                </a:tc>
                <a:extLst>
                  <a:ext uri="{0D108BD9-81ED-4DB2-BD59-A6C34878D82A}">
                    <a16:rowId xmlns:a16="http://schemas.microsoft.com/office/drawing/2014/main" val="10008"/>
                  </a:ext>
                </a:extLst>
              </a:tr>
              <a:tr h="224028">
                <a:tc>
                  <a:txBody>
                    <a:bodyPr/>
                    <a:lstStyle/>
                    <a:p>
                      <a:r>
                        <a:rPr sz="1000" b="1">
                          <a:latin typeface="Calibri"/>
                        </a:rPr>
                        <a:t>cr-blowfish</a:t>
                      </a:r>
                    </a:p>
                  </a:txBody>
                  <a:tcPr>
                    <a:solidFill>
                      <a:srgbClr val="EFF3FA"/>
                    </a:solidFill>
                  </a:tcPr>
                </a:tc>
                <a:tc>
                  <a:txBody>
                    <a:bodyPr/>
                    <a:lstStyle/>
                    <a:p>
                      <a:r>
                        <a:rPr sz="1000" b="0">
                          <a:latin typeface="Calibri"/>
                        </a:rPr>
                        <a:t>1374</a:t>
                      </a:r>
                    </a:p>
                  </a:txBody>
                  <a:tcPr>
                    <a:solidFill>
                      <a:srgbClr val="EFF3FA"/>
                    </a:solidFill>
                  </a:tcPr>
                </a:tc>
                <a:tc>
                  <a:txBody>
                    <a:bodyPr/>
                    <a:lstStyle/>
                    <a:p>
                      <a:r>
                        <a:rPr sz="1000" b="0">
                          <a:latin typeface="Calibri"/>
                        </a:rPr>
                        <a:t>1517</a:t>
                      </a:r>
                    </a:p>
                  </a:txBody>
                  <a:tcPr>
                    <a:solidFill>
                      <a:srgbClr val="EFF3FA"/>
                    </a:solidFill>
                  </a:tcPr>
                </a:tc>
                <a:tc>
                  <a:txBody>
                    <a:bodyPr/>
                    <a:lstStyle/>
                    <a:p>
                      <a:r>
                        <a:rPr sz="1000" b="0">
                          <a:solidFill>
                            <a:srgbClr val="B06000"/>
                          </a:solidFill>
                          <a:latin typeface="Calibri"/>
                        </a:rPr>
                        <a:t>9%</a:t>
                      </a:r>
                    </a:p>
                  </a:txBody>
                  <a:tcPr>
                    <a:solidFill>
                      <a:srgbClr val="EFF3FA"/>
                    </a:solidFill>
                  </a:tcPr>
                </a:tc>
                <a:extLst>
                  <a:ext uri="{0D108BD9-81ED-4DB2-BD59-A6C34878D82A}">
                    <a16:rowId xmlns:a16="http://schemas.microsoft.com/office/drawing/2014/main" val="10009"/>
                  </a:ext>
                </a:extLst>
              </a:tr>
              <a:tr h="224028">
                <a:tc>
                  <a:txBody>
                    <a:bodyPr/>
                    <a:lstStyle/>
                    <a:p>
                      <a:r>
                        <a:rPr sz="1000" b="1">
                          <a:latin typeface="Calibri"/>
                        </a:rPr>
                        <a:t>mm</a:t>
                      </a:r>
                    </a:p>
                  </a:txBody>
                  <a:tcPr>
                    <a:solidFill>
                      <a:srgbClr val="FFFFFF"/>
                    </a:solidFill>
                  </a:tcPr>
                </a:tc>
                <a:tc>
                  <a:txBody>
                    <a:bodyPr/>
                    <a:lstStyle/>
                    <a:p>
                      <a:r>
                        <a:rPr sz="1000" b="0">
                          <a:latin typeface="Calibri"/>
                        </a:rPr>
                        <a:t>1346</a:t>
                      </a:r>
                    </a:p>
                  </a:txBody>
                  <a:tcPr>
                    <a:solidFill>
                      <a:srgbClr val="FFFFFF"/>
                    </a:solidFill>
                  </a:tcPr>
                </a:tc>
                <a:tc>
                  <a:txBody>
                    <a:bodyPr/>
                    <a:lstStyle/>
                    <a:p>
                      <a:r>
                        <a:rPr sz="1000" b="0" dirty="0">
                          <a:latin typeface="Calibri"/>
                        </a:rPr>
                        <a:t>1515</a:t>
                      </a:r>
                    </a:p>
                  </a:txBody>
                  <a:tcPr>
                    <a:solidFill>
                      <a:srgbClr val="FFFFFF"/>
                    </a:solidFill>
                  </a:tcPr>
                </a:tc>
                <a:tc>
                  <a:txBody>
                    <a:bodyPr/>
                    <a:lstStyle/>
                    <a:p>
                      <a:r>
                        <a:rPr sz="1000" b="0">
                          <a:solidFill>
                            <a:srgbClr val="B06000"/>
                          </a:solidFill>
                          <a:latin typeface="Calibri"/>
                        </a:rPr>
                        <a:t>11%</a:t>
                      </a:r>
                    </a:p>
                  </a:txBody>
                  <a:tcPr>
                    <a:solidFill>
                      <a:srgbClr val="FFFFFF"/>
                    </a:solidFill>
                  </a:tcPr>
                </a:tc>
                <a:extLst>
                  <a:ext uri="{0D108BD9-81ED-4DB2-BD59-A6C34878D82A}">
                    <a16:rowId xmlns:a16="http://schemas.microsoft.com/office/drawing/2014/main" val="10010"/>
                  </a:ext>
                </a:extLst>
              </a:tr>
              <a:tr h="224028">
                <a:tc>
                  <a:txBody>
                    <a:bodyPr/>
                    <a:lstStyle/>
                    <a:p>
                      <a:r>
                        <a:rPr sz="1000" b="1">
                          <a:latin typeface="Calibri"/>
                        </a:rPr>
                        <a:t>sgm-a55-1t</a:t>
                      </a:r>
                    </a:p>
                  </a:txBody>
                  <a:tcPr>
                    <a:solidFill>
                      <a:srgbClr val="EFF3FA"/>
                    </a:solidFill>
                  </a:tcPr>
                </a:tc>
                <a:tc>
                  <a:txBody>
                    <a:bodyPr/>
                    <a:lstStyle/>
                    <a:p>
                      <a:r>
                        <a:rPr sz="1000" b="0">
                          <a:latin typeface="Calibri"/>
                        </a:rPr>
                        <a:t>1357</a:t>
                      </a:r>
                    </a:p>
                  </a:txBody>
                  <a:tcPr>
                    <a:solidFill>
                      <a:srgbClr val="EFF3FA"/>
                    </a:solidFill>
                  </a:tcPr>
                </a:tc>
                <a:tc>
                  <a:txBody>
                    <a:bodyPr/>
                    <a:lstStyle/>
                    <a:p>
                      <a:r>
                        <a:rPr sz="1000" b="0">
                          <a:latin typeface="Calibri"/>
                        </a:rPr>
                        <a:t>1512</a:t>
                      </a:r>
                    </a:p>
                  </a:txBody>
                  <a:tcPr>
                    <a:solidFill>
                      <a:srgbClr val="EFF3FA"/>
                    </a:solidFill>
                  </a:tcPr>
                </a:tc>
                <a:tc>
                  <a:txBody>
                    <a:bodyPr/>
                    <a:lstStyle/>
                    <a:p>
                      <a:r>
                        <a:rPr sz="1000" b="0">
                          <a:solidFill>
                            <a:srgbClr val="B06000"/>
                          </a:solidFill>
                          <a:latin typeface="Calibri"/>
                        </a:rPr>
                        <a:t>10%</a:t>
                      </a:r>
                    </a:p>
                  </a:txBody>
                  <a:tcPr>
                    <a:solidFill>
                      <a:srgbClr val="EFF3FA"/>
                    </a:solidFill>
                  </a:tcPr>
                </a:tc>
                <a:extLst>
                  <a:ext uri="{0D108BD9-81ED-4DB2-BD59-A6C34878D82A}">
                    <a16:rowId xmlns:a16="http://schemas.microsoft.com/office/drawing/2014/main" val="10011"/>
                  </a:ext>
                </a:extLst>
              </a:tr>
              <a:tr h="224028">
                <a:tc>
                  <a:txBody>
                    <a:bodyPr/>
                    <a:lstStyle/>
                    <a:p>
                      <a:r>
                        <a:rPr sz="1000" b="1">
                          <a:latin typeface="Calibri"/>
                        </a:rPr>
                        <a:t>cr-b64</a:t>
                      </a:r>
                    </a:p>
                  </a:txBody>
                  <a:tcPr>
                    <a:solidFill>
                      <a:srgbClr val="FFFFFF"/>
                    </a:solidFill>
                  </a:tcPr>
                </a:tc>
                <a:tc>
                  <a:txBody>
                    <a:bodyPr/>
                    <a:lstStyle/>
                    <a:p>
                      <a:r>
                        <a:rPr sz="1000" b="0">
                          <a:latin typeface="Calibri"/>
                        </a:rPr>
                        <a:t>1377</a:t>
                      </a:r>
                    </a:p>
                  </a:txBody>
                  <a:tcPr>
                    <a:solidFill>
                      <a:srgbClr val="FFFFFF"/>
                    </a:solidFill>
                  </a:tcPr>
                </a:tc>
                <a:tc>
                  <a:txBody>
                    <a:bodyPr/>
                    <a:lstStyle/>
                    <a:p>
                      <a:r>
                        <a:rPr sz="1000" b="0">
                          <a:latin typeface="Calibri"/>
                        </a:rPr>
                        <a:t>1506</a:t>
                      </a:r>
                    </a:p>
                  </a:txBody>
                  <a:tcPr>
                    <a:solidFill>
                      <a:srgbClr val="FFFFFF"/>
                    </a:solidFill>
                  </a:tcPr>
                </a:tc>
                <a:tc>
                  <a:txBody>
                    <a:bodyPr/>
                    <a:lstStyle/>
                    <a:p>
                      <a:r>
                        <a:rPr sz="1000" b="0" dirty="0">
                          <a:solidFill>
                            <a:srgbClr val="B06000"/>
                          </a:solidFill>
                          <a:latin typeface="Calibri"/>
                        </a:rPr>
                        <a:t>9%</a:t>
                      </a:r>
                    </a:p>
                  </a:txBody>
                  <a:tcPr>
                    <a:solidFill>
                      <a:srgbClr val="FFFFFF"/>
                    </a:solidFill>
                  </a:tcPr>
                </a:tc>
                <a:extLst>
                  <a:ext uri="{0D108BD9-81ED-4DB2-BD59-A6C34878D82A}">
                    <a16:rowId xmlns:a16="http://schemas.microsoft.com/office/drawing/2014/main" val="10012"/>
                  </a:ext>
                </a:extLst>
              </a:tr>
              <a:tr h="224028">
                <a:tc>
                  <a:txBody>
                    <a:bodyPr/>
                    <a:lstStyle/>
                    <a:p>
                      <a:r>
                        <a:rPr sz="1000" b="1">
                          <a:latin typeface="Calibri"/>
                        </a:rPr>
                        <a:t>bb-md5</a:t>
                      </a:r>
                    </a:p>
                  </a:txBody>
                  <a:tcPr>
                    <a:solidFill>
                      <a:srgbClr val="EFF3FA"/>
                    </a:solidFill>
                  </a:tcPr>
                </a:tc>
                <a:tc>
                  <a:txBody>
                    <a:bodyPr/>
                    <a:lstStyle/>
                    <a:p>
                      <a:r>
                        <a:rPr sz="1000" b="0">
                          <a:latin typeface="Calibri"/>
                        </a:rPr>
                        <a:t>1358</a:t>
                      </a:r>
                    </a:p>
                  </a:txBody>
                  <a:tcPr>
                    <a:solidFill>
                      <a:srgbClr val="EFF3FA"/>
                    </a:solidFill>
                  </a:tcPr>
                </a:tc>
                <a:tc>
                  <a:txBody>
                    <a:bodyPr/>
                    <a:lstStyle/>
                    <a:p>
                      <a:r>
                        <a:rPr sz="1000" b="0">
                          <a:latin typeface="Calibri"/>
                        </a:rPr>
                        <a:t>1484</a:t>
                      </a:r>
                    </a:p>
                  </a:txBody>
                  <a:tcPr>
                    <a:solidFill>
                      <a:srgbClr val="EFF3FA"/>
                    </a:solidFill>
                  </a:tcPr>
                </a:tc>
                <a:tc>
                  <a:txBody>
                    <a:bodyPr/>
                    <a:lstStyle/>
                    <a:p>
                      <a:r>
                        <a:rPr sz="1000" b="0" dirty="0">
                          <a:solidFill>
                            <a:srgbClr val="187A33"/>
                          </a:solidFill>
                          <a:latin typeface="Calibri"/>
                        </a:rPr>
                        <a:t>8%</a:t>
                      </a:r>
                    </a:p>
                  </a:txBody>
                  <a:tcPr>
                    <a:solidFill>
                      <a:srgbClr val="EFF3FA"/>
                    </a:solidFill>
                  </a:tcPr>
                </a:tc>
                <a:extLst>
                  <a:ext uri="{0D108BD9-81ED-4DB2-BD59-A6C34878D82A}">
                    <a16:rowId xmlns:a16="http://schemas.microsoft.com/office/drawing/2014/main" val="10013"/>
                  </a:ext>
                </a:extLst>
              </a:tr>
              <a:tr h="224028">
                <a:tc>
                  <a:txBody>
                    <a:bodyPr/>
                    <a:lstStyle/>
                    <a:p>
                      <a:r>
                        <a:rPr sz="1000" b="1">
                          <a:latin typeface="Calibri"/>
                        </a:rPr>
                        <a:t>sort-big</a:t>
                      </a:r>
                    </a:p>
                  </a:txBody>
                  <a:tcPr>
                    <a:solidFill>
                      <a:srgbClr val="FFFFFF"/>
                    </a:solidFill>
                  </a:tcPr>
                </a:tc>
                <a:tc>
                  <a:txBody>
                    <a:bodyPr/>
                    <a:lstStyle/>
                    <a:p>
                      <a:r>
                        <a:rPr sz="1000" b="0">
                          <a:latin typeface="Calibri"/>
                        </a:rPr>
                        <a:t>1384</a:t>
                      </a:r>
                    </a:p>
                  </a:txBody>
                  <a:tcPr>
                    <a:solidFill>
                      <a:srgbClr val="FFFFFF"/>
                    </a:solidFill>
                  </a:tcPr>
                </a:tc>
                <a:tc>
                  <a:txBody>
                    <a:bodyPr/>
                    <a:lstStyle/>
                    <a:p>
                      <a:r>
                        <a:rPr sz="1000" b="0">
                          <a:latin typeface="Calibri"/>
                        </a:rPr>
                        <a:t>1482</a:t>
                      </a:r>
                    </a:p>
                  </a:txBody>
                  <a:tcPr>
                    <a:solidFill>
                      <a:srgbClr val="FFFFFF"/>
                    </a:solidFill>
                  </a:tcPr>
                </a:tc>
                <a:tc>
                  <a:txBody>
                    <a:bodyPr/>
                    <a:lstStyle/>
                    <a:p>
                      <a:r>
                        <a:rPr sz="1000" b="0" dirty="0">
                          <a:solidFill>
                            <a:srgbClr val="187A33"/>
                          </a:solidFill>
                          <a:latin typeface="Calibri"/>
                        </a:rPr>
                        <a:t>7%</a:t>
                      </a:r>
                    </a:p>
                  </a:txBody>
                  <a:tcPr>
                    <a:solidFill>
                      <a:srgbClr val="FFFFFF"/>
                    </a:solidFill>
                  </a:tcPr>
                </a:tc>
                <a:extLst>
                  <a:ext uri="{0D108BD9-81ED-4DB2-BD59-A6C34878D82A}">
                    <a16:rowId xmlns:a16="http://schemas.microsoft.com/office/drawing/2014/main" val="10014"/>
                  </a:ext>
                </a:extLst>
              </a:tr>
              <a:tr h="224028">
                <a:tc>
                  <a:txBody>
                    <a:bodyPr/>
                    <a:lstStyle/>
                    <a:p>
                      <a:r>
                        <a:rPr sz="1000" b="1">
                          <a:latin typeface="Calibri"/>
                        </a:rPr>
                        <a:t>bb-gunzip</a:t>
                      </a:r>
                    </a:p>
                  </a:txBody>
                  <a:tcPr>
                    <a:solidFill>
                      <a:srgbClr val="EFF3FA"/>
                    </a:solidFill>
                  </a:tcPr>
                </a:tc>
                <a:tc>
                  <a:txBody>
                    <a:bodyPr/>
                    <a:lstStyle/>
                    <a:p>
                      <a:r>
                        <a:rPr sz="1000" b="0">
                          <a:latin typeface="Calibri"/>
                        </a:rPr>
                        <a:t>1342</a:t>
                      </a:r>
                    </a:p>
                  </a:txBody>
                  <a:tcPr>
                    <a:solidFill>
                      <a:srgbClr val="EFF3FA"/>
                    </a:solidFill>
                  </a:tcPr>
                </a:tc>
                <a:tc>
                  <a:txBody>
                    <a:bodyPr/>
                    <a:lstStyle/>
                    <a:p>
                      <a:r>
                        <a:rPr sz="1000" b="0">
                          <a:latin typeface="Calibri"/>
                        </a:rPr>
                        <a:t>1478</a:t>
                      </a:r>
                    </a:p>
                  </a:txBody>
                  <a:tcPr>
                    <a:solidFill>
                      <a:srgbClr val="EFF3FA"/>
                    </a:solidFill>
                  </a:tcPr>
                </a:tc>
                <a:tc>
                  <a:txBody>
                    <a:bodyPr/>
                    <a:lstStyle/>
                    <a:p>
                      <a:r>
                        <a:rPr sz="1000" b="0" dirty="0">
                          <a:solidFill>
                            <a:srgbClr val="B06000"/>
                          </a:solidFill>
                          <a:latin typeface="Calibri"/>
                        </a:rPr>
                        <a:t>9%</a:t>
                      </a:r>
                    </a:p>
                  </a:txBody>
                  <a:tcPr>
                    <a:solidFill>
                      <a:srgbClr val="EFF3FA"/>
                    </a:solidFill>
                  </a:tcPr>
                </a:tc>
                <a:extLst>
                  <a:ext uri="{0D108BD9-81ED-4DB2-BD59-A6C34878D82A}">
                    <a16:rowId xmlns:a16="http://schemas.microsoft.com/office/drawing/2014/main" val="10015"/>
                  </a:ext>
                </a:extLst>
              </a:tr>
              <a:tr h="224028">
                <a:tc>
                  <a:txBody>
                    <a:bodyPr/>
                    <a:lstStyle/>
                    <a:p>
                      <a:r>
                        <a:rPr sz="1000" b="1">
                          <a:latin typeface="Calibri"/>
                        </a:rPr>
                        <a:t>cr-md5</a:t>
                      </a:r>
                    </a:p>
                  </a:txBody>
                  <a:tcPr>
                    <a:solidFill>
                      <a:srgbClr val="FFFFFF"/>
                    </a:solidFill>
                  </a:tcPr>
                </a:tc>
                <a:tc>
                  <a:txBody>
                    <a:bodyPr/>
                    <a:lstStyle/>
                    <a:p>
                      <a:r>
                        <a:rPr sz="1000" b="0">
                          <a:latin typeface="Calibri"/>
                        </a:rPr>
                        <a:t>1379</a:t>
                      </a:r>
                    </a:p>
                  </a:txBody>
                  <a:tcPr>
                    <a:solidFill>
                      <a:srgbClr val="FFFFFF"/>
                    </a:solidFill>
                  </a:tcPr>
                </a:tc>
                <a:tc>
                  <a:txBody>
                    <a:bodyPr/>
                    <a:lstStyle/>
                    <a:p>
                      <a:r>
                        <a:rPr sz="1000" b="0">
                          <a:latin typeface="Calibri"/>
                        </a:rPr>
                        <a:t>1478</a:t>
                      </a:r>
                    </a:p>
                  </a:txBody>
                  <a:tcPr>
                    <a:solidFill>
                      <a:srgbClr val="FFFFFF"/>
                    </a:solidFill>
                  </a:tcPr>
                </a:tc>
                <a:tc>
                  <a:txBody>
                    <a:bodyPr/>
                    <a:lstStyle/>
                    <a:p>
                      <a:r>
                        <a:rPr sz="1000" b="0" dirty="0">
                          <a:solidFill>
                            <a:srgbClr val="187A33"/>
                          </a:solidFill>
                          <a:latin typeface="Calibri"/>
                        </a:rPr>
                        <a:t>7%</a:t>
                      </a:r>
                    </a:p>
                  </a:txBody>
                  <a:tcPr>
                    <a:solidFill>
                      <a:srgbClr val="FFFFFF"/>
                    </a:solidFill>
                  </a:tcPr>
                </a:tc>
                <a:extLst>
                  <a:ext uri="{0D108BD9-81ED-4DB2-BD59-A6C34878D82A}">
                    <a16:rowId xmlns:a16="http://schemas.microsoft.com/office/drawing/2014/main" val="10016"/>
                  </a:ext>
                </a:extLst>
              </a:tr>
              <a:tr h="224028">
                <a:tc>
                  <a:txBody>
                    <a:bodyPr/>
                    <a:lstStyle/>
                    <a:p>
                      <a:r>
                        <a:rPr sz="1000" b="1">
                          <a:latin typeface="Calibri"/>
                        </a:rPr>
                        <a:t>cr-rc4</a:t>
                      </a:r>
                    </a:p>
                  </a:txBody>
                  <a:tcPr>
                    <a:solidFill>
                      <a:srgbClr val="EFF3FA"/>
                    </a:solidFill>
                  </a:tcPr>
                </a:tc>
                <a:tc>
                  <a:txBody>
                    <a:bodyPr/>
                    <a:lstStyle/>
                    <a:p>
                      <a:r>
                        <a:rPr sz="1000" b="0">
                          <a:latin typeface="Calibri"/>
                        </a:rPr>
                        <a:t>1336</a:t>
                      </a:r>
                    </a:p>
                  </a:txBody>
                  <a:tcPr>
                    <a:solidFill>
                      <a:srgbClr val="EFF3FA"/>
                    </a:solidFill>
                  </a:tcPr>
                </a:tc>
                <a:tc>
                  <a:txBody>
                    <a:bodyPr/>
                    <a:lstStyle/>
                    <a:p>
                      <a:r>
                        <a:rPr sz="1000" b="0">
                          <a:latin typeface="Calibri"/>
                        </a:rPr>
                        <a:t>1477</a:t>
                      </a:r>
                    </a:p>
                  </a:txBody>
                  <a:tcPr>
                    <a:solidFill>
                      <a:srgbClr val="EFF3FA"/>
                    </a:solidFill>
                  </a:tcPr>
                </a:tc>
                <a:tc>
                  <a:txBody>
                    <a:bodyPr/>
                    <a:lstStyle/>
                    <a:p>
                      <a:r>
                        <a:rPr sz="1000" b="0" dirty="0">
                          <a:solidFill>
                            <a:srgbClr val="B06000"/>
                          </a:solidFill>
                          <a:latin typeface="Calibri"/>
                        </a:rPr>
                        <a:t>10%</a:t>
                      </a:r>
                    </a:p>
                  </a:txBody>
                  <a:tcPr>
                    <a:solidFill>
                      <a:srgbClr val="EFF3FA"/>
                    </a:solidFill>
                  </a:tcPr>
                </a:tc>
                <a:extLst>
                  <a:ext uri="{0D108BD9-81ED-4DB2-BD59-A6C34878D82A}">
                    <a16:rowId xmlns:a16="http://schemas.microsoft.com/office/drawing/2014/main" val="10017"/>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2778579119"/>
              </p:ext>
            </p:extLst>
          </p:nvPr>
        </p:nvGraphicFramePr>
        <p:xfrm>
          <a:off x="4434840" y="1664208"/>
          <a:ext cx="3703320" cy="4389120"/>
        </p:xfrm>
        <a:graphic>
          <a:graphicData uri="http://schemas.openxmlformats.org/drawingml/2006/table">
            <a:tbl>
              <a:tblPr firstRow="1" bandRow="1">
                <a:tableStyleId>{5C22544A-7EE6-4342-B048-85BDC9FD1C3A}</a:tableStyleId>
              </a:tblPr>
              <a:tblGrid>
                <a:gridCol w="141732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224028">
                <a:tc>
                  <a:txBody>
                    <a:bodyPr/>
                    <a:lstStyle/>
                    <a:p>
                      <a:r>
                        <a:rPr sz="1000" b="1" dirty="0">
                          <a:solidFill>
                            <a:srgbClr val="FFFFFF"/>
                          </a:solidFill>
                          <a:latin typeface="Calibri"/>
                        </a:rPr>
                        <a:t>app</a:t>
                      </a:r>
                    </a:p>
                  </a:txBody>
                  <a:tcPr>
                    <a:solidFill>
                      <a:srgbClr val="202124"/>
                    </a:solidFill>
                  </a:tcPr>
                </a:tc>
                <a:tc>
                  <a:txBody>
                    <a:bodyPr/>
                    <a:lstStyle/>
                    <a:p>
                      <a:r>
                        <a:rPr sz="1000" b="1">
                          <a:solidFill>
                            <a:srgbClr val="FFFFFF"/>
                          </a:solidFill>
                          <a:latin typeface="Calibri"/>
                        </a:rPr>
                        <a:t>pred</a:t>
                      </a:r>
                    </a:p>
                  </a:txBody>
                  <a:tcPr>
                    <a:solidFill>
                      <a:srgbClr val="202124"/>
                    </a:solidFill>
                  </a:tcPr>
                </a:tc>
                <a:tc>
                  <a:txBody>
                    <a:bodyPr/>
                    <a:lstStyle/>
                    <a:p>
                      <a:r>
                        <a:rPr sz="1000" b="1">
                          <a:solidFill>
                            <a:srgbClr val="FFFFFF"/>
                          </a:solidFill>
                          <a:latin typeface="Calibri"/>
                        </a:rPr>
                        <a:t>meas</a:t>
                      </a:r>
                    </a:p>
                  </a:txBody>
                  <a:tcPr>
                    <a:solidFill>
                      <a:srgbClr val="202124"/>
                    </a:solidFill>
                  </a:tcPr>
                </a:tc>
                <a:tc>
                  <a:txBody>
                    <a:bodyPr/>
                    <a:lstStyle/>
                    <a:p>
                      <a:r>
                        <a:rPr sz="1000" b="1">
                          <a:solidFill>
                            <a:srgbClr val="FFFFFF"/>
                          </a:solidFill>
                          <a:latin typeface="Calibri"/>
                        </a:rPr>
                        <a:t>err</a:t>
                      </a:r>
                    </a:p>
                  </a:txBody>
                  <a:tcPr>
                    <a:solidFill>
                      <a:srgbClr val="202124"/>
                    </a:solidFill>
                  </a:tcPr>
                </a:tc>
                <a:extLst>
                  <a:ext uri="{0D108BD9-81ED-4DB2-BD59-A6C34878D82A}">
                    <a16:rowId xmlns:a16="http://schemas.microsoft.com/office/drawing/2014/main" val="10000"/>
                  </a:ext>
                </a:extLst>
              </a:tr>
              <a:tr h="224028">
                <a:tc>
                  <a:txBody>
                    <a:bodyPr/>
                    <a:lstStyle/>
                    <a:p>
                      <a:r>
                        <a:rPr sz="1000" b="1" dirty="0">
                          <a:latin typeface="Calibri"/>
                        </a:rPr>
                        <a:t>sha256-big</a:t>
                      </a:r>
                    </a:p>
                  </a:txBody>
                  <a:tcPr>
                    <a:solidFill>
                      <a:srgbClr val="EFF3FA"/>
                    </a:solidFill>
                  </a:tcPr>
                </a:tc>
                <a:tc>
                  <a:txBody>
                    <a:bodyPr/>
                    <a:lstStyle/>
                    <a:p>
                      <a:r>
                        <a:rPr sz="1000" b="0">
                          <a:latin typeface="Calibri"/>
                        </a:rPr>
                        <a:t>1397</a:t>
                      </a:r>
                    </a:p>
                  </a:txBody>
                  <a:tcPr>
                    <a:solidFill>
                      <a:srgbClr val="EFF3FA"/>
                    </a:solidFill>
                  </a:tcPr>
                </a:tc>
                <a:tc>
                  <a:txBody>
                    <a:bodyPr/>
                    <a:lstStyle/>
                    <a:p>
                      <a:r>
                        <a:rPr sz="1000" b="0">
                          <a:latin typeface="Calibri"/>
                        </a:rPr>
                        <a:t>1476</a:t>
                      </a:r>
                    </a:p>
                  </a:txBody>
                  <a:tcPr>
                    <a:solidFill>
                      <a:srgbClr val="EFF3FA"/>
                    </a:solidFill>
                  </a:tcPr>
                </a:tc>
                <a:tc>
                  <a:txBody>
                    <a:bodyPr/>
                    <a:lstStyle/>
                    <a:p>
                      <a:r>
                        <a:rPr sz="1000" b="0">
                          <a:solidFill>
                            <a:srgbClr val="187A33"/>
                          </a:solidFill>
                          <a:latin typeface="Calibri"/>
                        </a:rPr>
                        <a:t>5%</a:t>
                      </a:r>
                    </a:p>
                  </a:txBody>
                  <a:tcPr>
                    <a:solidFill>
                      <a:srgbClr val="EFF3FA"/>
                    </a:solidFill>
                  </a:tcPr>
                </a:tc>
                <a:extLst>
                  <a:ext uri="{0D108BD9-81ED-4DB2-BD59-A6C34878D82A}">
                    <a16:rowId xmlns:a16="http://schemas.microsoft.com/office/drawing/2014/main" val="10001"/>
                  </a:ext>
                </a:extLst>
              </a:tr>
              <a:tr h="224028">
                <a:tc>
                  <a:txBody>
                    <a:bodyPr/>
                    <a:lstStyle/>
                    <a:p>
                      <a:r>
                        <a:rPr sz="1000" b="1">
                          <a:latin typeface="Calibri"/>
                        </a:rPr>
                        <a:t>bb-b64</a:t>
                      </a:r>
                    </a:p>
                  </a:txBody>
                  <a:tcPr>
                    <a:solidFill>
                      <a:srgbClr val="FFFFFF"/>
                    </a:solidFill>
                  </a:tcPr>
                </a:tc>
                <a:tc>
                  <a:txBody>
                    <a:bodyPr/>
                    <a:lstStyle/>
                    <a:p>
                      <a:r>
                        <a:rPr sz="1000" b="0">
                          <a:latin typeface="Calibri"/>
                        </a:rPr>
                        <a:t>1335</a:t>
                      </a:r>
                    </a:p>
                  </a:txBody>
                  <a:tcPr>
                    <a:solidFill>
                      <a:srgbClr val="FFFFFF"/>
                    </a:solidFill>
                  </a:tcPr>
                </a:tc>
                <a:tc>
                  <a:txBody>
                    <a:bodyPr/>
                    <a:lstStyle/>
                    <a:p>
                      <a:r>
                        <a:rPr sz="1000" b="0">
                          <a:latin typeface="Calibri"/>
                        </a:rPr>
                        <a:t>1476</a:t>
                      </a:r>
                    </a:p>
                  </a:txBody>
                  <a:tcPr>
                    <a:solidFill>
                      <a:srgbClr val="FFFFFF"/>
                    </a:solidFill>
                  </a:tcPr>
                </a:tc>
                <a:tc>
                  <a:txBody>
                    <a:bodyPr/>
                    <a:lstStyle/>
                    <a:p>
                      <a:r>
                        <a:rPr sz="1000" b="0">
                          <a:solidFill>
                            <a:srgbClr val="B06000"/>
                          </a:solidFill>
                          <a:latin typeface="Calibri"/>
                        </a:rPr>
                        <a:t>10%</a:t>
                      </a:r>
                    </a:p>
                  </a:txBody>
                  <a:tcPr>
                    <a:solidFill>
                      <a:srgbClr val="FFFFFF"/>
                    </a:solidFill>
                  </a:tcPr>
                </a:tc>
                <a:extLst>
                  <a:ext uri="{0D108BD9-81ED-4DB2-BD59-A6C34878D82A}">
                    <a16:rowId xmlns:a16="http://schemas.microsoft.com/office/drawing/2014/main" val="10002"/>
                  </a:ext>
                </a:extLst>
              </a:tr>
              <a:tr h="224028">
                <a:tc>
                  <a:txBody>
                    <a:bodyPr/>
                    <a:lstStyle/>
                    <a:p>
                      <a:r>
                        <a:rPr sz="1000" b="1">
                          <a:latin typeface="Calibri"/>
                        </a:rPr>
                        <a:t>sort</a:t>
                      </a:r>
                    </a:p>
                  </a:txBody>
                  <a:tcPr>
                    <a:solidFill>
                      <a:srgbClr val="EFF3FA"/>
                    </a:solidFill>
                  </a:tcPr>
                </a:tc>
                <a:tc>
                  <a:txBody>
                    <a:bodyPr/>
                    <a:lstStyle/>
                    <a:p>
                      <a:r>
                        <a:rPr sz="1000" b="0" dirty="0">
                          <a:latin typeface="Calibri"/>
                        </a:rPr>
                        <a:t>1378</a:t>
                      </a:r>
                    </a:p>
                  </a:txBody>
                  <a:tcPr>
                    <a:solidFill>
                      <a:srgbClr val="EFF3FA"/>
                    </a:solidFill>
                  </a:tcPr>
                </a:tc>
                <a:tc>
                  <a:txBody>
                    <a:bodyPr/>
                    <a:lstStyle/>
                    <a:p>
                      <a:r>
                        <a:rPr sz="1000" b="0">
                          <a:latin typeface="Calibri"/>
                        </a:rPr>
                        <a:t>1473</a:t>
                      </a:r>
                    </a:p>
                  </a:txBody>
                  <a:tcPr>
                    <a:solidFill>
                      <a:srgbClr val="EFF3FA"/>
                    </a:solidFill>
                  </a:tcPr>
                </a:tc>
                <a:tc>
                  <a:txBody>
                    <a:bodyPr/>
                    <a:lstStyle/>
                    <a:p>
                      <a:r>
                        <a:rPr sz="1000" b="0">
                          <a:solidFill>
                            <a:srgbClr val="187A33"/>
                          </a:solidFill>
                          <a:latin typeface="Calibri"/>
                        </a:rPr>
                        <a:t>6%</a:t>
                      </a:r>
                    </a:p>
                  </a:txBody>
                  <a:tcPr>
                    <a:solidFill>
                      <a:srgbClr val="EFF3FA"/>
                    </a:solidFill>
                  </a:tcPr>
                </a:tc>
                <a:extLst>
                  <a:ext uri="{0D108BD9-81ED-4DB2-BD59-A6C34878D82A}">
                    <a16:rowId xmlns:a16="http://schemas.microsoft.com/office/drawing/2014/main" val="10003"/>
                  </a:ext>
                </a:extLst>
              </a:tr>
              <a:tr h="224028">
                <a:tc>
                  <a:txBody>
                    <a:bodyPr/>
                    <a:lstStyle/>
                    <a:p>
                      <a:r>
                        <a:rPr sz="1000" b="1">
                          <a:latin typeface="Calibri"/>
                        </a:rPr>
                        <a:t>bb-sha512</a:t>
                      </a:r>
                    </a:p>
                  </a:txBody>
                  <a:tcPr>
                    <a:solidFill>
                      <a:srgbClr val="FFFFFF"/>
                    </a:solidFill>
                  </a:tcPr>
                </a:tc>
                <a:tc>
                  <a:txBody>
                    <a:bodyPr/>
                    <a:lstStyle/>
                    <a:p>
                      <a:r>
                        <a:rPr sz="1000" b="0">
                          <a:latin typeface="Calibri"/>
                        </a:rPr>
                        <a:t>1380</a:t>
                      </a:r>
                    </a:p>
                  </a:txBody>
                  <a:tcPr>
                    <a:solidFill>
                      <a:srgbClr val="FFFFFF"/>
                    </a:solidFill>
                  </a:tcPr>
                </a:tc>
                <a:tc>
                  <a:txBody>
                    <a:bodyPr/>
                    <a:lstStyle/>
                    <a:p>
                      <a:r>
                        <a:rPr sz="1000" b="0">
                          <a:latin typeface="Calibri"/>
                        </a:rPr>
                        <a:t>1470</a:t>
                      </a:r>
                    </a:p>
                  </a:txBody>
                  <a:tcPr>
                    <a:solidFill>
                      <a:srgbClr val="FFFFFF"/>
                    </a:solidFill>
                  </a:tcPr>
                </a:tc>
                <a:tc>
                  <a:txBody>
                    <a:bodyPr/>
                    <a:lstStyle/>
                    <a:p>
                      <a:r>
                        <a:rPr sz="1000" b="0">
                          <a:solidFill>
                            <a:srgbClr val="187A33"/>
                          </a:solidFill>
                          <a:latin typeface="Calibri"/>
                        </a:rPr>
                        <a:t>6%</a:t>
                      </a:r>
                    </a:p>
                  </a:txBody>
                  <a:tcPr>
                    <a:solidFill>
                      <a:srgbClr val="FFFFFF"/>
                    </a:solidFill>
                  </a:tcPr>
                </a:tc>
                <a:extLst>
                  <a:ext uri="{0D108BD9-81ED-4DB2-BD59-A6C34878D82A}">
                    <a16:rowId xmlns:a16="http://schemas.microsoft.com/office/drawing/2014/main" val="10004"/>
                  </a:ext>
                </a:extLst>
              </a:tr>
              <a:tr h="224028">
                <a:tc>
                  <a:txBody>
                    <a:bodyPr/>
                    <a:lstStyle/>
                    <a:p>
                      <a:r>
                        <a:rPr sz="1000" b="1">
                          <a:latin typeface="Calibri"/>
                        </a:rPr>
                        <a:t>bzip2-fast</a:t>
                      </a:r>
                    </a:p>
                  </a:txBody>
                  <a:tcPr>
                    <a:solidFill>
                      <a:srgbClr val="EFF3FA"/>
                    </a:solidFill>
                  </a:tcPr>
                </a:tc>
                <a:tc>
                  <a:txBody>
                    <a:bodyPr/>
                    <a:lstStyle/>
                    <a:p>
                      <a:r>
                        <a:rPr sz="1000" b="0">
                          <a:latin typeface="Calibri"/>
                        </a:rPr>
                        <a:t>1349</a:t>
                      </a:r>
                    </a:p>
                  </a:txBody>
                  <a:tcPr>
                    <a:solidFill>
                      <a:srgbClr val="EFF3FA"/>
                    </a:solidFill>
                  </a:tcPr>
                </a:tc>
                <a:tc>
                  <a:txBody>
                    <a:bodyPr/>
                    <a:lstStyle/>
                    <a:p>
                      <a:r>
                        <a:rPr sz="1000" b="0">
                          <a:latin typeface="Calibri"/>
                        </a:rPr>
                        <a:t>1469</a:t>
                      </a:r>
                    </a:p>
                  </a:txBody>
                  <a:tcPr>
                    <a:solidFill>
                      <a:srgbClr val="EFF3FA"/>
                    </a:solidFill>
                  </a:tcPr>
                </a:tc>
                <a:tc>
                  <a:txBody>
                    <a:bodyPr/>
                    <a:lstStyle/>
                    <a:p>
                      <a:r>
                        <a:rPr sz="1000" b="0">
                          <a:solidFill>
                            <a:srgbClr val="187A33"/>
                          </a:solidFill>
                          <a:latin typeface="Calibri"/>
                        </a:rPr>
                        <a:t>8%</a:t>
                      </a:r>
                    </a:p>
                  </a:txBody>
                  <a:tcPr>
                    <a:solidFill>
                      <a:srgbClr val="EFF3FA"/>
                    </a:solidFill>
                  </a:tcPr>
                </a:tc>
                <a:extLst>
                  <a:ext uri="{0D108BD9-81ED-4DB2-BD59-A6C34878D82A}">
                    <a16:rowId xmlns:a16="http://schemas.microsoft.com/office/drawing/2014/main" val="10005"/>
                  </a:ext>
                </a:extLst>
              </a:tr>
              <a:tr h="224028">
                <a:tc>
                  <a:txBody>
                    <a:bodyPr/>
                    <a:lstStyle/>
                    <a:p>
                      <a:r>
                        <a:rPr sz="1000" b="1">
                          <a:latin typeface="Calibri"/>
                        </a:rPr>
                        <a:t>bb-wc</a:t>
                      </a:r>
                    </a:p>
                  </a:txBody>
                  <a:tcPr>
                    <a:solidFill>
                      <a:srgbClr val="FFFFFF"/>
                    </a:solidFill>
                  </a:tcPr>
                </a:tc>
                <a:tc>
                  <a:txBody>
                    <a:bodyPr/>
                    <a:lstStyle/>
                    <a:p>
                      <a:r>
                        <a:rPr sz="1000" b="0">
                          <a:latin typeface="Calibri"/>
                        </a:rPr>
                        <a:t>1371</a:t>
                      </a:r>
                    </a:p>
                  </a:txBody>
                  <a:tcPr>
                    <a:solidFill>
                      <a:srgbClr val="FFFFFF"/>
                    </a:solidFill>
                  </a:tcPr>
                </a:tc>
                <a:tc>
                  <a:txBody>
                    <a:bodyPr/>
                    <a:lstStyle/>
                    <a:p>
                      <a:r>
                        <a:rPr sz="1000" b="0">
                          <a:latin typeface="Calibri"/>
                        </a:rPr>
                        <a:t>1467</a:t>
                      </a:r>
                    </a:p>
                  </a:txBody>
                  <a:tcPr>
                    <a:solidFill>
                      <a:srgbClr val="FFFFFF"/>
                    </a:solidFill>
                  </a:tcPr>
                </a:tc>
                <a:tc>
                  <a:txBody>
                    <a:bodyPr/>
                    <a:lstStyle/>
                    <a:p>
                      <a:r>
                        <a:rPr sz="1000" b="0">
                          <a:solidFill>
                            <a:srgbClr val="187A33"/>
                          </a:solidFill>
                          <a:latin typeface="Calibri"/>
                        </a:rPr>
                        <a:t>6%</a:t>
                      </a:r>
                    </a:p>
                  </a:txBody>
                  <a:tcPr>
                    <a:solidFill>
                      <a:srgbClr val="FFFFFF"/>
                    </a:solidFill>
                  </a:tcPr>
                </a:tc>
                <a:extLst>
                  <a:ext uri="{0D108BD9-81ED-4DB2-BD59-A6C34878D82A}">
                    <a16:rowId xmlns:a16="http://schemas.microsoft.com/office/drawing/2014/main" val="10006"/>
                  </a:ext>
                </a:extLst>
              </a:tr>
              <a:tr h="224028">
                <a:tc>
                  <a:txBody>
                    <a:bodyPr/>
                    <a:lstStyle/>
                    <a:p>
                      <a:r>
                        <a:rPr sz="1000" b="1">
                          <a:latin typeface="Calibri"/>
                        </a:rPr>
                        <a:t>sha256</a:t>
                      </a:r>
                    </a:p>
                  </a:txBody>
                  <a:tcPr>
                    <a:solidFill>
                      <a:srgbClr val="EFF3FA"/>
                    </a:solidFill>
                  </a:tcPr>
                </a:tc>
                <a:tc>
                  <a:txBody>
                    <a:bodyPr/>
                    <a:lstStyle/>
                    <a:p>
                      <a:r>
                        <a:rPr sz="1000" b="0">
                          <a:latin typeface="Calibri"/>
                        </a:rPr>
                        <a:t>1398</a:t>
                      </a:r>
                    </a:p>
                  </a:txBody>
                  <a:tcPr>
                    <a:solidFill>
                      <a:srgbClr val="EFF3FA"/>
                    </a:solidFill>
                  </a:tcPr>
                </a:tc>
                <a:tc>
                  <a:txBody>
                    <a:bodyPr/>
                    <a:lstStyle/>
                    <a:p>
                      <a:r>
                        <a:rPr sz="1000" b="0" dirty="0">
                          <a:latin typeface="Calibri"/>
                        </a:rPr>
                        <a:t>1458</a:t>
                      </a:r>
                    </a:p>
                  </a:txBody>
                  <a:tcPr>
                    <a:solidFill>
                      <a:srgbClr val="EFF3FA"/>
                    </a:solidFill>
                  </a:tcPr>
                </a:tc>
                <a:tc>
                  <a:txBody>
                    <a:bodyPr/>
                    <a:lstStyle/>
                    <a:p>
                      <a:r>
                        <a:rPr sz="1000" b="0">
                          <a:solidFill>
                            <a:srgbClr val="187A33"/>
                          </a:solidFill>
                          <a:latin typeface="Calibri"/>
                        </a:rPr>
                        <a:t>4%</a:t>
                      </a:r>
                    </a:p>
                  </a:txBody>
                  <a:tcPr>
                    <a:solidFill>
                      <a:srgbClr val="EFF3FA"/>
                    </a:solidFill>
                  </a:tcPr>
                </a:tc>
                <a:extLst>
                  <a:ext uri="{0D108BD9-81ED-4DB2-BD59-A6C34878D82A}">
                    <a16:rowId xmlns:a16="http://schemas.microsoft.com/office/drawing/2014/main" val="10007"/>
                  </a:ext>
                </a:extLst>
              </a:tr>
              <a:tr h="224028">
                <a:tc>
                  <a:txBody>
                    <a:bodyPr/>
                    <a:lstStyle/>
                    <a:p>
                      <a:r>
                        <a:rPr sz="1000" b="1">
                          <a:latin typeface="Calibri"/>
                        </a:rPr>
                        <a:t>lua</a:t>
                      </a:r>
                    </a:p>
                  </a:txBody>
                  <a:tcPr>
                    <a:solidFill>
                      <a:srgbClr val="FFFFFF"/>
                    </a:solidFill>
                  </a:tcPr>
                </a:tc>
                <a:tc>
                  <a:txBody>
                    <a:bodyPr/>
                    <a:lstStyle/>
                    <a:p>
                      <a:r>
                        <a:rPr sz="1000" b="0">
                          <a:latin typeface="Calibri"/>
                        </a:rPr>
                        <a:t>1363</a:t>
                      </a:r>
                    </a:p>
                  </a:txBody>
                  <a:tcPr>
                    <a:solidFill>
                      <a:srgbClr val="FFFFFF"/>
                    </a:solidFill>
                  </a:tcPr>
                </a:tc>
                <a:tc>
                  <a:txBody>
                    <a:bodyPr/>
                    <a:lstStyle/>
                    <a:p>
                      <a:r>
                        <a:rPr sz="1000" b="0">
                          <a:latin typeface="Calibri"/>
                        </a:rPr>
                        <a:t>1457</a:t>
                      </a:r>
                    </a:p>
                  </a:txBody>
                  <a:tcPr>
                    <a:solidFill>
                      <a:srgbClr val="FFFFFF"/>
                    </a:solidFill>
                  </a:tcPr>
                </a:tc>
                <a:tc>
                  <a:txBody>
                    <a:bodyPr/>
                    <a:lstStyle/>
                    <a:p>
                      <a:r>
                        <a:rPr sz="1000" b="0">
                          <a:solidFill>
                            <a:srgbClr val="187A33"/>
                          </a:solidFill>
                          <a:latin typeface="Calibri"/>
                        </a:rPr>
                        <a:t>6%</a:t>
                      </a:r>
                    </a:p>
                  </a:txBody>
                  <a:tcPr>
                    <a:solidFill>
                      <a:srgbClr val="FFFFFF"/>
                    </a:solidFill>
                  </a:tcPr>
                </a:tc>
                <a:extLst>
                  <a:ext uri="{0D108BD9-81ED-4DB2-BD59-A6C34878D82A}">
                    <a16:rowId xmlns:a16="http://schemas.microsoft.com/office/drawing/2014/main" val="10008"/>
                  </a:ext>
                </a:extLst>
              </a:tr>
              <a:tr h="224028">
                <a:tc>
                  <a:txBody>
                    <a:bodyPr/>
                    <a:lstStyle/>
                    <a:p>
                      <a:r>
                        <a:rPr sz="1000" b="1">
                          <a:latin typeface="Calibri"/>
                        </a:rPr>
                        <a:t>cr-aes</a:t>
                      </a:r>
                    </a:p>
                  </a:txBody>
                  <a:tcPr>
                    <a:solidFill>
                      <a:srgbClr val="EFF3FA"/>
                    </a:solidFill>
                  </a:tcPr>
                </a:tc>
                <a:tc>
                  <a:txBody>
                    <a:bodyPr/>
                    <a:lstStyle/>
                    <a:p>
                      <a:r>
                        <a:rPr sz="1000" b="0">
                          <a:latin typeface="Calibri"/>
                        </a:rPr>
                        <a:t>1378</a:t>
                      </a:r>
                    </a:p>
                  </a:txBody>
                  <a:tcPr>
                    <a:solidFill>
                      <a:srgbClr val="EFF3FA"/>
                    </a:solidFill>
                  </a:tcPr>
                </a:tc>
                <a:tc>
                  <a:txBody>
                    <a:bodyPr/>
                    <a:lstStyle/>
                    <a:p>
                      <a:r>
                        <a:rPr sz="1000" b="0">
                          <a:latin typeface="Calibri"/>
                        </a:rPr>
                        <a:t>1445</a:t>
                      </a:r>
                    </a:p>
                  </a:txBody>
                  <a:tcPr>
                    <a:solidFill>
                      <a:srgbClr val="EFF3FA"/>
                    </a:solidFill>
                  </a:tcPr>
                </a:tc>
                <a:tc>
                  <a:txBody>
                    <a:bodyPr/>
                    <a:lstStyle/>
                    <a:p>
                      <a:r>
                        <a:rPr sz="1000" b="0">
                          <a:solidFill>
                            <a:srgbClr val="187A33"/>
                          </a:solidFill>
                          <a:latin typeface="Calibri"/>
                        </a:rPr>
                        <a:t>5%</a:t>
                      </a:r>
                    </a:p>
                  </a:txBody>
                  <a:tcPr>
                    <a:solidFill>
                      <a:srgbClr val="EFF3FA"/>
                    </a:solidFill>
                  </a:tcPr>
                </a:tc>
                <a:extLst>
                  <a:ext uri="{0D108BD9-81ED-4DB2-BD59-A6C34878D82A}">
                    <a16:rowId xmlns:a16="http://schemas.microsoft.com/office/drawing/2014/main" val="10009"/>
                  </a:ext>
                </a:extLst>
              </a:tr>
              <a:tr h="224028">
                <a:tc>
                  <a:txBody>
                    <a:bodyPr/>
                    <a:lstStyle/>
                    <a:p>
                      <a:r>
                        <a:rPr sz="1000" b="1">
                          <a:latin typeface="Calibri"/>
                        </a:rPr>
                        <a:t>bzip2</a:t>
                      </a:r>
                    </a:p>
                  </a:txBody>
                  <a:tcPr>
                    <a:solidFill>
                      <a:srgbClr val="FFFFFF"/>
                    </a:solidFill>
                  </a:tcPr>
                </a:tc>
                <a:tc>
                  <a:txBody>
                    <a:bodyPr/>
                    <a:lstStyle/>
                    <a:p>
                      <a:r>
                        <a:rPr sz="1000" b="0">
                          <a:latin typeface="Calibri"/>
                        </a:rPr>
                        <a:t>1337</a:t>
                      </a:r>
                    </a:p>
                  </a:txBody>
                  <a:tcPr>
                    <a:solidFill>
                      <a:srgbClr val="FFFFFF"/>
                    </a:solidFill>
                  </a:tcPr>
                </a:tc>
                <a:tc>
                  <a:txBody>
                    <a:bodyPr/>
                    <a:lstStyle/>
                    <a:p>
                      <a:r>
                        <a:rPr sz="1000" b="0">
                          <a:latin typeface="Calibri"/>
                        </a:rPr>
                        <a:t>1444</a:t>
                      </a:r>
                    </a:p>
                  </a:txBody>
                  <a:tcPr>
                    <a:solidFill>
                      <a:srgbClr val="FFFFFF"/>
                    </a:solidFill>
                  </a:tcPr>
                </a:tc>
                <a:tc>
                  <a:txBody>
                    <a:bodyPr/>
                    <a:lstStyle/>
                    <a:p>
                      <a:r>
                        <a:rPr sz="1000" b="0" dirty="0">
                          <a:solidFill>
                            <a:srgbClr val="187A33"/>
                          </a:solidFill>
                          <a:latin typeface="Calibri"/>
                        </a:rPr>
                        <a:t>7%</a:t>
                      </a:r>
                    </a:p>
                  </a:txBody>
                  <a:tcPr>
                    <a:solidFill>
                      <a:srgbClr val="FFFFFF"/>
                    </a:solidFill>
                  </a:tcPr>
                </a:tc>
                <a:extLst>
                  <a:ext uri="{0D108BD9-81ED-4DB2-BD59-A6C34878D82A}">
                    <a16:rowId xmlns:a16="http://schemas.microsoft.com/office/drawing/2014/main" val="10010"/>
                  </a:ext>
                </a:extLst>
              </a:tr>
              <a:tr h="224028">
                <a:tc>
                  <a:txBody>
                    <a:bodyPr/>
                    <a:lstStyle/>
                    <a:p>
                      <a:r>
                        <a:rPr sz="1000" b="1">
                          <a:latin typeface="Calibri"/>
                        </a:rPr>
                        <a:t>heatshrink</a:t>
                      </a:r>
                    </a:p>
                  </a:txBody>
                  <a:tcPr>
                    <a:solidFill>
                      <a:srgbClr val="EFF3FA"/>
                    </a:solidFill>
                  </a:tcPr>
                </a:tc>
                <a:tc>
                  <a:txBody>
                    <a:bodyPr/>
                    <a:lstStyle/>
                    <a:p>
                      <a:r>
                        <a:rPr sz="1000" b="0">
                          <a:latin typeface="Calibri"/>
                        </a:rPr>
                        <a:t>1346</a:t>
                      </a:r>
                    </a:p>
                  </a:txBody>
                  <a:tcPr>
                    <a:solidFill>
                      <a:srgbClr val="EFF3FA"/>
                    </a:solidFill>
                  </a:tcPr>
                </a:tc>
                <a:tc>
                  <a:txBody>
                    <a:bodyPr/>
                    <a:lstStyle/>
                    <a:p>
                      <a:r>
                        <a:rPr sz="1000" b="0">
                          <a:latin typeface="Calibri"/>
                        </a:rPr>
                        <a:t>1440</a:t>
                      </a:r>
                    </a:p>
                  </a:txBody>
                  <a:tcPr>
                    <a:solidFill>
                      <a:srgbClr val="EFF3FA"/>
                    </a:solidFill>
                  </a:tcPr>
                </a:tc>
                <a:tc>
                  <a:txBody>
                    <a:bodyPr/>
                    <a:lstStyle/>
                    <a:p>
                      <a:r>
                        <a:rPr sz="1000" b="0">
                          <a:solidFill>
                            <a:srgbClr val="187A33"/>
                          </a:solidFill>
                          <a:latin typeface="Calibri"/>
                        </a:rPr>
                        <a:t>6%</a:t>
                      </a:r>
                    </a:p>
                  </a:txBody>
                  <a:tcPr>
                    <a:solidFill>
                      <a:srgbClr val="EFF3FA"/>
                    </a:solidFill>
                  </a:tcPr>
                </a:tc>
                <a:extLst>
                  <a:ext uri="{0D108BD9-81ED-4DB2-BD59-A6C34878D82A}">
                    <a16:rowId xmlns:a16="http://schemas.microsoft.com/office/drawing/2014/main" val="10011"/>
                  </a:ext>
                </a:extLst>
              </a:tr>
              <a:tr h="224028">
                <a:tc>
                  <a:txBody>
                    <a:bodyPr/>
                    <a:lstStyle/>
                    <a:p>
                      <a:r>
                        <a:rPr sz="1000" b="1">
                          <a:latin typeface="Calibri"/>
                        </a:rPr>
                        <a:t>bb-sortn</a:t>
                      </a:r>
                    </a:p>
                  </a:txBody>
                  <a:tcPr>
                    <a:solidFill>
                      <a:srgbClr val="FFFFFF"/>
                    </a:solidFill>
                  </a:tcPr>
                </a:tc>
                <a:tc>
                  <a:txBody>
                    <a:bodyPr/>
                    <a:lstStyle/>
                    <a:p>
                      <a:r>
                        <a:rPr sz="1000" b="0">
                          <a:latin typeface="Calibri"/>
                        </a:rPr>
                        <a:t>1345</a:t>
                      </a:r>
                    </a:p>
                  </a:txBody>
                  <a:tcPr>
                    <a:solidFill>
                      <a:srgbClr val="FFFFFF"/>
                    </a:solidFill>
                  </a:tcPr>
                </a:tc>
                <a:tc>
                  <a:txBody>
                    <a:bodyPr/>
                    <a:lstStyle/>
                    <a:p>
                      <a:r>
                        <a:rPr sz="1000" b="0">
                          <a:latin typeface="Calibri"/>
                        </a:rPr>
                        <a:t>1438</a:t>
                      </a:r>
                    </a:p>
                  </a:txBody>
                  <a:tcPr>
                    <a:solidFill>
                      <a:srgbClr val="FFFFFF"/>
                    </a:solidFill>
                  </a:tcPr>
                </a:tc>
                <a:tc>
                  <a:txBody>
                    <a:bodyPr/>
                    <a:lstStyle/>
                    <a:p>
                      <a:r>
                        <a:rPr sz="1000" b="0">
                          <a:solidFill>
                            <a:srgbClr val="187A33"/>
                          </a:solidFill>
                          <a:latin typeface="Calibri"/>
                        </a:rPr>
                        <a:t>6%</a:t>
                      </a:r>
                    </a:p>
                  </a:txBody>
                  <a:tcPr>
                    <a:solidFill>
                      <a:srgbClr val="FFFFFF"/>
                    </a:solidFill>
                  </a:tcPr>
                </a:tc>
                <a:extLst>
                  <a:ext uri="{0D108BD9-81ED-4DB2-BD59-A6C34878D82A}">
                    <a16:rowId xmlns:a16="http://schemas.microsoft.com/office/drawing/2014/main" val="10012"/>
                  </a:ext>
                </a:extLst>
              </a:tr>
              <a:tr h="224028">
                <a:tc>
                  <a:txBody>
                    <a:bodyPr/>
                    <a:lstStyle/>
                    <a:p>
                      <a:r>
                        <a:rPr sz="1000" b="1">
                          <a:latin typeface="Calibri"/>
                        </a:rPr>
                        <a:t>bb-cksum</a:t>
                      </a:r>
                    </a:p>
                  </a:txBody>
                  <a:tcPr>
                    <a:solidFill>
                      <a:srgbClr val="EFF3FA"/>
                    </a:solidFill>
                  </a:tcPr>
                </a:tc>
                <a:tc>
                  <a:txBody>
                    <a:bodyPr/>
                    <a:lstStyle/>
                    <a:p>
                      <a:r>
                        <a:rPr sz="1000" b="0">
                          <a:latin typeface="Calibri"/>
                        </a:rPr>
                        <a:t>1316</a:t>
                      </a:r>
                    </a:p>
                  </a:txBody>
                  <a:tcPr>
                    <a:solidFill>
                      <a:srgbClr val="EFF3FA"/>
                    </a:solidFill>
                  </a:tcPr>
                </a:tc>
                <a:tc>
                  <a:txBody>
                    <a:bodyPr/>
                    <a:lstStyle/>
                    <a:p>
                      <a:r>
                        <a:rPr sz="1000" b="0">
                          <a:latin typeface="Calibri"/>
                        </a:rPr>
                        <a:t>1437</a:t>
                      </a:r>
                    </a:p>
                  </a:txBody>
                  <a:tcPr>
                    <a:solidFill>
                      <a:srgbClr val="EFF3FA"/>
                    </a:solidFill>
                  </a:tcPr>
                </a:tc>
                <a:tc>
                  <a:txBody>
                    <a:bodyPr/>
                    <a:lstStyle/>
                    <a:p>
                      <a:r>
                        <a:rPr sz="1000" b="0" dirty="0">
                          <a:solidFill>
                            <a:srgbClr val="187A33"/>
                          </a:solidFill>
                          <a:latin typeface="Calibri"/>
                        </a:rPr>
                        <a:t>8%</a:t>
                      </a:r>
                    </a:p>
                  </a:txBody>
                  <a:tcPr>
                    <a:solidFill>
                      <a:srgbClr val="EFF3FA"/>
                    </a:solidFill>
                  </a:tcPr>
                </a:tc>
                <a:extLst>
                  <a:ext uri="{0D108BD9-81ED-4DB2-BD59-A6C34878D82A}">
                    <a16:rowId xmlns:a16="http://schemas.microsoft.com/office/drawing/2014/main" val="10013"/>
                  </a:ext>
                </a:extLst>
              </a:tr>
              <a:tr h="224028">
                <a:tc>
                  <a:txBody>
                    <a:bodyPr/>
                    <a:lstStyle/>
                    <a:p>
                      <a:r>
                        <a:rPr sz="1000" b="1">
                          <a:latin typeface="Calibri"/>
                        </a:rPr>
                        <a:t>rd-plasma</a:t>
                      </a:r>
                    </a:p>
                  </a:txBody>
                  <a:tcPr>
                    <a:solidFill>
                      <a:srgbClr val="FFFFFF"/>
                    </a:solidFill>
                  </a:tcPr>
                </a:tc>
                <a:tc>
                  <a:txBody>
                    <a:bodyPr/>
                    <a:lstStyle/>
                    <a:p>
                      <a:r>
                        <a:rPr sz="1000" b="0">
                          <a:latin typeface="Calibri"/>
                        </a:rPr>
                        <a:t>1331</a:t>
                      </a:r>
                    </a:p>
                  </a:txBody>
                  <a:tcPr>
                    <a:solidFill>
                      <a:srgbClr val="FFFFFF"/>
                    </a:solidFill>
                  </a:tcPr>
                </a:tc>
                <a:tc>
                  <a:txBody>
                    <a:bodyPr/>
                    <a:lstStyle/>
                    <a:p>
                      <a:r>
                        <a:rPr sz="1000" b="0">
                          <a:latin typeface="Calibri"/>
                        </a:rPr>
                        <a:t>1434</a:t>
                      </a:r>
                    </a:p>
                  </a:txBody>
                  <a:tcPr>
                    <a:solidFill>
                      <a:srgbClr val="FFFFFF"/>
                    </a:solidFill>
                  </a:tcPr>
                </a:tc>
                <a:tc>
                  <a:txBody>
                    <a:bodyPr/>
                    <a:lstStyle/>
                    <a:p>
                      <a:r>
                        <a:rPr sz="1000" b="0">
                          <a:solidFill>
                            <a:srgbClr val="187A33"/>
                          </a:solidFill>
                          <a:latin typeface="Calibri"/>
                        </a:rPr>
                        <a:t>7%</a:t>
                      </a:r>
                    </a:p>
                  </a:txBody>
                  <a:tcPr>
                    <a:solidFill>
                      <a:srgbClr val="FFFFFF"/>
                    </a:solidFill>
                  </a:tcPr>
                </a:tc>
                <a:extLst>
                  <a:ext uri="{0D108BD9-81ED-4DB2-BD59-A6C34878D82A}">
                    <a16:rowId xmlns:a16="http://schemas.microsoft.com/office/drawing/2014/main" val="10014"/>
                  </a:ext>
                </a:extLst>
              </a:tr>
              <a:tr h="224028">
                <a:tc>
                  <a:txBody>
                    <a:bodyPr/>
                    <a:lstStyle/>
                    <a:p>
                      <a:r>
                        <a:rPr sz="1000" b="1">
                          <a:latin typeface="Calibri"/>
                        </a:rPr>
                        <a:t>sqlite-heavy</a:t>
                      </a:r>
                    </a:p>
                  </a:txBody>
                  <a:tcPr>
                    <a:solidFill>
                      <a:srgbClr val="EFF3FA"/>
                    </a:solidFill>
                  </a:tcPr>
                </a:tc>
                <a:tc>
                  <a:txBody>
                    <a:bodyPr/>
                    <a:lstStyle/>
                    <a:p>
                      <a:r>
                        <a:rPr sz="1000" b="0">
                          <a:latin typeface="Calibri"/>
                        </a:rPr>
                        <a:t>1350</a:t>
                      </a:r>
                    </a:p>
                  </a:txBody>
                  <a:tcPr>
                    <a:solidFill>
                      <a:srgbClr val="EFF3FA"/>
                    </a:solidFill>
                  </a:tcPr>
                </a:tc>
                <a:tc>
                  <a:txBody>
                    <a:bodyPr/>
                    <a:lstStyle/>
                    <a:p>
                      <a:r>
                        <a:rPr sz="1000" b="0">
                          <a:latin typeface="Calibri"/>
                        </a:rPr>
                        <a:t>1434</a:t>
                      </a:r>
                    </a:p>
                  </a:txBody>
                  <a:tcPr>
                    <a:solidFill>
                      <a:srgbClr val="EFF3FA"/>
                    </a:solidFill>
                  </a:tcPr>
                </a:tc>
                <a:tc>
                  <a:txBody>
                    <a:bodyPr/>
                    <a:lstStyle/>
                    <a:p>
                      <a:r>
                        <a:rPr sz="1000" b="0" dirty="0">
                          <a:solidFill>
                            <a:srgbClr val="187A33"/>
                          </a:solidFill>
                          <a:latin typeface="Calibri"/>
                        </a:rPr>
                        <a:t>6%</a:t>
                      </a:r>
                    </a:p>
                  </a:txBody>
                  <a:tcPr>
                    <a:solidFill>
                      <a:srgbClr val="EFF3FA"/>
                    </a:solidFill>
                  </a:tcPr>
                </a:tc>
                <a:extLst>
                  <a:ext uri="{0D108BD9-81ED-4DB2-BD59-A6C34878D82A}">
                    <a16:rowId xmlns:a16="http://schemas.microsoft.com/office/drawing/2014/main" val="10015"/>
                  </a:ext>
                </a:extLst>
              </a:tr>
              <a:tr h="224028">
                <a:tc>
                  <a:txBody>
                    <a:bodyPr/>
                    <a:lstStyle/>
                    <a:p>
                      <a:r>
                        <a:rPr sz="1000" b="1">
                          <a:latin typeface="Calibri"/>
                        </a:rPr>
                        <a:t>bb-gzip</a:t>
                      </a:r>
                    </a:p>
                  </a:txBody>
                  <a:tcPr>
                    <a:solidFill>
                      <a:srgbClr val="FFFFFF"/>
                    </a:solidFill>
                  </a:tcPr>
                </a:tc>
                <a:tc>
                  <a:txBody>
                    <a:bodyPr/>
                    <a:lstStyle/>
                    <a:p>
                      <a:r>
                        <a:rPr sz="1000" b="0">
                          <a:latin typeface="Calibri"/>
                        </a:rPr>
                        <a:t>1335</a:t>
                      </a:r>
                    </a:p>
                  </a:txBody>
                  <a:tcPr>
                    <a:solidFill>
                      <a:srgbClr val="FFFFFF"/>
                    </a:solidFill>
                  </a:tcPr>
                </a:tc>
                <a:tc>
                  <a:txBody>
                    <a:bodyPr/>
                    <a:lstStyle/>
                    <a:p>
                      <a:r>
                        <a:rPr sz="1000" b="0">
                          <a:latin typeface="Calibri"/>
                        </a:rPr>
                        <a:t>1433</a:t>
                      </a:r>
                    </a:p>
                  </a:txBody>
                  <a:tcPr>
                    <a:solidFill>
                      <a:srgbClr val="FFFFFF"/>
                    </a:solidFill>
                  </a:tcPr>
                </a:tc>
                <a:tc>
                  <a:txBody>
                    <a:bodyPr/>
                    <a:lstStyle/>
                    <a:p>
                      <a:r>
                        <a:rPr sz="1000" b="0">
                          <a:solidFill>
                            <a:srgbClr val="187A33"/>
                          </a:solidFill>
                          <a:latin typeface="Calibri"/>
                        </a:rPr>
                        <a:t>7%</a:t>
                      </a:r>
                    </a:p>
                  </a:txBody>
                  <a:tcPr>
                    <a:solidFill>
                      <a:srgbClr val="FFFFFF"/>
                    </a:solidFill>
                  </a:tcPr>
                </a:tc>
                <a:extLst>
                  <a:ext uri="{0D108BD9-81ED-4DB2-BD59-A6C34878D82A}">
                    <a16:rowId xmlns:a16="http://schemas.microsoft.com/office/drawing/2014/main" val="10016"/>
                  </a:ext>
                </a:extLst>
              </a:tr>
              <a:tr h="224028">
                <a:tc>
                  <a:txBody>
                    <a:bodyPr/>
                    <a:lstStyle/>
                    <a:p>
                      <a:r>
                        <a:rPr sz="1000" b="1">
                          <a:latin typeface="Calibri"/>
                        </a:rPr>
                        <a:t>sqlite</a:t>
                      </a:r>
                    </a:p>
                  </a:txBody>
                  <a:tcPr>
                    <a:solidFill>
                      <a:srgbClr val="EFF3FA"/>
                    </a:solidFill>
                  </a:tcPr>
                </a:tc>
                <a:tc>
                  <a:txBody>
                    <a:bodyPr/>
                    <a:lstStyle/>
                    <a:p>
                      <a:r>
                        <a:rPr sz="1000" b="0">
                          <a:latin typeface="Calibri"/>
                        </a:rPr>
                        <a:t>1351</a:t>
                      </a:r>
                    </a:p>
                  </a:txBody>
                  <a:tcPr>
                    <a:solidFill>
                      <a:srgbClr val="EFF3FA"/>
                    </a:solidFill>
                  </a:tcPr>
                </a:tc>
                <a:tc>
                  <a:txBody>
                    <a:bodyPr/>
                    <a:lstStyle/>
                    <a:p>
                      <a:r>
                        <a:rPr sz="1000" b="0">
                          <a:latin typeface="Calibri"/>
                        </a:rPr>
                        <a:t>1432</a:t>
                      </a:r>
                    </a:p>
                  </a:txBody>
                  <a:tcPr>
                    <a:solidFill>
                      <a:srgbClr val="EFF3FA"/>
                    </a:solidFill>
                  </a:tcPr>
                </a:tc>
                <a:tc>
                  <a:txBody>
                    <a:bodyPr/>
                    <a:lstStyle/>
                    <a:p>
                      <a:r>
                        <a:rPr sz="1000" b="0" dirty="0">
                          <a:solidFill>
                            <a:srgbClr val="187A33"/>
                          </a:solidFill>
                          <a:latin typeface="Calibri"/>
                        </a:rPr>
                        <a:t>6%</a:t>
                      </a:r>
                    </a:p>
                  </a:txBody>
                  <a:tcPr>
                    <a:solidFill>
                      <a:srgbClr val="EFF3FA"/>
                    </a:solidFill>
                  </a:tcPr>
                </a:tc>
                <a:extLst>
                  <a:ext uri="{0D108BD9-81ED-4DB2-BD59-A6C34878D82A}">
                    <a16:rowId xmlns:a16="http://schemas.microsoft.com/office/drawing/2014/main" val="10017"/>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29268202"/>
              </p:ext>
            </p:extLst>
          </p:nvPr>
        </p:nvGraphicFramePr>
        <p:xfrm>
          <a:off x="8321040" y="1664208"/>
          <a:ext cx="3703320" cy="4145280"/>
        </p:xfrm>
        <a:graphic>
          <a:graphicData uri="http://schemas.openxmlformats.org/drawingml/2006/table">
            <a:tbl>
              <a:tblPr firstRow="1" bandRow="1">
                <a:tableStyleId>{5C22544A-7EE6-4342-B048-85BDC9FD1C3A}</a:tableStyleId>
              </a:tblPr>
              <a:tblGrid>
                <a:gridCol w="141732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224028">
                <a:tc>
                  <a:txBody>
                    <a:bodyPr/>
                    <a:lstStyle/>
                    <a:p>
                      <a:r>
                        <a:rPr sz="1000" b="1" dirty="0">
                          <a:solidFill>
                            <a:srgbClr val="FFFFFF"/>
                          </a:solidFill>
                          <a:latin typeface="Calibri"/>
                        </a:rPr>
                        <a:t>app</a:t>
                      </a:r>
                    </a:p>
                  </a:txBody>
                  <a:tcPr>
                    <a:solidFill>
                      <a:srgbClr val="202124"/>
                    </a:solidFill>
                  </a:tcPr>
                </a:tc>
                <a:tc>
                  <a:txBody>
                    <a:bodyPr/>
                    <a:lstStyle/>
                    <a:p>
                      <a:r>
                        <a:rPr sz="1000" b="1">
                          <a:solidFill>
                            <a:srgbClr val="FFFFFF"/>
                          </a:solidFill>
                          <a:latin typeface="Calibri"/>
                        </a:rPr>
                        <a:t>pred</a:t>
                      </a:r>
                    </a:p>
                  </a:txBody>
                  <a:tcPr>
                    <a:solidFill>
                      <a:srgbClr val="202124"/>
                    </a:solidFill>
                  </a:tcPr>
                </a:tc>
                <a:tc>
                  <a:txBody>
                    <a:bodyPr/>
                    <a:lstStyle/>
                    <a:p>
                      <a:r>
                        <a:rPr sz="1000" b="1">
                          <a:solidFill>
                            <a:srgbClr val="FFFFFF"/>
                          </a:solidFill>
                          <a:latin typeface="Calibri"/>
                        </a:rPr>
                        <a:t>meas</a:t>
                      </a:r>
                    </a:p>
                  </a:txBody>
                  <a:tcPr>
                    <a:solidFill>
                      <a:srgbClr val="202124"/>
                    </a:solidFill>
                  </a:tcPr>
                </a:tc>
                <a:tc>
                  <a:txBody>
                    <a:bodyPr/>
                    <a:lstStyle/>
                    <a:p>
                      <a:r>
                        <a:rPr sz="1000" b="1">
                          <a:solidFill>
                            <a:srgbClr val="FFFFFF"/>
                          </a:solidFill>
                          <a:latin typeface="Calibri"/>
                        </a:rPr>
                        <a:t>err</a:t>
                      </a:r>
                    </a:p>
                  </a:txBody>
                  <a:tcPr>
                    <a:solidFill>
                      <a:srgbClr val="202124"/>
                    </a:solidFill>
                  </a:tcPr>
                </a:tc>
                <a:extLst>
                  <a:ext uri="{0D108BD9-81ED-4DB2-BD59-A6C34878D82A}">
                    <a16:rowId xmlns:a16="http://schemas.microsoft.com/office/drawing/2014/main" val="10000"/>
                  </a:ext>
                </a:extLst>
              </a:tr>
              <a:tr h="224028">
                <a:tc>
                  <a:txBody>
                    <a:bodyPr/>
                    <a:lstStyle/>
                    <a:p>
                      <a:r>
                        <a:rPr sz="1000" b="1" dirty="0">
                          <a:latin typeface="Calibri"/>
                        </a:rPr>
                        <a:t>parson</a:t>
                      </a:r>
                    </a:p>
                  </a:txBody>
                  <a:tcPr>
                    <a:solidFill>
                      <a:srgbClr val="EFF3FA"/>
                    </a:solidFill>
                  </a:tcPr>
                </a:tc>
                <a:tc>
                  <a:txBody>
                    <a:bodyPr/>
                    <a:lstStyle/>
                    <a:p>
                      <a:r>
                        <a:rPr sz="1000" b="0">
                          <a:latin typeface="Calibri"/>
                        </a:rPr>
                        <a:t>1339</a:t>
                      </a:r>
                    </a:p>
                  </a:txBody>
                  <a:tcPr>
                    <a:solidFill>
                      <a:srgbClr val="EFF3FA"/>
                    </a:solidFill>
                  </a:tcPr>
                </a:tc>
                <a:tc>
                  <a:txBody>
                    <a:bodyPr/>
                    <a:lstStyle/>
                    <a:p>
                      <a:r>
                        <a:rPr sz="1000" b="0">
                          <a:latin typeface="Calibri"/>
                        </a:rPr>
                        <a:t>1432</a:t>
                      </a:r>
                    </a:p>
                  </a:txBody>
                  <a:tcPr>
                    <a:solidFill>
                      <a:srgbClr val="EFF3FA"/>
                    </a:solidFill>
                  </a:tcPr>
                </a:tc>
                <a:tc>
                  <a:txBody>
                    <a:bodyPr/>
                    <a:lstStyle/>
                    <a:p>
                      <a:r>
                        <a:rPr sz="1000" b="0">
                          <a:solidFill>
                            <a:srgbClr val="187A33"/>
                          </a:solidFill>
                          <a:latin typeface="Calibri"/>
                        </a:rPr>
                        <a:t>6%</a:t>
                      </a:r>
                    </a:p>
                  </a:txBody>
                  <a:tcPr>
                    <a:solidFill>
                      <a:srgbClr val="EFF3FA"/>
                    </a:solidFill>
                  </a:tcPr>
                </a:tc>
                <a:extLst>
                  <a:ext uri="{0D108BD9-81ED-4DB2-BD59-A6C34878D82A}">
                    <a16:rowId xmlns:a16="http://schemas.microsoft.com/office/drawing/2014/main" val="10001"/>
                  </a:ext>
                </a:extLst>
              </a:tr>
              <a:tr h="224028">
                <a:tc>
                  <a:txBody>
                    <a:bodyPr/>
                    <a:lstStyle/>
                    <a:p>
                      <a:r>
                        <a:rPr sz="1000" b="1">
                          <a:latin typeface="Calibri"/>
                        </a:rPr>
                        <a:t>bb-awk</a:t>
                      </a:r>
                    </a:p>
                  </a:txBody>
                  <a:tcPr>
                    <a:solidFill>
                      <a:srgbClr val="FFFFFF"/>
                    </a:solidFill>
                  </a:tcPr>
                </a:tc>
                <a:tc>
                  <a:txBody>
                    <a:bodyPr/>
                    <a:lstStyle/>
                    <a:p>
                      <a:r>
                        <a:rPr sz="1000" b="0">
                          <a:latin typeface="Calibri"/>
                        </a:rPr>
                        <a:t>1336</a:t>
                      </a:r>
                    </a:p>
                  </a:txBody>
                  <a:tcPr>
                    <a:solidFill>
                      <a:srgbClr val="FFFFFF"/>
                    </a:solidFill>
                  </a:tcPr>
                </a:tc>
                <a:tc>
                  <a:txBody>
                    <a:bodyPr/>
                    <a:lstStyle/>
                    <a:p>
                      <a:r>
                        <a:rPr sz="1000" b="0">
                          <a:latin typeface="Calibri"/>
                        </a:rPr>
                        <a:t>1428</a:t>
                      </a:r>
                    </a:p>
                  </a:txBody>
                  <a:tcPr>
                    <a:solidFill>
                      <a:srgbClr val="FFFFFF"/>
                    </a:solidFill>
                  </a:tcPr>
                </a:tc>
                <a:tc>
                  <a:txBody>
                    <a:bodyPr/>
                    <a:lstStyle/>
                    <a:p>
                      <a:r>
                        <a:rPr sz="1000" b="0">
                          <a:solidFill>
                            <a:srgbClr val="187A33"/>
                          </a:solidFill>
                          <a:latin typeface="Calibri"/>
                        </a:rPr>
                        <a:t>6%</a:t>
                      </a:r>
                    </a:p>
                  </a:txBody>
                  <a:tcPr>
                    <a:solidFill>
                      <a:srgbClr val="FFFFFF"/>
                    </a:solidFill>
                  </a:tcPr>
                </a:tc>
                <a:extLst>
                  <a:ext uri="{0D108BD9-81ED-4DB2-BD59-A6C34878D82A}">
                    <a16:rowId xmlns:a16="http://schemas.microsoft.com/office/drawing/2014/main" val="10002"/>
                  </a:ext>
                </a:extLst>
              </a:tr>
              <a:tr h="224028">
                <a:tc>
                  <a:txBody>
                    <a:bodyPr/>
                    <a:lstStyle/>
                    <a:p>
                      <a:r>
                        <a:rPr sz="1000" b="1" dirty="0">
                          <a:latin typeface="Calibri"/>
                        </a:rPr>
                        <a:t>bb-sed</a:t>
                      </a:r>
                    </a:p>
                  </a:txBody>
                  <a:tcPr>
                    <a:solidFill>
                      <a:srgbClr val="EFF3FA"/>
                    </a:solidFill>
                  </a:tcPr>
                </a:tc>
                <a:tc>
                  <a:txBody>
                    <a:bodyPr/>
                    <a:lstStyle/>
                    <a:p>
                      <a:r>
                        <a:rPr sz="1000" b="0">
                          <a:latin typeface="Calibri"/>
                        </a:rPr>
                        <a:t>1343</a:t>
                      </a:r>
                    </a:p>
                  </a:txBody>
                  <a:tcPr>
                    <a:solidFill>
                      <a:srgbClr val="EFF3FA"/>
                    </a:solidFill>
                  </a:tcPr>
                </a:tc>
                <a:tc>
                  <a:txBody>
                    <a:bodyPr/>
                    <a:lstStyle/>
                    <a:p>
                      <a:r>
                        <a:rPr sz="1000" b="0">
                          <a:latin typeface="Calibri"/>
                        </a:rPr>
                        <a:t>1425</a:t>
                      </a:r>
                    </a:p>
                  </a:txBody>
                  <a:tcPr>
                    <a:solidFill>
                      <a:srgbClr val="EFF3FA"/>
                    </a:solidFill>
                  </a:tcPr>
                </a:tc>
                <a:tc>
                  <a:txBody>
                    <a:bodyPr/>
                    <a:lstStyle/>
                    <a:p>
                      <a:r>
                        <a:rPr sz="1000" b="0">
                          <a:solidFill>
                            <a:srgbClr val="187A33"/>
                          </a:solidFill>
                          <a:latin typeface="Calibri"/>
                        </a:rPr>
                        <a:t>6%</a:t>
                      </a:r>
                    </a:p>
                  </a:txBody>
                  <a:tcPr>
                    <a:solidFill>
                      <a:srgbClr val="EFF3FA"/>
                    </a:solidFill>
                  </a:tcPr>
                </a:tc>
                <a:extLst>
                  <a:ext uri="{0D108BD9-81ED-4DB2-BD59-A6C34878D82A}">
                    <a16:rowId xmlns:a16="http://schemas.microsoft.com/office/drawing/2014/main" val="10003"/>
                  </a:ext>
                </a:extLst>
              </a:tr>
              <a:tr h="224028">
                <a:tc>
                  <a:txBody>
                    <a:bodyPr/>
                    <a:lstStyle/>
                    <a:p>
                      <a:r>
                        <a:rPr sz="1000" b="1">
                          <a:latin typeface="Calibri"/>
                        </a:rPr>
                        <a:t>bb-sha1</a:t>
                      </a:r>
                    </a:p>
                  </a:txBody>
                  <a:tcPr>
                    <a:solidFill>
                      <a:srgbClr val="FFFFFF"/>
                    </a:solidFill>
                  </a:tcPr>
                </a:tc>
                <a:tc>
                  <a:txBody>
                    <a:bodyPr/>
                    <a:lstStyle/>
                    <a:p>
                      <a:r>
                        <a:rPr sz="1000" b="0">
                          <a:latin typeface="Calibri"/>
                        </a:rPr>
                        <a:t>1383</a:t>
                      </a:r>
                    </a:p>
                  </a:txBody>
                  <a:tcPr>
                    <a:solidFill>
                      <a:srgbClr val="FFFFFF"/>
                    </a:solidFill>
                  </a:tcPr>
                </a:tc>
                <a:tc>
                  <a:txBody>
                    <a:bodyPr/>
                    <a:lstStyle/>
                    <a:p>
                      <a:r>
                        <a:rPr sz="1000" b="0">
                          <a:latin typeface="Calibri"/>
                        </a:rPr>
                        <a:t>1421</a:t>
                      </a:r>
                    </a:p>
                  </a:txBody>
                  <a:tcPr>
                    <a:solidFill>
                      <a:srgbClr val="FFFFFF"/>
                    </a:solidFill>
                  </a:tcPr>
                </a:tc>
                <a:tc>
                  <a:txBody>
                    <a:bodyPr/>
                    <a:lstStyle/>
                    <a:p>
                      <a:r>
                        <a:rPr sz="1000" b="0">
                          <a:solidFill>
                            <a:srgbClr val="187A33"/>
                          </a:solidFill>
                          <a:latin typeface="Calibri"/>
                        </a:rPr>
                        <a:t>3%</a:t>
                      </a:r>
                    </a:p>
                  </a:txBody>
                  <a:tcPr>
                    <a:solidFill>
                      <a:srgbClr val="FFFFFF"/>
                    </a:solidFill>
                  </a:tcPr>
                </a:tc>
                <a:extLst>
                  <a:ext uri="{0D108BD9-81ED-4DB2-BD59-A6C34878D82A}">
                    <a16:rowId xmlns:a16="http://schemas.microsoft.com/office/drawing/2014/main" val="10004"/>
                  </a:ext>
                </a:extLst>
              </a:tr>
              <a:tr h="224028">
                <a:tc>
                  <a:txBody>
                    <a:bodyPr/>
                    <a:lstStyle/>
                    <a:p>
                      <a:r>
                        <a:rPr sz="1000" b="1">
                          <a:latin typeface="Calibri"/>
                        </a:rPr>
                        <a:t>cjson</a:t>
                      </a:r>
                    </a:p>
                  </a:txBody>
                  <a:tcPr>
                    <a:solidFill>
                      <a:srgbClr val="EFF3FA"/>
                    </a:solidFill>
                  </a:tcPr>
                </a:tc>
                <a:tc>
                  <a:txBody>
                    <a:bodyPr/>
                    <a:lstStyle/>
                    <a:p>
                      <a:r>
                        <a:rPr sz="1000" b="0">
                          <a:latin typeface="Calibri"/>
                        </a:rPr>
                        <a:t>1339</a:t>
                      </a:r>
                    </a:p>
                  </a:txBody>
                  <a:tcPr>
                    <a:solidFill>
                      <a:srgbClr val="EFF3FA"/>
                    </a:solidFill>
                  </a:tcPr>
                </a:tc>
                <a:tc>
                  <a:txBody>
                    <a:bodyPr/>
                    <a:lstStyle/>
                    <a:p>
                      <a:r>
                        <a:rPr sz="1000" b="0">
                          <a:latin typeface="Calibri"/>
                        </a:rPr>
                        <a:t>1420</a:t>
                      </a:r>
                    </a:p>
                  </a:txBody>
                  <a:tcPr>
                    <a:solidFill>
                      <a:srgbClr val="EFF3FA"/>
                    </a:solidFill>
                  </a:tcPr>
                </a:tc>
                <a:tc>
                  <a:txBody>
                    <a:bodyPr/>
                    <a:lstStyle/>
                    <a:p>
                      <a:r>
                        <a:rPr sz="1000" b="0">
                          <a:solidFill>
                            <a:srgbClr val="187A33"/>
                          </a:solidFill>
                          <a:latin typeface="Calibri"/>
                        </a:rPr>
                        <a:t>6%</a:t>
                      </a:r>
                    </a:p>
                  </a:txBody>
                  <a:tcPr>
                    <a:solidFill>
                      <a:srgbClr val="EFF3FA"/>
                    </a:solidFill>
                  </a:tcPr>
                </a:tc>
                <a:extLst>
                  <a:ext uri="{0D108BD9-81ED-4DB2-BD59-A6C34878D82A}">
                    <a16:rowId xmlns:a16="http://schemas.microsoft.com/office/drawing/2014/main" val="10005"/>
                  </a:ext>
                </a:extLst>
              </a:tr>
              <a:tr h="224028">
                <a:tc>
                  <a:txBody>
                    <a:bodyPr/>
                    <a:lstStyle/>
                    <a:p>
                      <a:r>
                        <a:rPr sz="1000" b="1">
                          <a:latin typeface="Calibri"/>
                        </a:rPr>
                        <a:t>pcg</a:t>
                      </a:r>
                    </a:p>
                  </a:txBody>
                  <a:tcPr>
                    <a:solidFill>
                      <a:srgbClr val="FFFFFF"/>
                    </a:solidFill>
                  </a:tcPr>
                </a:tc>
                <a:tc>
                  <a:txBody>
                    <a:bodyPr/>
                    <a:lstStyle/>
                    <a:p>
                      <a:r>
                        <a:rPr sz="1000" b="0">
                          <a:latin typeface="Calibri"/>
                        </a:rPr>
                        <a:t>1349</a:t>
                      </a:r>
                    </a:p>
                  </a:txBody>
                  <a:tcPr>
                    <a:solidFill>
                      <a:srgbClr val="FFFFFF"/>
                    </a:solidFill>
                  </a:tcPr>
                </a:tc>
                <a:tc>
                  <a:txBody>
                    <a:bodyPr/>
                    <a:lstStyle/>
                    <a:p>
                      <a:r>
                        <a:rPr sz="1000" b="0">
                          <a:latin typeface="Calibri"/>
                        </a:rPr>
                        <a:t>1419</a:t>
                      </a:r>
                    </a:p>
                  </a:txBody>
                  <a:tcPr>
                    <a:solidFill>
                      <a:srgbClr val="FFFFFF"/>
                    </a:solidFill>
                  </a:tcPr>
                </a:tc>
                <a:tc>
                  <a:txBody>
                    <a:bodyPr/>
                    <a:lstStyle/>
                    <a:p>
                      <a:r>
                        <a:rPr sz="1000" b="0">
                          <a:solidFill>
                            <a:srgbClr val="187A33"/>
                          </a:solidFill>
                          <a:latin typeface="Calibri"/>
                        </a:rPr>
                        <a:t>5%</a:t>
                      </a:r>
                    </a:p>
                  </a:txBody>
                  <a:tcPr>
                    <a:solidFill>
                      <a:srgbClr val="FFFFFF"/>
                    </a:solidFill>
                  </a:tcPr>
                </a:tc>
                <a:extLst>
                  <a:ext uri="{0D108BD9-81ED-4DB2-BD59-A6C34878D82A}">
                    <a16:rowId xmlns:a16="http://schemas.microsoft.com/office/drawing/2014/main" val="10006"/>
                  </a:ext>
                </a:extLst>
              </a:tr>
              <a:tr h="224028">
                <a:tc>
                  <a:txBody>
                    <a:bodyPr/>
                    <a:lstStyle/>
                    <a:p>
                      <a:r>
                        <a:rPr sz="1000" b="1">
                          <a:latin typeface="Calibri"/>
                        </a:rPr>
                        <a:t>rd-mandel</a:t>
                      </a:r>
                    </a:p>
                  </a:txBody>
                  <a:tcPr>
                    <a:solidFill>
                      <a:srgbClr val="EFF3FA"/>
                    </a:solidFill>
                  </a:tcPr>
                </a:tc>
                <a:tc>
                  <a:txBody>
                    <a:bodyPr/>
                    <a:lstStyle/>
                    <a:p>
                      <a:r>
                        <a:rPr sz="1000" b="0" dirty="0">
                          <a:latin typeface="Calibri"/>
                        </a:rPr>
                        <a:t>1317</a:t>
                      </a:r>
                    </a:p>
                  </a:txBody>
                  <a:tcPr>
                    <a:solidFill>
                      <a:srgbClr val="EFF3FA"/>
                    </a:solidFill>
                  </a:tcPr>
                </a:tc>
                <a:tc>
                  <a:txBody>
                    <a:bodyPr/>
                    <a:lstStyle/>
                    <a:p>
                      <a:r>
                        <a:rPr sz="1000" b="0">
                          <a:latin typeface="Calibri"/>
                        </a:rPr>
                        <a:t>1418</a:t>
                      </a:r>
                    </a:p>
                  </a:txBody>
                  <a:tcPr>
                    <a:solidFill>
                      <a:srgbClr val="EFF3FA"/>
                    </a:solidFill>
                  </a:tcPr>
                </a:tc>
                <a:tc>
                  <a:txBody>
                    <a:bodyPr/>
                    <a:lstStyle/>
                    <a:p>
                      <a:r>
                        <a:rPr sz="1000" b="0">
                          <a:solidFill>
                            <a:srgbClr val="187A33"/>
                          </a:solidFill>
                          <a:latin typeface="Calibri"/>
                        </a:rPr>
                        <a:t>7%</a:t>
                      </a:r>
                    </a:p>
                  </a:txBody>
                  <a:tcPr>
                    <a:solidFill>
                      <a:srgbClr val="EFF3FA"/>
                    </a:solidFill>
                  </a:tcPr>
                </a:tc>
                <a:extLst>
                  <a:ext uri="{0D108BD9-81ED-4DB2-BD59-A6C34878D82A}">
                    <a16:rowId xmlns:a16="http://schemas.microsoft.com/office/drawing/2014/main" val="10007"/>
                  </a:ext>
                </a:extLst>
              </a:tr>
              <a:tr h="224028">
                <a:tc>
                  <a:txBody>
                    <a:bodyPr/>
                    <a:lstStyle/>
                    <a:p>
                      <a:r>
                        <a:rPr sz="1000" b="1">
                          <a:latin typeface="Calibri"/>
                        </a:rPr>
                        <a:t>bb-grep</a:t>
                      </a:r>
                    </a:p>
                  </a:txBody>
                  <a:tcPr>
                    <a:solidFill>
                      <a:srgbClr val="FFFFFF"/>
                    </a:solidFill>
                  </a:tcPr>
                </a:tc>
                <a:tc>
                  <a:txBody>
                    <a:bodyPr/>
                    <a:lstStyle/>
                    <a:p>
                      <a:r>
                        <a:rPr sz="1000" b="0">
                          <a:latin typeface="Calibri"/>
                        </a:rPr>
                        <a:t>1347</a:t>
                      </a:r>
                    </a:p>
                  </a:txBody>
                  <a:tcPr>
                    <a:solidFill>
                      <a:srgbClr val="FFFFFF"/>
                    </a:solidFill>
                  </a:tcPr>
                </a:tc>
                <a:tc>
                  <a:txBody>
                    <a:bodyPr/>
                    <a:lstStyle/>
                    <a:p>
                      <a:r>
                        <a:rPr sz="1000" b="0">
                          <a:latin typeface="Calibri"/>
                        </a:rPr>
                        <a:t>1406</a:t>
                      </a:r>
                    </a:p>
                  </a:txBody>
                  <a:tcPr>
                    <a:solidFill>
                      <a:srgbClr val="FFFFFF"/>
                    </a:solidFill>
                  </a:tcPr>
                </a:tc>
                <a:tc>
                  <a:txBody>
                    <a:bodyPr/>
                    <a:lstStyle/>
                    <a:p>
                      <a:r>
                        <a:rPr sz="1000" b="0">
                          <a:solidFill>
                            <a:srgbClr val="187A33"/>
                          </a:solidFill>
                          <a:latin typeface="Calibri"/>
                        </a:rPr>
                        <a:t>4%</a:t>
                      </a:r>
                    </a:p>
                  </a:txBody>
                  <a:tcPr>
                    <a:solidFill>
                      <a:srgbClr val="FFFFFF"/>
                    </a:solidFill>
                  </a:tcPr>
                </a:tc>
                <a:extLst>
                  <a:ext uri="{0D108BD9-81ED-4DB2-BD59-A6C34878D82A}">
                    <a16:rowId xmlns:a16="http://schemas.microsoft.com/office/drawing/2014/main" val="10008"/>
                  </a:ext>
                </a:extLst>
              </a:tr>
              <a:tr h="224028">
                <a:tc>
                  <a:txBody>
                    <a:bodyPr/>
                    <a:lstStyle/>
                    <a:p>
                      <a:r>
                        <a:rPr sz="1000" b="1">
                          <a:latin typeface="Calibri"/>
                        </a:rPr>
                        <a:t>httpp</a:t>
                      </a:r>
                    </a:p>
                  </a:txBody>
                  <a:tcPr>
                    <a:solidFill>
                      <a:srgbClr val="EFF3FA"/>
                    </a:solidFill>
                  </a:tcPr>
                </a:tc>
                <a:tc>
                  <a:txBody>
                    <a:bodyPr/>
                    <a:lstStyle/>
                    <a:p>
                      <a:r>
                        <a:rPr sz="1000" b="0">
                          <a:latin typeface="Calibri"/>
                        </a:rPr>
                        <a:t>1360</a:t>
                      </a:r>
                    </a:p>
                  </a:txBody>
                  <a:tcPr>
                    <a:solidFill>
                      <a:srgbClr val="EFF3FA"/>
                    </a:solidFill>
                  </a:tcPr>
                </a:tc>
                <a:tc>
                  <a:txBody>
                    <a:bodyPr/>
                    <a:lstStyle/>
                    <a:p>
                      <a:r>
                        <a:rPr sz="1000" b="0">
                          <a:latin typeface="Calibri"/>
                        </a:rPr>
                        <a:t>1391</a:t>
                      </a:r>
                    </a:p>
                  </a:txBody>
                  <a:tcPr>
                    <a:solidFill>
                      <a:srgbClr val="EFF3FA"/>
                    </a:solidFill>
                  </a:tcPr>
                </a:tc>
                <a:tc>
                  <a:txBody>
                    <a:bodyPr/>
                    <a:lstStyle/>
                    <a:p>
                      <a:r>
                        <a:rPr sz="1000" b="0">
                          <a:solidFill>
                            <a:srgbClr val="187A33"/>
                          </a:solidFill>
                          <a:latin typeface="Calibri"/>
                        </a:rPr>
                        <a:t>2%</a:t>
                      </a:r>
                    </a:p>
                  </a:txBody>
                  <a:tcPr>
                    <a:solidFill>
                      <a:srgbClr val="EFF3FA"/>
                    </a:solidFill>
                  </a:tcPr>
                </a:tc>
                <a:extLst>
                  <a:ext uri="{0D108BD9-81ED-4DB2-BD59-A6C34878D82A}">
                    <a16:rowId xmlns:a16="http://schemas.microsoft.com/office/drawing/2014/main" val="10009"/>
                  </a:ext>
                </a:extLst>
              </a:tr>
              <a:tr h="224028">
                <a:tc>
                  <a:txBody>
                    <a:bodyPr/>
                    <a:lstStyle/>
                    <a:p>
                      <a:r>
                        <a:rPr sz="1000" b="1">
                          <a:latin typeface="Calibri"/>
                        </a:rPr>
                        <a:t>pacman</a:t>
                      </a:r>
                    </a:p>
                  </a:txBody>
                  <a:tcPr>
                    <a:solidFill>
                      <a:srgbClr val="FFFFFF"/>
                    </a:solidFill>
                  </a:tcPr>
                </a:tc>
                <a:tc>
                  <a:txBody>
                    <a:bodyPr/>
                    <a:lstStyle/>
                    <a:p>
                      <a:r>
                        <a:rPr sz="1000" b="0">
                          <a:latin typeface="Calibri"/>
                        </a:rPr>
                        <a:t>1343</a:t>
                      </a:r>
                    </a:p>
                  </a:txBody>
                  <a:tcPr>
                    <a:solidFill>
                      <a:srgbClr val="FFFFFF"/>
                    </a:solidFill>
                  </a:tcPr>
                </a:tc>
                <a:tc>
                  <a:txBody>
                    <a:bodyPr/>
                    <a:lstStyle/>
                    <a:p>
                      <a:r>
                        <a:rPr sz="1000" b="0">
                          <a:latin typeface="Calibri"/>
                        </a:rPr>
                        <a:t>1386</a:t>
                      </a:r>
                    </a:p>
                  </a:txBody>
                  <a:tcPr>
                    <a:solidFill>
                      <a:srgbClr val="FFFFFF"/>
                    </a:solidFill>
                  </a:tcPr>
                </a:tc>
                <a:tc>
                  <a:txBody>
                    <a:bodyPr/>
                    <a:lstStyle/>
                    <a:p>
                      <a:r>
                        <a:rPr sz="1000" b="0">
                          <a:solidFill>
                            <a:srgbClr val="187A33"/>
                          </a:solidFill>
                          <a:latin typeface="Calibri"/>
                        </a:rPr>
                        <a:t>3%</a:t>
                      </a:r>
                    </a:p>
                  </a:txBody>
                  <a:tcPr>
                    <a:solidFill>
                      <a:srgbClr val="FFFFFF"/>
                    </a:solidFill>
                  </a:tcPr>
                </a:tc>
                <a:extLst>
                  <a:ext uri="{0D108BD9-81ED-4DB2-BD59-A6C34878D82A}">
                    <a16:rowId xmlns:a16="http://schemas.microsoft.com/office/drawing/2014/main" val="10010"/>
                  </a:ext>
                </a:extLst>
              </a:tr>
              <a:tr h="224028">
                <a:tc>
                  <a:txBody>
                    <a:bodyPr/>
                    <a:lstStyle/>
                    <a:p>
                      <a:r>
                        <a:rPr sz="1000" b="1">
                          <a:latin typeface="Calibri"/>
                        </a:rPr>
                        <a:t>pacman-big</a:t>
                      </a:r>
                    </a:p>
                  </a:txBody>
                  <a:tcPr>
                    <a:solidFill>
                      <a:srgbClr val="EFF3FA"/>
                    </a:solidFill>
                  </a:tcPr>
                </a:tc>
                <a:tc>
                  <a:txBody>
                    <a:bodyPr/>
                    <a:lstStyle/>
                    <a:p>
                      <a:r>
                        <a:rPr sz="1000" b="0">
                          <a:latin typeface="Calibri"/>
                        </a:rPr>
                        <a:t>1343</a:t>
                      </a:r>
                    </a:p>
                  </a:txBody>
                  <a:tcPr>
                    <a:solidFill>
                      <a:srgbClr val="EFF3FA"/>
                    </a:solidFill>
                  </a:tcPr>
                </a:tc>
                <a:tc>
                  <a:txBody>
                    <a:bodyPr/>
                    <a:lstStyle/>
                    <a:p>
                      <a:r>
                        <a:rPr sz="1000" b="0">
                          <a:latin typeface="Calibri"/>
                        </a:rPr>
                        <a:t>1382</a:t>
                      </a:r>
                    </a:p>
                  </a:txBody>
                  <a:tcPr>
                    <a:solidFill>
                      <a:srgbClr val="EFF3FA"/>
                    </a:solidFill>
                  </a:tcPr>
                </a:tc>
                <a:tc>
                  <a:txBody>
                    <a:bodyPr/>
                    <a:lstStyle/>
                    <a:p>
                      <a:r>
                        <a:rPr sz="1000" b="0" dirty="0">
                          <a:solidFill>
                            <a:srgbClr val="187A33"/>
                          </a:solidFill>
                          <a:latin typeface="Calibri"/>
                        </a:rPr>
                        <a:t>3%</a:t>
                      </a:r>
                    </a:p>
                  </a:txBody>
                  <a:tcPr>
                    <a:solidFill>
                      <a:srgbClr val="EFF3FA"/>
                    </a:solidFill>
                  </a:tcPr>
                </a:tc>
                <a:extLst>
                  <a:ext uri="{0D108BD9-81ED-4DB2-BD59-A6C34878D82A}">
                    <a16:rowId xmlns:a16="http://schemas.microsoft.com/office/drawing/2014/main" val="10011"/>
                  </a:ext>
                </a:extLst>
              </a:tr>
              <a:tr h="224028">
                <a:tc>
                  <a:txBody>
                    <a:bodyPr/>
                    <a:lstStyle/>
                    <a:p>
                      <a:r>
                        <a:rPr sz="1000" b="1">
                          <a:latin typeface="Calibri"/>
                        </a:rPr>
                        <a:t>tommath</a:t>
                      </a:r>
                    </a:p>
                  </a:txBody>
                  <a:tcPr>
                    <a:solidFill>
                      <a:srgbClr val="FFFFFF"/>
                    </a:solidFill>
                  </a:tcPr>
                </a:tc>
                <a:tc>
                  <a:txBody>
                    <a:bodyPr/>
                    <a:lstStyle/>
                    <a:p>
                      <a:r>
                        <a:rPr sz="1000" b="0">
                          <a:latin typeface="Calibri"/>
                        </a:rPr>
                        <a:t>1324</a:t>
                      </a:r>
                    </a:p>
                  </a:txBody>
                  <a:tcPr>
                    <a:solidFill>
                      <a:srgbClr val="FFFFFF"/>
                    </a:solidFill>
                  </a:tcPr>
                </a:tc>
                <a:tc>
                  <a:txBody>
                    <a:bodyPr/>
                    <a:lstStyle/>
                    <a:p>
                      <a:r>
                        <a:rPr sz="1000" b="0">
                          <a:latin typeface="Calibri"/>
                        </a:rPr>
                        <a:t>1372</a:t>
                      </a:r>
                    </a:p>
                  </a:txBody>
                  <a:tcPr>
                    <a:solidFill>
                      <a:srgbClr val="FFFFFF"/>
                    </a:solidFill>
                  </a:tcPr>
                </a:tc>
                <a:tc>
                  <a:txBody>
                    <a:bodyPr/>
                    <a:lstStyle/>
                    <a:p>
                      <a:r>
                        <a:rPr sz="1000" b="0">
                          <a:solidFill>
                            <a:srgbClr val="187A33"/>
                          </a:solidFill>
                          <a:latin typeface="Calibri"/>
                        </a:rPr>
                        <a:t>4%</a:t>
                      </a:r>
                    </a:p>
                  </a:txBody>
                  <a:tcPr>
                    <a:solidFill>
                      <a:srgbClr val="FFFFFF"/>
                    </a:solidFill>
                  </a:tcPr>
                </a:tc>
                <a:extLst>
                  <a:ext uri="{0D108BD9-81ED-4DB2-BD59-A6C34878D82A}">
                    <a16:rowId xmlns:a16="http://schemas.microsoft.com/office/drawing/2014/main" val="10012"/>
                  </a:ext>
                </a:extLst>
              </a:tr>
              <a:tr h="224028">
                <a:tc>
                  <a:txBody>
                    <a:bodyPr/>
                    <a:lstStyle/>
                    <a:p>
                      <a:r>
                        <a:rPr sz="1000" b="1">
                          <a:latin typeface="Calibri"/>
                        </a:rPr>
                        <a:t>rd-ray</a:t>
                      </a:r>
                    </a:p>
                  </a:txBody>
                  <a:tcPr>
                    <a:solidFill>
                      <a:srgbClr val="EFF3FA"/>
                    </a:solidFill>
                  </a:tcPr>
                </a:tc>
                <a:tc>
                  <a:txBody>
                    <a:bodyPr/>
                    <a:lstStyle/>
                    <a:p>
                      <a:r>
                        <a:rPr sz="1000" b="0">
                          <a:latin typeface="Calibri"/>
                        </a:rPr>
                        <a:t>1289</a:t>
                      </a:r>
                    </a:p>
                  </a:txBody>
                  <a:tcPr>
                    <a:solidFill>
                      <a:srgbClr val="EFF3FA"/>
                    </a:solidFill>
                  </a:tcPr>
                </a:tc>
                <a:tc>
                  <a:txBody>
                    <a:bodyPr/>
                    <a:lstStyle/>
                    <a:p>
                      <a:r>
                        <a:rPr sz="1000" b="0">
                          <a:latin typeface="Calibri"/>
                        </a:rPr>
                        <a:t>1367</a:t>
                      </a:r>
                    </a:p>
                  </a:txBody>
                  <a:tcPr>
                    <a:solidFill>
                      <a:srgbClr val="EFF3FA"/>
                    </a:solidFill>
                  </a:tcPr>
                </a:tc>
                <a:tc>
                  <a:txBody>
                    <a:bodyPr/>
                    <a:lstStyle/>
                    <a:p>
                      <a:r>
                        <a:rPr sz="1000" b="0">
                          <a:solidFill>
                            <a:srgbClr val="187A33"/>
                          </a:solidFill>
                          <a:latin typeface="Calibri"/>
                        </a:rPr>
                        <a:t>6%</a:t>
                      </a:r>
                    </a:p>
                  </a:txBody>
                  <a:tcPr>
                    <a:solidFill>
                      <a:srgbClr val="EFF3FA"/>
                    </a:solidFill>
                  </a:tcPr>
                </a:tc>
                <a:extLst>
                  <a:ext uri="{0D108BD9-81ED-4DB2-BD59-A6C34878D82A}">
                    <a16:rowId xmlns:a16="http://schemas.microsoft.com/office/drawing/2014/main" val="10013"/>
                  </a:ext>
                </a:extLst>
              </a:tr>
              <a:tr h="224028">
                <a:tc>
                  <a:txBody>
                    <a:bodyPr/>
                    <a:lstStyle/>
                    <a:p>
                      <a:r>
                        <a:rPr sz="1000" b="1">
                          <a:latin typeface="Calibri"/>
                        </a:rPr>
                        <a:t>alu</a:t>
                      </a:r>
                    </a:p>
                  </a:txBody>
                  <a:tcPr>
                    <a:solidFill>
                      <a:srgbClr val="FFFFFF"/>
                    </a:solidFill>
                  </a:tcPr>
                </a:tc>
                <a:tc>
                  <a:txBody>
                    <a:bodyPr/>
                    <a:lstStyle/>
                    <a:p>
                      <a:r>
                        <a:rPr sz="1000" b="0">
                          <a:latin typeface="Calibri"/>
                        </a:rPr>
                        <a:t>1342</a:t>
                      </a:r>
                    </a:p>
                  </a:txBody>
                  <a:tcPr>
                    <a:solidFill>
                      <a:srgbClr val="FFFFFF"/>
                    </a:solidFill>
                  </a:tcPr>
                </a:tc>
                <a:tc>
                  <a:txBody>
                    <a:bodyPr/>
                    <a:lstStyle/>
                    <a:p>
                      <a:r>
                        <a:rPr sz="1000" b="0">
                          <a:latin typeface="Calibri"/>
                        </a:rPr>
                        <a:t>1355</a:t>
                      </a:r>
                    </a:p>
                  </a:txBody>
                  <a:tcPr>
                    <a:solidFill>
                      <a:srgbClr val="FFFFFF"/>
                    </a:solidFill>
                  </a:tcPr>
                </a:tc>
                <a:tc>
                  <a:txBody>
                    <a:bodyPr/>
                    <a:lstStyle/>
                    <a:p>
                      <a:r>
                        <a:rPr sz="1000" b="0" dirty="0">
                          <a:solidFill>
                            <a:srgbClr val="187A33"/>
                          </a:solidFill>
                          <a:latin typeface="Calibri"/>
                        </a:rPr>
                        <a:t>1%</a:t>
                      </a:r>
                    </a:p>
                  </a:txBody>
                  <a:tcPr>
                    <a:solidFill>
                      <a:srgbClr val="FFFFFF"/>
                    </a:solidFill>
                  </a:tcPr>
                </a:tc>
                <a:extLst>
                  <a:ext uri="{0D108BD9-81ED-4DB2-BD59-A6C34878D82A}">
                    <a16:rowId xmlns:a16="http://schemas.microsoft.com/office/drawing/2014/main" val="10014"/>
                  </a:ext>
                </a:extLst>
              </a:tr>
              <a:tr h="224028">
                <a:tc>
                  <a:txBody>
                    <a:bodyPr/>
                    <a:lstStyle/>
                    <a:p>
                      <a:r>
                        <a:rPr sz="1000" b="1">
                          <a:latin typeface="Calibri"/>
                        </a:rPr>
                        <a:t>chase-big</a:t>
                      </a:r>
                    </a:p>
                  </a:txBody>
                  <a:tcPr>
                    <a:solidFill>
                      <a:srgbClr val="EFF3FA"/>
                    </a:solidFill>
                  </a:tcPr>
                </a:tc>
                <a:tc>
                  <a:txBody>
                    <a:bodyPr/>
                    <a:lstStyle/>
                    <a:p>
                      <a:r>
                        <a:rPr sz="1000" b="0">
                          <a:latin typeface="Calibri"/>
                        </a:rPr>
                        <a:t>1306</a:t>
                      </a:r>
                    </a:p>
                  </a:txBody>
                  <a:tcPr>
                    <a:solidFill>
                      <a:srgbClr val="EFF3FA"/>
                    </a:solidFill>
                  </a:tcPr>
                </a:tc>
                <a:tc>
                  <a:txBody>
                    <a:bodyPr/>
                    <a:lstStyle/>
                    <a:p>
                      <a:r>
                        <a:rPr sz="1000" b="0">
                          <a:latin typeface="Calibri"/>
                        </a:rPr>
                        <a:t>1314</a:t>
                      </a:r>
                    </a:p>
                  </a:txBody>
                  <a:tcPr>
                    <a:solidFill>
                      <a:srgbClr val="EFF3FA"/>
                    </a:solidFill>
                  </a:tcPr>
                </a:tc>
                <a:tc>
                  <a:txBody>
                    <a:bodyPr/>
                    <a:lstStyle/>
                    <a:p>
                      <a:r>
                        <a:rPr sz="1000" b="0">
                          <a:solidFill>
                            <a:srgbClr val="187A33"/>
                          </a:solidFill>
                          <a:latin typeface="Calibri"/>
                        </a:rPr>
                        <a:t>1%</a:t>
                      </a:r>
                    </a:p>
                  </a:txBody>
                  <a:tcPr>
                    <a:solidFill>
                      <a:srgbClr val="EFF3FA"/>
                    </a:solidFill>
                  </a:tcPr>
                </a:tc>
                <a:extLst>
                  <a:ext uri="{0D108BD9-81ED-4DB2-BD59-A6C34878D82A}">
                    <a16:rowId xmlns:a16="http://schemas.microsoft.com/office/drawing/2014/main" val="10015"/>
                  </a:ext>
                </a:extLst>
              </a:tr>
              <a:tr h="224028">
                <a:tc>
                  <a:txBody>
                    <a:bodyPr/>
                    <a:lstStyle/>
                    <a:p>
                      <a:r>
                        <a:rPr sz="1000" b="1">
                          <a:latin typeface="Calibri"/>
                        </a:rPr>
                        <a:t>chase</a:t>
                      </a:r>
                    </a:p>
                  </a:txBody>
                  <a:tcPr>
                    <a:solidFill>
                      <a:srgbClr val="FFFFFF"/>
                    </a:solidFill>
                  </a:tcPr>
                </a:tc>
                <a:tc>
                  <a:txBody>
                    <a:bodyPr/>
                    <a:lstStyle/>
                    <a:p>
                      <a:r>
                        <a:rPr sz="1000" b="0">
                          <a:latin typeface="Calibri"/>
                        </a:rPr>
                        <a:t>1304</a:t>
                      </a:r>
                    </a:p>
                  </a:txBody>
                  <a:tcPr>
                    <a:solidFill>
                      <a:srgbClr val="FFFFFF"/>
                    </a:solidFill>
                  </a:tcPr>
                </a:tc>
                <a:tc>
                  <a:txBody>
                    <a:bodyPr/>
                    <a:lstStyle/>
                    <a:p>
                      <a:r>
                        <a:rPr sz="1000" b="0">
                          <a:latin typeface="Calibri"/>
                        </a:rPr>
                        <a:t>1295</a:t>
                      </a:r>
                    </a:p>
                  </a:txBody>
                  <a:tcPr>
                    <a:solidFill>
                      <a:srgbClr val="FFFFFF"/>
                    </a:solidFill>
                  </a:tcPr>
                </a:tc>
                <a:tc>
                  <a:txBody>
                    <a:bodyPr/>
                    <a:lstStyle/>
                    <a:p>
                      <a:r>
                        <a:rPr sz="1000" b="0" dirty="0">
                          <a:solidFill>
                            <a:srgbClr val="187A33"/>
                          </a:solidFill>
                          <a:latin typeface="Calibri"/>
                        </a:rPr>
                        <a:t>1%</a:t>
                      </a:r>
                    </a:p>
                  </a:txBody>
                  <a:tcPr>
                    <a:solidFill>
                      <a:srgbClr val="FFFFFF"/>
                    </a:solidFill>
                  </a:tcPr>
                </a:tc>
                <a:extLst>
                  <a:ext uri="{0D108BD9-81ED-4DB2-BD59-A6C34878D82A}">
                    <a16:rowId xmlns:a16="http://schemas.microsoft.com/office/drawing/2014/main" val="10016"/>
                  </a:ext>
                </a:extLst>
              </a:tr>
            </a:tbl>
          </a:graphicData>
        </a:graphic>
      </p:graphicFrame>
      <p:sp>
        <p:nvSpPr>
          <p:cNvPr id="12" name="Rounded Rectangle 11"/>
          <p:cNvSpPr/>
          <p:nvPr/>
        </p:nvSpPr>
        <p:spPr>
          <a:xfrm>
            <a:off x="3217332" y="6153692"/>
            <a:ext cx="6112935" cy="566928"/>
          </a:xfrm>
          <a:prstGeom prst="roundRect">
            <a:avLst/>
          </a:prstGeom>
          <a:solidFill>
            <a:srgbClr val="EFF3FA"/>
          </a:solidFill>
          <a:ln w="19050">
            <a:solidFill>
              <a:srgbClr val="187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81131" y="6120604"/>
            <a:ext cx="8010737" cy="584775"/>
          </a:xfrm>
          <a:prstGeom prst="rect">
            <a:avLst/>
          </a:prstGeom>
          <a:noFill/>
        </p:spPr>
        <p:txBody>
          <a:bodyPr wrap="square">
            <a:spAutoFit/>
          </a:bodyPr>
          <a:lstStyle/>
          <a:p>
            <a:pPr algn="ctr"/>
            <a:r>
              <a:rPr sz="1600" b="1" dirty="0">
                <a:solidFill>
                  <a:srgbClr val="187A33"/>
                </a:solidFill>
                <a:latin typeface="Calibri"/>
              </a:rPr>
              <a:t>36 of 50 within 8%   ·   11 between 8 </a:t>
            </a:r>
            <a:r>
              <a:rPr lang="en-US" sz="1600" b="1" dirty="0">
                <a:solidFill>
                  <a:srgbClr val="187A33"/>
                </a:solidFill>
                <a:latin typeface="Calibri"/>
              </a:rPr>
              <a:t>and </a:t>
            </a:r>
            <a:r>
              <a:rPr sz="1600" b="1" dirty="0">
                <a:solidFill>
                  <a:srgbClr val="187A33"/>
                </a:solidFill>
                <a:latin typeface="Calibri"/>
              </a:rPr>
              <a:t>12%   ·   3 above 12%   —   </a:t>
            </a:r>
            <a:endParaRPr lang="en-US" sz="1600" b="1" dirty="0">
              <a:solidFill>
                <a:srgbClr val="187A33"/>
              </a:solidFill>
              <a:latin typeface="Calibri"/>
            </a:endParaRPr>
          </a:p>
          <a:p>
            <a:pPr algn="ctr"/>
            <a:r>
              <a:rPr sz="1600" b="1" dirty="0" err="1">
                <a:solidFill>
                  <a:srgbClr val="187A33"/>
                </a:solidFill>
                <a:latin typeface="Calibri"/>
              </a:rPr>
              <a:t>mW</a:t>
            </a:r>
            <a:r>
              <a:rPr sz="1600" b="1" dirty="0">
                <a:solidFill>
                  <a:srgbClr val="187A33"/>
                </a:solidFill>
                <a:latin typeface="Calibri"/>
              </a:rPr>
              <a:t> pred</a:t>
            </a:r>
            <a:r>
              <a:rPr lang="en-US" sz="1600" b="1" dirty="0">
                <a:solidFill>
                  <a:srgbClr val="187A33"/>
                </a:solidFill>
                <a:latin typeface="Calibri"/>
              </a:rPr>
              <a:t> </a:t>
            </a:r>
            <a:r>
              <a:rPr sz="1600" b="1" dirty="0">
                <a:solidFill>
                  <a:srgbClr val="187A33"/>
                </a:solidFill>
                <a:latin typeface="Calibri"/>
              </a:rPr>
              <a:t>vs </a:t>
            </a:r>
            <a:r>
              <a:rPr sz="1600" b="1" dirty="0" err="1">
                <a:solidFill>
                  <a:srgbClr val="187A33"/>
                </a:solidFill>
                <a:latin typeface="Calibri"/>
              </a:rPr>
              <a:t>mW</a:t>
            </a:r>
            <a:r>
              <a:rPr sz="1600" b="1" dirty="0">
                <a:solidFill>
                  <a:srgbClr val="187A33"/>
                </a:solidFill>
                <a:latin typeface="Calibri"/>
              </a:rPr>
              <a:t> measured, on silicon the model never trained 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18872"/>
            <a:ext cx="11155680" cy="430887"/>
          </a:xfrm>
          <a:prstGeom prst="rect">
            <a:avLst/>
          </a:prstGeom>
          <a:noFill/>
        </p:spPr>
        <p:txBody>
          <a:bodyPr wrap="square">
            <a:spAutoFit/>
          </a:bodyPr>
          <a:lstStyle/>
          <a:p>
            <a:pPr algn="l"/>
            <a:r>
              <a:rPr sz="2200" b="1" dirty="0">
                <a:solidFill>
                  <a:srgbClr val="FFFFFF"/>
                </a:solidFill>
                <a:latin typeface="Calibri"/>
              </a:rPr>
              <a:t>Part 2 — A </a:t>
            </a:r>
            <a:r>
              <a:rPr lang="en-US" sz="2200" b="1" dirty="0">
                <a:solidFill>
                  <a:srgbClr val="FFFFFF"/>
                </a:solidFill>
                <a:latin typeface="Calibri"/>
              </a:rPr>
              <a:t>more </a:t>
            </a:r>
            <a:r>
              <a:rPr sz="2200" b="1" dirty="0">
                <a:solidFill>
                  <a:srgbClr val="FFFFFF"/>
                </a:solidFill>
                <a:latin typeface="Calibri"/>
              </a:rPr>
              <a:t>realistic edge workload</a:t>
            </a:r>
            <a:r>
              <a:rPr lang="en-US" sz="2200" b="1" dirty="0">
                <a:solidFill>
                  <a:srgbClr val="FFFFFF"/>
                </a:solidFill>
                <a:latin typeface="Calibri"/>
              </a:rPr>
              <a:t> </a:t>
            </a:r>
            <a:r>
              <a:rPr lang="en-US" sz="2200" b="1" dirty="0">
                <a:solidFill>
                  <a:srgbClr val="FFFFFF"/>
                </a:solidFill>
                <a:latin typeface="Calibri"/>
                <a:sym typeface="Wingdings" panose="05000000000000000000" pitchFamily="2" charset="2"/>
              </a:rPr>
              <a:t> Can QEMU predict mixed apps power?</a:t>
            </a:r>
            <a:r>
              <a:rPr lang="en-US" sz="2200" b="1" dirty="0">
                <a:solidFill>
                  <a:srgbClr val="FFFFFF"/>
                </a:solidFill>
                <a:latin typeface="Calibri"/>
              </a:rPr>
              <a:t> </a:t>
            </a:r>
            <a:endParaRPr sz="2200" b="1" dirty="0">
              <a:solidFill>
                <a:srgbClr val="FFFFFF"/>
              </a:solidFill>
              <a:latin typeface="Calibri"/>
            </a:endParaRP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969264"/>
            <a:ext cx="11155680" cy="646331"/>
          </a:xfrm>
          <a:prstGeom prst="rect">
            <a:avLst/>
          </a:prstGeom>
          <a:noFill/>
        </p:spPr>
        <p:txBody>
          <a:bodyPr wrap="square">
            <a:spAutoFit/>
          </a:bodyPr>
          <a:lstStyle/>
          <a:p>
            <a:pPr algn="ctr"/>
            <a:r>
              <a:rPr b="0" dirty="0">
                <a:solidFill>
                  <a:srgbClr val="5F6368"/>
                </a:solidFill>
                <a:latin typeface="Calibri"/>
              </a:rPr>
              <a:t>Perception, inference, storage, networking, imaging, rendering, running at the same time. Predicted from QEMU alone: no silicon counter is used for these mixes.</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power · rails MEASURED on IMX95LPD5EVK-19 (NXP BCU) · A55 die 40–41 °C · activity DERIVED from QEMU TCG; PMU column MEASURED on silicon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10</a:t>
            </a:r>
          </a:p>
        </p:txBody>
      </p:sp>
      <p:sp>
        <p:nvSpPr>
          <p:cNvPr id="8" name="Rectangle 7"/>
          <p:cNvSpPr/>
          <p:nvPr/>
        </p:nvSpPr>
        <p:spPr>
          <a:xfrm>
            <a:off x="548640" y="1572768"/>
            <a:ext cx="11064240" cy="548640"/>
          </a:xfrm>
          <a:prstGeom prst="rect">
            <a:avLst/>
          </a:prstGeom>
          <a:solidFill>
            <a:srgbClr val="18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645920"/>
            <a:ext cx="10607040" cy="402336"/>
          </a:xfrm>
          <a:prstGeom prst="rect">
            <a:avLst/>
          </a:prstGeom>
          <a:noFill/>
        </p:spPr>
        <p:txBody>
          <a:bodyPr wrap="square">
            <a:spAutoFit/>
          </a:bodyPr>
          <a:lstStyle/>
          <a:p>
            <a:pPr algn="l"/>
            <a:r>
              <a:rPr sz="1800" b="1">
                <a:solidFill>
                  <a:srgbClr val="FFFFFF"/>
                </a:solidFill>
                <a:latin typeface="Calibri"/>
              </a:rPr>
              <a:t>3.6% mean error, 5.8% worst, across two to six concurrent applications.</a:t>
            </a:r>
          </a:p>
        </p:txBody>
      </p:sp>
      <p:graphicFrame>
        <p:nvGraphicFramePr>
          <p:cNvPr id="10" name="Table 9"/>
          <p:cNvGraphicFramePr>
            <a:graphicFrameLocks noGrp="1"/>
          </p:cNvGraphicFramePr>
          <p:nvPr>
            <p:extLst>
              <p:ext uri="{D42A27DB-BD31-4B8C-83A1-F6EECF244321}">
                <p14:modId xmlns:p14="http://schemas.microsoft.com/office/powerpoint/2010/main" val="3503589235"/>
              </p:ext>
            </p:extLst>
          </p:nvPr>
        </p:nvGraphicFramePr>
        <p:xfrm>
          <a:off x="548640" y="2267712"/>
          <a:ext cx="11082528" cy="1780032"/>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658368">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tblGrid>
              <a:tr h="420624">
                <a:tc>
                  <a:txBody>
                    <a:bodyPr/>
                    <a:lstStyle/>
                    <a:p>
                      <a:r>
                        <a:rPr sz="1400" b="1" dirty="0">
                          <a:solidFill>
                            <a:srgbClr val="FFFFFF"/>
                          </a:solidFill>
                          <a:latin typeface="Calibri"/>
                        </a:rPr>
                        <a:t>what it is</a:t>
                      </a:r>
                    </a:p>
                  </a:txBody>
                  <a:tcPr>
                    <a:solidFill>
                      <a:srgbClr val="202124"/>
                    </a:solidFill>
                  </a:tcPr>
                </a:tc>
                <a:tc>
                  <a:txBody>
                    <a:bodyPr/>
                    <a:lstStyle/>
                    <a:p>
                      <a:r>
                        <a:rPr sz="1400" b="1">
                          <a:solidFill>
                            <a:srgbClr val="FFFFFF"/>
                          </a:solidFill>
                          <a:latin typeface="Calibri"/>
                        </a:rPr>
                        <a:t>applications running concurrently</a:t>
                      </a:r>
                    </a:p>
                  </a:txBody>
                  <a:tcPr>
                    <a:solidFill>
                      <a:srgbClr val="202124"/>
                    </a:solidFill>
                  </a:tcPr>
                </a:tc>
                <a:tc>
                  <a:txBody>
                    <a:bodyPr/>
                    <a:lstStyle/>
                    <a:p>
                      <a:r>
                        <a:rPr sz="1400" b="1">
                          <a:solidFill>
                            <a:srgbClr val="FFFFFF"/>
                          </a:solidFill>
                          <a:latin typeface="Calibri"/>
                        </a:rPr>
                        <a:t>cores</a:t>
                      </a:r>
                    </a:p>
                  </a:txBody>
                  <a:tcPr>
                    <a:solidFill>
                      <a:srgbClr val="202124"/>
                    </a:solidFill>
                  </a:tcPr>
                </a:tc>
                <a:tc>
                  <a:txBody>
                    <a:bodyPr/>
                    <a:lstStyle/>
                    <a:p>
                      <a:r>
                        <a:rPr sz="1400" b="1">
                          <a:solidFill>
                            <a:srgbClr val="FFFFFF"/>
                          </a:solidFill>
                          <a:latin typeface="Calibri"/>
                        </a:rPr>
                        <a:t>pred mW</a:t>
                      </a:r>
                    </a:p>
                  </a:txBody>
                  <a:tcPr>
                    <a:solidFill>
                      <a:srgbClr val="202124"/>
                    </a:solidFill>
                  </a:tcPr>
                </a:tc>
                <a:tc>
                  <a:txBody>
                    <a:bodyPr/>
                    <a:lstStyle/>
                    <a:p>
                      <a:r>
                        <a:rPr sz="1400" b="1">
                          <a:solidFill>
                            <a:srgbClr val="FFFFFF"/>
                          </a:solidFill>
                          <a:latin typeface="Calibri"/>
                        </a:rPr>
                        <a:t>meas mW</a:t>
                      </a:r>
                    </a:p>
                  </a:txBody>
                  <a:tcPr>
                    <a:solidFill>
                      <a:srgbClr val="202124"/>
                    </a:solidFill>
                  </a:tcPr>
                </a:tc>
                <a:tc>
                  <a:txBody>
                    <a:bodyPr/>
                    <a:lstStyle/>
                    <a:p>
                      <a:r>
                        <a:rPr sz="1400" b="1">
                          <a:solidFill>
                            <a:srgbClr val="FFFFFF"/>
                          </a:solidFill>
                          <a:latin typeface="Calibri"/>
                        </a:rPr>
                        <a:t>err</a:t>
                      </a:r>
                    </a:p>
                  </a:txBody>
                  <a:tcPr>
                    <a:solidFill>
                      <a:srgbClr val="202124"/>
                    </a:solidFill>
                  </a:tcPr>
                </a:tc>
                <a:tc>
                  <a:txBody>
                    <a:bodyPr/>
                    <a:lstStyle/>
                    <a:p>
                      <a:r>
                        <a:rPr sz="1400" b="1">
                          <a:solidFill>
                            <a:srgbClr val="FFFFFF"/>
                          </a:solidFill>
                          <a:latin typeface="Calibri"/>
                        </a:rPr>
                        <a:t>err (PMU)</a:t>
                      </a:r>
                    </a:p>
                  </a:txBody>
                  <a:tcPr>
                    <a:solidFill>
                      <a:srgbClr val="202124"/>
                    </a:solidFill>
                  </a:tcPr>
                </a:tc>
                <a:extLst>
                  <a:ext uri="{0D108BD9-81ED-4DB2-BD59-A6C34878D82A}">
                    <a16:rowId xmlns:a16="http://schemas.microsoft.com/office/drawing/2014/main" val="10000"/>
                  </a:ext>
                </a:extLst>
              </a:tr>
              <a:tr h="420624">
                <a:tc>
                  <a:txBody>
                    <a:bodyPr/>
                    <a:lstStyle/>
                    <a:p>
                      <a:r>
                        <a:rPr sz="1400" b="1">
                          <a:latin typeface="Calibri"/>
                        </a:rPr>
                        <a:t>AI + vision</a:t>
                      </a:r>
                    </a:p>
                  </a:txBody>
                  <a:tcPr>
                    <a:solidFill>
                      <a:srgbClr val="EFF3FA"/>
                    </a:solidFill>
                  </a:tcPr>
                </a:tc>
                <a:tc>
                  <a:txBody>
                    <a:bodyPr/>
                    <a:lstStyle/>
                    <a:p>
                      <a:r>
                        <a:rPr sz="1400" b="0" dirty="0" err="1">
                          <a:latin typeface="Calibri"/>
                        </a:rPr>
                        <a:t>pacman</a:t>
                      </a:r>
                      <a:r>
                        <a:rPr sz="1400" b="0" dirty="0">
                          <a:latin typeface="Calibri"/>
                        </a:rPr>
                        <a:t>  +  </a:t>
                      </a:r>
                      <a:r>
                        <a:rPr sz="1400" b="0" dirty="0" err="1">
                          <a:latin typeface="Calibri"/>
                        </a:rPr>
                        <a:t>sgm</a:t>
                      </a:r>
                      <a:r>
                        <a:rPr sz="1400" b="0" dirty="0">
                          <a:latin typeface="Calibri"/>
                        </a:rPr>
                        <a:t> stereo</a:t>
                      </a:r>
                    </a:p>
                  </a:txBody>
                  <a:tcPr>
                    <a:solidFill>
                      <a:srgbClr val="EFF3FA"/>
                    </a:solidFill>
                  </a:tcPr>
                </a:tc>
                <a:tc>
                  <a:txBody>
                    <a:bodyPr/>
                    <a:lstStyle/>
                    <a:p>
                      <a:r>
                        <a:rPr sz="1400" b="0">
                          <a:latin typeface="Calibri"/>
                        </a:rPr>
                        <a:t>2</a:t>
                      </a:r>
                    </a:p>
                  </a:txBody>
                  <a:tcPr>
                    <a:solidFill>
                      <a:srgbClr val="EFF3FA"/>
                    </a:solidFill>
                  </a:tcPr>
                </a:tc>
                <a:tc>
                  <a:txBody>
                    <a:bodyPr/>
                    <a:lstStyle/>
                    <a:p>
                      <a:r>
                        <a:rPr sz="1400" b="0">
                          <a:latin typeface="Calibri"/>
                        </a:rPr>
                        <a:t>1605</a:t>
                      </a:r>
                    </a:p>
                  </a:txBody>
                  <a:tcPr>
                    <a:solidFill>
                      <a:srgbClr val="EFF3FA"/>
                    </a:solidFill>
                  </a:tcPr>
                </a:tc>
                <a:tc>
                  <a:txBody>
                    <a:bodyPr/>
                    <a:lstStyle/>
                    <a:p>
                      <a:r>
                        <a:rPr sz="1400" b="0">
                          <a:latin typeface="Calibri"/>
                        </a:rPr>
                        <a:t>1704</a:t>
                      </a:r>
                    </a:p>
                  </a:txBody>
                  <a:tcPr>
                    <a:solidFill>
                      <a:srgbClr val="EFF3FA"/>
                    </a:solidFill>
                  </a:tcPr>
                </a:tc>
                <a:tc>
                  <a:txBody>
                    <a:bodyPr/>
                    <a:lstStyle/>
                    <a:p>
                      <a:r>
                        <a:rPr sz="1400" b="1">
                          <a:solidFill>
                            <a:srgbClr val="187A33"/>
                          </a:solidFill>
                          <a:latin typeface="Calibri"/>
                        </a:rPr>
                        <a:t>5.8%</a:t>
                      </a:r>
                    </a:p>
                  </a:txBody>
                  <a:tcPr>
                    <a:solidFill>
                      <a:srgbClr val="EFF3FA"/>
                    </a:solidFill>
                  </a:tcPr>
                </a:tc>
                <a:tc>
                  <a:txBody>
                    <a:bodyPr/>
                    <a:lstStyle/>
                    <a:p>
                      <a:r>
                        <a:rPr sz="1400" b="0">
                          <a:solidFill>
                            <a:srgbClr val="187A33"/>
                          </a:solidFill>
                          <a:latin typeface="Calibri"/>
                        </a:rPr>
                        <a:t>6.0%</a:t>
                      </a:r>
                    </a:p>
                  </a:txBody>
                  <a:tcPr>
                    <a:solidFill>
                      <a:srgbClr val="EFF3FA"/>
                    </a:solidFill>
                  </a:tcPr>
                </a:tc>
                <a:extLst>
                  <a:ext uri="{0D108BD9-81ED-4DB2-BD59-A6C34878D82A}">
                    <a16:rowId xmlns:a16="http://schemas.microsoft.com/office/drawing/2014/main" val="10001"/>
                  </a:ext>
                </a:extLst>
              </a:tr>
              <a:tr h="420624">
                <a:tc>
                  <a:txBody>
                    <a:bodyPr/>
                    <a:lstStyle/>
                    <a:p>
                      <a:r>
                        <a:rPr sz="1400" b="1">
                          <a:latin typeface="Calibri"/>
                        </a:rPr>
                        <a:t>AI + vision + DB + net</a:t>
                      </a:r>
                    </a:p>
                  </a:txBody>
                  <a:tcPr>
                    <a:solidFill>
                      <a:srgbClr val="FFFFFF"/>
                    </a:solidFill>
                  </a:tcPr>
                </a:tc>
                <a:tc>
                  <a:txBody>
                    <a:bodyPr/>
                    <a:lstStyle/>
                    <a:p>
                      <a:r>
                        <a:rPr sz="1400" b="0">
                          <a:latin typeface="Calibri"/>
                        </a:rPr>
                        <a:t>pacman  +  sgm  +  sqlite  +  httpp</a:t>
                      </a:r>
                    </a:p>
                  </a:txBody>
                  <a:tcPr>
                    <a:solidFill>
                      <a:srgbClr val="FFFFFF"/>
                    </a:solidFill>
                  </a:tcPr>
                </a:tc>
                <a:tc>
                  <a:txBody>
                    <a:bodyPr/>
                    <a:lstStyle/>
                    <a:p>
                      <a:r>
                        <a:rPr sz="1400" b="0">
                          <a:latin typeface="Calibri"/>
                        </a:rPr>
                        <a:t>4</a:t>
                      </a:r>
                    </a:p>
                  </a:txBody>
                  <a:tcPr>
                    <a:solidFill>
                      <a:srgbClr val="FFFFFF"/>
                    </a:solidFill>
                  </a:tcPr>
                </a:tc>
                <a:tc>
                  <a:txBody>
                    <a:bodyPr/>
                    <a:lstStyle/>
                    <a:p>
                      <a:r>
                        <a:rPr sz="1400" b="0">
                          <a:latin typeface="Calibri"/>
                        </a:rPr>
                        <a:t>2123</a:t>
                      </a:r>
                    </a:p>
                  </a:txBody>
                  <a:tcPr>
                    <a:solidFill>
                      <a:srgbClr val="FFFFFF"/>
                    </a:solidFill>
                  </a:tcPr>
                </a:tc>
                <a:tc>
                  <a:txBody>
                    <a:bodyPr/>
                    <a:lstStyle/>
                    <a:p>
                      <a:r>
                        <a:rPr sz="1400" b="0">
                          <a:latin typeface="Calibri"/>
                        </a:rPr>
                        <a:t>2189</a:t>
                      </a:r>
                    </a:p>
                  </a:txBody>
                  <a:tcPr>
                    <a:solidFill>
                      <a:srgbClr val="FFFFFF"/>
                    </a:solidFill>
                  </a:tcPr>
                </a:tc>
                <a:tc>
                  <a:txBody>
                    <a:bodyPr/>
                    <a:lstStyle/>
                    <a:p>
                      <a:r>
                        <a:rPr sz="1400" b="1">
                          <a:solidFill>
                            <a:srgbClr val="187A33"/>
                          </a:solidFill>
                          <a:latin typeface="Calibri"/>
                        </a:rPr>
                        <a:t>3.0%</a:t>
                      </a:r>
                    </a:p>
                  </a:txBody>
                  <a:tcPr>
                    <a:solidFill>
                      <a:srgbClr val="FFFFFF"/>
                    </a:solidFill>
                  </a:tcPr>
                </a:tc>
                <a:tc>
                  <a:txBody>
                    <a:bodyPr/>
                    <a:lstStyle/>
                    <a:p>
                      <a:r>
                        <a:rPr sz="1400" b="0">
                          <a:solidFill>
                            <a:srgbClr val="187A33"/>
                          </a:solidFill>
                          <a:latin typeface="Calibri"/>
                        </a:rPr>
                        <a:t>3.1%</a:t>
                      </a:r>
                    </a:p>
                  </a:txBody>
                  <a:tcPr>
                    <a:solidFill>
                      <a:srgbClr val="FFFFFF"/>
                    </a:solidFill>
                  </a:tcPr>
                </a:tc>
                <a:extLst>
                  <a:ext uri="{0D108BD9-81ED-4DB2-BD59-A6C34878D82A}">
                    <a16:rowId xmlns:a16="http://schemas.microsoft.com/office/drawing/2014/main" val="10002"/>
                  </a:ext>
                </a:extLst>
              </a:tr>
              <a:tr h="420624">
                <a:tc>
                  <a:txBody>
                    <a:bodyPr/>
                    <a:lstStyle/>
                    <a:p>
                      <a:r>
                        <a:rPr sz="1400" b="1">
                          <a:latin typeface="Calibri"/>
                        </a:rPr>
                        <a:t>full edge stack, every core</a:t>
                      </a:r>
                    </a:p>
                  </a:txBody>
                  <a:tcPr>
                    <a:solidFill>
                      <a:srgbClr val="EFF3FA"/>
                    </a:solidFill>
                  </a:tcPr>
                </a:tc>
                <a:tc>
                  <a:txBody>
                    <a:bodyPr/>
                    <a:lstStyle/>
                    <a:p>
                      <a:r>
                        <a:rPr sz="1400" b="0" dirty="0" err="1">
                          <a:latin typeface="Calibri"/>
                        </a:rPr>
                        <a:t>pacman</a:t>
                      </a:r>
                      <a:r>
                        <a:rPr sz="1400" b="0" dirty="0">
                          <a:latin typeface="Calibri"/>
                        </a:rPr>
                        <a:t>  +  </a:t>
                      </a:r>
                      <a:r>
                        <a:rPr sz="1400" b="0" dirty="0" err="1">
                          <a:latin typeface="Calibri"/>
                        </a:rPr>
                        <a:t>sgm</a:t>
                      </a:r>
                      <a:r>
                        <a:rPr sz="1400" b="0" dirty="0">
                          <a:latin typeface="Calibri"/>
                        </a:rPr>
                        <a:t>  +  </a:t>
                      </a:r>
                      <a:r>
                        <a:rPr sz="1400" b="0" dirty="0" err="1">
                          <a:latin typeface="Calibri"/>
                        </a:rPr>
                        <a:t>sqlite</a:t>
                      </a:r>
                      <a:r>
                        <a:rPr sz="1400" b="0" dirty="0">
                          <a:latin typeface="Calibri"/>
                        </a:rPr>
                        <a:t>  +  </a:t>
                      </a:r>
                      <a:r>
                        <a:rPr sz="1400" b="0" dirty="0" err="1">
                          <a:latin typeface="Calibri"/>
                        </a:rPr>
                        <a:t>httpp</a:t>
                      </a:r>
                      <a:r>
                        <a:rPr sz="1400" b="0" dirty="0">
                          <a:latin typeface="Calibri"/>
                        </a:rPr>
                        <a:t>  +  </a:t>
                      </a:r>
                      <a:r>
                        <a:rPr sz="1400" b="0" dirty="0" err="1">
                          <a:latin typeface="Calibri"/>
                        </a:rPr>
                        <a:t>qoi</a:t>
                      </a:r>
                      <a:r>
                        <a:rPr sz="1400" b="0" dirty="0">
                          <a:latin typeface="Calibri"/>
                        </a:rPr>
                        <a:t>  +  ray</a:t>
                      </a:r>
                    </a:p>
                  </a:txBody>
                  <a:tcPr>
                    <a:solidFill>
                      <a:srgbClr val="EFF3FA"/>
                    </a:solidFill>
                  </a:tcPr>
                </a:tc>
                <a:tc>
                  <a:txBody>
                    <a:bodyPr/>
                    <a:lstStyle/>
                    <a:p>
                      <a:r>
                        <a:rPr sz="1400" b="0" dirty="0">
                          <a:latin typeface="Calibri"/>
                        </a:rPr>
                        <a:t>6</a:t>
                      </a:r>
                    </a:p>
                  </a:txBody>
                  <a:tcPr>
                    <a:solidFill>
                      <a:srgbClr val="EFF3FA"/>
                    </a:solidFill>
                  </a:tcPr>
                </a:tc>
                <a:tc>
                  <a:txBody>
                    <a:bodyPr/>
                    <a:lstStyle/>
                    <a:p>
                      <a:r>
                        <a:rPr sz="1400" b="0" dirty="0">
                          <a:latin typeface="Calibri"/>
                        </a:rPr>
                        <a:t>2612</a:t>
                      </a:r>
                    </a:p>
                  </a:txBody>
                  <a:tcPr>
                    <a:solidFill>
                      <a:srgbClr val="EFF3FA"/>
                    </a:solidFill>
                  </a:tcPr>
                </a:tc>
                <a:tc>
                  <a:txBody>
                    <a:bodyPr/>
                    <a:lstStyle/>
                    <a:p>
                      <a:r>
                        <a:rPr sz="1400" b="0" dirty="0">
                          <a:latin typeface="Calibri"/>
                        </a:rPr>
                        <a:t>2561</a:t>
                      </a:r>
                    </a:p>
                  </a:txBody>
                  <a:tcPr>
                    <a:solidFill>
                      <a:srgbClr val="EFF3FA"/>
                    </a:solidFill>
                  </a:tcPr>
                </a:tc>
                <a:tc>
                  <a:txBody>
                    <a:bodyPr/>
                    <a:lstStyle/>
                    <a:p>
                      <a:r>
                        <a:rPr sz="1400" b="1">
                          <a:solidFill>
                            <a:srgbClr val="187A33"/>
                          </a:solidFill>
                          <a:latin typeface="Calibri"/>
                        </a:rPr>
                        <a:t>2.0%</a:t>
                      </a:r>
                    </a:p>
                  </a:txBody>
                  <a:tcPr>
                    <a:solidFill>
                      <a:srgbClr val="EFF3FA"/>
                    </a:solidFill>
                  </a:tcPr>
                </a:tc>
                <a:tc>
                  <a:txBody>
                    <a:bodyPr/>
                    <a:lstStyle/>
                    <a:p>
                      <a:r>
                        <a:rPr sz="1400" b="0" dirty="0">
                          <a:solidFill>
                            <a:srgbClr val="187A33"/>
                          </a:solidFill>
                          <a:latin typeface="Calibri"/>
                        </a:rPr>
                        <a:t>0.7%</a:t>
                      </a:r>
                    </a:p>
                  </a:txBody>
                  <a:tcPr>
                    <a:solidFill>
                      <a:srgbClr val="EFF3FA"/>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566928" y="4044696"/>
            <a:ext cx="11064240" cy="329184"/>
          </a:xfrm>
          <a:prstGeom prst="rect">
            <a:avLst/>
          </a:prstGeom>
          <a:noFill/>
        </p:spPr>
        <p:txBody>
          <a:bodyPr wrap="square">
            <a:spAutoFit/>
          </a:bodyPr>
          <a:lstStyle/>
          <a:p>
            <a:pPr algn="l"/>
            <a:r>
              <a:rPr sz="1050" b="0" dirty="0" err="1">
                <a:solidFill>
                  <a:srgbClr val="5F6368"/>
                </a:solidFill>
                <a:latin typeface="Calibri"/>
              </a:rPr>
              <a:t>pacman</a:t>
            </a:r>
            <a:r>
              <a:rPr sz="1050" b="0" dirty="0">
                <a:solidFill>
                  <a:srgbClr val="5F6368"/>
                </a:solidFill>
                <a:latin typeface="Calibri"/>
              </a:rPr>
              <a:t> = genetic-AI trainer  ·  </a:t>
            </a:r>
            <a:r>
              <a:rPr sz="1050" b="0" dirty="0" err="1">
                <a:solidFill>
                  <a:srgbClr val="5F6368"/>
                </a:solidFill>
                <a:latin typeface="Calibri"/>
              </a:rPr>
              <a:t>sgm</a:t>
            </a:r>
            <a:r>
              <a:rPr sz="1050" b="0" dirty="0">
                <a:solidFill>
                  <a:srgbClr val="5F6368"/>
                </a:solidFill>
                <a:latin typeface="Calibri"/>
              </a:rPr>
              <a:t> = stereo-vision disparity on real imagery  ·  </a:t>
            </a:r>
            <a:r>
              <a:rPr sz="1050" b="0" dirty="0" err="1">
                <a:solidFill>
                  <a:srgbClr val="5F6368"/>
                </a:solidFill>
                <a:latin typeface="Calibri"/>
              </a:rPr>
              <a:t>sqlite</a:t>
            </a:r>
            <a:r>
              <a:rPr sz="1050" b="0" dirty="0">
                <a:solidFill>
                  <a:srgbClr val="5F6368"/>
                </a:solidFill>
                <a:latin typeface="Calibri"/>
              </a:rPr>
              <a:t> = in-memory OLTP  ·  </a:t>
            </a:r>
            <a:r>
              <a:rPr sz="1050" b="0" dirty="0" err="1">
                <a:solidFill>
                  <a:srgbClr val="5F6368"/>
                </a:solidFill>
                <a:latin typeface="Calibri"/>
              </a:rPr>
              <a:t>httpp</a:t>
            </a:r>
            <a:r>
              <a:rPr sz="1050" b="0" dirty="0">
                <a:solidFill>
                  <a:srgbClr val="5F6368"/>
                </a:solidFill>
                <a:latin typeface="Calibri"/>
              </a:rPr>
              <a:t> = HTTP parsing  ·  </a:t>
            </a:r>
            <a:r>
              <a:rPr sz="1050" b="0" dirty="0" err="1">
                <a:solidFill>
                  <a:srgbClr val="5F6368"/>
                </a:solidFill>
                <a:latin typeface="Calibri"/>
              </a:rPr>
              <a:t>qoi</a:t>
            </a:r>
            <a:r>
              <a:rPr sz="1050" b="0" dirty="0">
                <a:solidFill>
                  <a:srgbClr val="5F6368"/>
                </a:solidFill>
                <a:latin typeface="Calibri"/>
              </a:rPr>
              <a:t> = image codec  ·  ray = ray tracer</a:t>
            </a:r>
          </a:p>
        </p:txBody>
      </p:sp>
      <p:sp>
        <p:nvSpPr>
          <p:cNvPr id="12" name="TextBox 11"/>
          <p:cNvSpPr txBox="1"/>
          <p:nvPr/>
        </p:nvSpPr>
        <p:spPr>
          <a:xfrm>
            <a:off x="548640" y="4389120"/>
            <a:ext cx="11064240" cy="292608"/>
          </a:xfrm>
          <a:prstGeom prst="rect">
            <a:avLst/>
          </a:prstGeom>
          <a:noFill/>
        </p:spPr>
        <p:txBody>
          <a:bodyPr wrap="square">
            <a:spAutoFit/>
          </a:bodyPr>
          <a:lstStyle/>
          <a:p>
            <a:pPr algn="l"/>
            <a:r>
              <a:rPr sz="1100" b="1">
                <a:solidFill>
                  <a:srgbClr val="202124"/>
                </a:solidFill>
                <a:latin typeface="Calibri"/>
              </a:rPr>
              <a:t>Controls — synthetic and benchmark mixes over the same core counts:</a:t>
            </a:r>
          </a:p>
        </p:txBody>
      </p:sp>
      <p:graphicFrame>
        <p:nvGraphicFramePr>
          <p:cNvPr id="13" name="Table 12"/>
          <p:cNvGraphicFramePr>
            <a:graphicFrameLocks noGrp="1"/>
          </p:cNvGraphicFramePr>
          <p:nvPr>
            <p:extLst>
              <p:ext uri="{D42A27DB-BD31-4B8C-83A1-F6EECF244321}">
                <p14:modId xmlns:p14="http://schemas.microsoft.com/office/powerpoint/2010/main" val="1274006932"/>
              </p:ext>
            </p:extLst>
          </p:nvPr>
        </p:nvGraphicFramePr>
        <p:xfrm>
          <a:off x="548640" y="4700016"/>
          <a:ext cx="11082528" cy="1042416"/>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658368">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tblGrid>
              <a:tr h="347472">
                <a:tc>
                  <a:txBody>
                    <a:bodyPr/>
                    <a:lstStyle/>
                    <a:p>
                      <a:r>
                        <a:rPr sz="1200" b="1" dirty="0">
                          <a:solidFill>
                            <a:srgbClr val="FFFFFF"/>
                          </a:solidFill>
                          <a:latin typeface="Calibri"/>
                        </a:rPr>
                        <a:t>what it is</a:t>
                      </a:r>
                    </a:p>
                  </a:txBody>
                  <a:tcPr>
                    <a:solidFill>
                      <a:srgbClr val="202124"/>
                    </a:solidFill>
                  </a:tcPr>
                </a:tc>
                <a:tc>
                  <a:txBody>
                    <a:bodyPr/>
                    <a:lstStyle/>
                    <a:p>
                      <a:r>
                        <a:rPr sz="1200" b="1">
                          <a:solidFill>
                            <a:srgbClr val="FFFFFF"/>
                          </a:solidFill>
                          <a:latin typeface="Calibri"/>
                        </a:rPr>
                        <a:t>applications running concurrently</a:t>
                      </a:r>
                    </a:p>
                  </a:txBody>
                  <a:tcPr>
                    <a:solidFill>
                      <a:srgbClr val="202124"/>
                    </a:solidFill>
                  </a:tcPr>
                </a:tc>
                <a:tc>
                  <a:txBody>
                    <a:bodyPr/>
                    <a:lstStyle/>
                    <a:p>
                      <a:r>
                        <a:rPr sz="1200" b="1">
                          <a:solidFill>
                            <a:srgbClr val="FFFFFF"/>
                          </a:solidFill>
                          <a:latin typeface="Calibri"/>
                        </a:rPr>
                        <a:t>cores</a:t>
                      </a:r>
                    </a:p>
                  </a:txBody>
                  <a:tcPr>
                    <a:solidFill>
                      <a:srgbClr val="202124"/>
                    </a:solidFill>
                  </a:tcPr>
                </a:tc>
                <a:tc>
                  <a:txBody>
                    <a:bodyPr/>
                    <a:lstStyle/>
                    <a:p>
                      <a:r>
                        <a:rPr sz="1200" b="1">
                          <a:solidFill>
                            <a:srgbClr val="FFFFFF"/>
                          </a:solidFill>
                          <a:latin typeface="Calibri"/>
                        </a:rPr>
                        <a:t>pred mW</a:t>
                      </a:r>
                    </a:p>
                  </a:txBody>
                  <a:tcPr>
                    <a:solidFill>
                      <a:srgbClr val="202124"/>
                    </a:solidFill>
                  </a:tcPr>
                </a:tc>
                <a:tc>
                  <a:txBody>
                    <a:bodyPr/>
                    <a:lstStyle/>
                    <a:p>
                      <a:r>
                        <a:rPr sz="1200" b="1">
                          <a:solidFill>
                            <a:srgbClr val="FFFFFF"/>
                          </a:solidFill>
                          <a:latin typeface="Calibri"/>
                        </a:rPr>
                        <a:t>meas mW</a:t>
                      </a:r>
                    </a:p>
                  </a:txBody>
                  <a:tcPr>
                    <a:solidFill>
                      <a:srgbClr val="202124"/>
                    </a:solidFill>
                  </a:tcPr>
                </a:tc>
                <a:tc>
                  <a:txBody>
                    <a:bodyPr/>
                    <a:lstStyle/>
                    <a:p>
                      <a:r>
                        <a:rPr sz="1200" b="1">
                          <a:solidFill>
                            <a:srgbClr val="FFFFFF"/>
                          </a:solidFill>
                          <a:latin typeface="Calibri"/>
                        </a:rPr>
                        <a:t>err</a:t>
                      </a:r>
                    </a:p>
                  </a:txBody>
                  <a:tcPr>
                    <a:solidFill>
                      <a:srgbClr val="202124"/>
                    </a:solidFill>
                  </a:tcPr>
                </a:tc>
                <a:tc>
                  <a:txBody>
                    <a:bodyPr/>
                    <a:lstStyle/>
                    <a:p>
                      <a:r>
                        <a:rPr sz="1200" b="1">
                          <a:solidFill>
                            <a:srgbClr val="FFFFFF"/>
                          </a:solidFill>
                          <a:latin typeface="Calibri"/>
                        </a:rPr>
                        <a:t>err (PMU)</a:t>
                      </a:r>
                    </a:p>
                  </a:txBody>
                  <a:tcPr>
                    <a:solidFill>
                      <a:srgbClr val="202124"/>
                    </a:solidFill>
                  </a:tcPr>
                </a:tc>
                <a:extLst>
                  <a:ext uri="{0D108BD9-81ED-4DB2-BD59-A6C34878D82A}">
                    <a16:rowId xmlns:a16="http://schemas.microsoft.com/office/drawing/2014/main" val="10000"/>
                  </a:ext>
                </a:extLst>
              </a:tr>
              <a:tr h="347472">
                <a:tc>
                  <a:txBody>
                    <a:bodyPr/>
                    <a:lstStyle/>
                    <a:p>
                      <a:r>
                        <a:rPr sz="1200" b="1">
                          <a:latin typeface="Calibri"/>
                        </a:rPr>
                        <a:t>compute-bound control</a:t>
                      </a:r>
                    </a:p>
                  </a:txBody>
                  <a:tcPr>
                    <a:solidFill>
                      <a:srgbClr val="EFF3FA"/>
                    </a:solidFill>
                  </a:tcPr>
                </a:tc>
                <a:tc>
                  <a:txBody>
                    <a:bodyPr/>
                    <a:lstStyle/>
                    <a:p>
                      <a:r>
                        <a:rPr sz="1200" b="0" dirty="0">
                          <a:latin typeface="Calibri"/>
                        </a:rPr>
                        <a:t>4 x sha256</a:t>
                      </a:r>
                    </a:p>
                  </a:txBody>
                  <a:tcPr>
                    <a:solidFill>
                      <a:srgbClr val="EFF3FA"/>
                    </a:solidFill>
                  </a:tcPr>
                </a:tc>
                <a:tc>
                  <a:txBody>
                    <a:bodyPr/>
                    <a:lstStyle/>
                    <a:p>
                      <a:r>
                        <a:rPr sz="1200" b="0">
                          <a:latin typeface="Calibri"/>
                        </a:rPr>
                        <a:t>4</a:t>
                      </a:r>
                    </a:p>
                  </a:txBody>
                  <a:tcPr>
                    <a:solidFill>
                      <a:srgbClr val="EFF3FA"/>
                    </a:solidFill>
                  </a:tcPr>
                </a:tc>
                <a:tc>
                  <a:txBody>
                    <a:bodyPr/>
                    <a:lstStyle/>
                    <a:p>
                      <a:r>
                        <a:rPr sz="1200" b="0">
                          <a:latin typeface="Calibri"/>
                        </a:rPr>
                        <a:t>2304</a:t>
                      </a:r>
                    </a:p>
                  </a:txBody>
                  <a:tcPr>
                    <a:solidFill>
                      <a:srgbClr val="EFF3FA"/>
                    </a:solidFill>
                  </a:tcPr>
                </a:tc>
                <a:tc>
                  <a:txBody>
                    <a:bodyPr/>
                    <a:lstStyle/>
                    <a:p>
                      <a:r>
                        <a:rPr sz="1200" b="0">
                          <a:latin typeface="Calibri"/>
                        </a:rPr>
                        <a:t>2163</a:t>
                      </a:r>
                    </a:p>
                  </a:txBody>
                  <a:tcPr>
                    <a:solidFill>
                      <a:srgbClr val="EFF3FA"/>
                    </a:solidFill>
                  </a:tcPr>
                </a:tc>
                <a:tc>
                  <a:txBody>
                    <a:bodyPr/>
                    <a:lstStyle/>
                    <a:p>
                      <a:r>
                        <a:rPr sz="1200" b="1">
                          <a:solidFill>
                            <a:srgbClr val="187A33"/>
                          </a:solidFill>
                          <a:latin typeface="Calibri"/>
                        </a:rPr>
                        <a:t>6.5%</a:t>
                      </a:r>
                    </a:p>
                  </a:txBody>
                  <a:tcPr>
                    <a:solidFill>
                      <a:srgbClr val="EFF3FA"/>
                    </a:solidFill>
                  </a:tcPr>
                </a:tc>
                <a:tc>
                  <a:txBody>
                    <a:bodyPr/>
                    <a:lstStyle/>
                    <a:p>
                      <a:r>
                        <a:rPr sz="1200" b="0">
                          <a:solidFill>
                            <a:srgbClr val="187A33"/>
                          </a:solidFill>
                          <a:latin typeface="Calibri"/>
                        </a:rPr>
                        <a:t>6.5%</a:t>
                      </a:r>
                    </a:p>
                  </a:txBody>
                  <a:tcPr>
                    <a:solidFill>
                      <a:srgbClr val="EFF3FA"/>
                    </a:solidFill>
                  </a:tcPr>
                </a:tc>
                <a:extLst>
                  <a:ext uri="{0D108BD9-81ED-4DB2-BD59-A6C34878D82A}">
                    <a16:rowId xmlns:a16="http://schemas.microsoft.com/office/drawing/2014/main" val="10001"/>
                  </a:ext>
                </a:extLst>
              </a:tr>
              <a:tr h="347472">
                <a:tc>
                  <a:txBody>
                    <a:bodyPr/>
                    <a:lstStyle/>
                    <a:p>
                      <a:r>
                        <a:rPr sz="1200" b="1">
                          <a:latin typeface="Calibri"/>
                        </a:rPr>
                        <a:t>mixed benchmark control</a:t>
                      </a:r>
                    </a:p>
                  </a:txBody>
                  <a:tcPr>
                    <a:solidFill>
                      <a:srgbClr val="FFFFFF"/>
                    </a:solidFill>
                  </a:tcPr>
                </a:tc>
                <a:tc>
                  <a:txBody>
                    <a:bodyPr/>
                    <a:lstStyle/>
                    <a:p>
                      <a:r>
                        <a:rPr sz="1200" b="0" dirty="0">
                          <a:latin typeface="Calibri"/>
                        </a:rPr>
                        <a:t>sha256 + mem + lz4 + </a:t>
                      </a:r>
                      <a:r>
                        <a:rPr sz="1200" b="0" dirty="0" err="1">
                          <a:latin typeface="Calibri"/>
                        </a:rPr>
                        <a:t>sqlite</a:t>
                      </a:r>
                      <a:r>
                        <a:rPr sz="1200" b="0" dirty="0">
                          <a:latin typeface="Calibri"/>
                        </a:rPr>
                        <a:t> + </a:t>
                      </a:r>
                      <a:r>
                        <a:rPr sz="1200" b="0" dirty="0" err="1">
                          <a:latin typeface="Calibri"/>
                        </a:rPr>
                        <a:t>lua</a:t>
                      </a:r>
                      <a:r>
                        <a:rPr sz="1200" b="0" dirty="0">
                          <a:latin typeface="Calibri"/>
                        </a:rPr>
                        <a:t> + bzip2</a:t>
                      </a:r>
                    </a:p>
                  </a:txBody>
                  <a:tcPr>
                    <a:solidFill>
                      <a:srgbClr val="FFFFFF"/>
                    </a:solidFill>
                  </a:tcPr>
                </a:tc>
                <a:tc>
                  <a:txBody>
                    <a:bodyPr/>
                    <a:lstStyle/>
                    <a:p>
                      <a:r>
                        <a:rPr sz="1200" b="0" dirty="0">
                          <a:latin typeface="Calibri"/>
                        </a:rPr>
                        <a:t>6</a:t>
                      </a:r>
                    </a:p>
                  </a:txBody>
                  <a:tcPr>
                    <a:solidFill>
                      <a:srgbClr val="FFFFFF"/>
                    </a:solidFill>
                  </a:tcPr>
                </a:tc>
                <a:tc>
                  <a:txBody>
                    <a:bodyPr/>
                    <a:lstStyle/>
                    <a:p>
                      <a:r>
                        <a:rPr sz="1200" b="0">
                          <a:latin typeface="Calibri"/>
                        </a:rPr>
                        <a:t>3065</a:t>
                      </a:r>
                    </a:p>
                  </a:txBody>
                  <a:tcPr>
                    <a:solidFill>
                      <a:srgbClr val="FFFFFF"/>
                    </a:solidFill>
                  </a:tcPr>
                </a:tc>
                <a:tc>
                  <a:txBody>
                    <a:bodyPr/>
                    <a:lstStyle/>
                    <a:p>
                      <a:r>
                        <a:rPr sz="1200" b="0" dirty="0">
                          <a:latin typeface="Calibri"/>
                        </a:rPr>
                        <a:t>2878</a:t>
                      </a:r>
                    </a:p>
                  </a:txBody>
                  <a:tcPr>
                    <a:solidFill>
                      <a:srgbClr val="FFFFFF"/>
                    </a:solidFill>
                  </a:tcPr>
                </a:tc>
                <a:tc>
                  <a:txBody>
                    <a:bodyPr/>
                    <a:lstStyle/>
                    <a:p>
                      <a:r>
                        <a:rPr sz="1200" b="1">
                          <a:solidFill>
                            <a:srgbClr val="187A33"/>
                          </a:solidFill>
                          <a:latin typeface="Calibri"/>
                        </a:rPr>
                        <a:t>6.5%</a:t>
                      </a:r>
                    </a:p>
                  </a:txBody>
                  <a:tcPr>
                    <a:solidFill>
                      <a:srgbClr val="FFFFFF"/>
                    </a:solidFill>
                  </a:tcPr>
                </a:tc>
                <a:tc>
                  <a:txBody>
                    <a:bodyPr/>
                    <a:lstStyle/>
                    <a:p>
                      <a:r>
                        <a:rPr sz="1200" b="0" dirty="0">
                          <a:solidFill>
                            <a:srgbClr val="187A33"/>
                          </a:solidFill>
                          <a:latin typeface="Calibri"/>
                        </a:rPr>
                        <a:t>1.4%</a:t>
                      </a:r>
                    </a:p>
                  </a:txBody>
                  <a:tcPr>
                    <a:solidFill>
                      <a:srgbClr val="FFFFFF"/>
                    </a:solidFill>
                  </a:tcPr>
                </a:tc>
                <a:extLst>
                  <a:ext uri="{0D108BD9-81ED-4DB2-BD59-A6C34878D82A}">
                    <a16:rowId xmlns:a16="http://schemas.microsoft.com/office/drawing/2014/main" val="10002"/>
                  </a:ext>
                </a:extLst>
              </a:tr>
            </a:tbl>
          </a:graphicData>
        </a:graphic>
      </p:graphicFrame>
      <p:sp>
        <p:nvSpPr>
          <p:cNvPr id="14" name="TextBox 13"/>
          <p:cNvSpPr txBox="1"/>
          <p:nvPr/>
        </p:nvSpPr>
        <p:spPr>
          <a:xfrm>
            <a:off x="548640" y="5815584"/>
            <a:ext cx="11064240" cy="738664"/>
          </a:xfrm>
          <a:prstGeom prst="rect">
            <a:avLst/>
          </a:prstGeom>
          <a:noFill/>
        </p:spPr>
        <p:txBody>
          <a:bodyPr wrap="square">
            <a:spAutoFit/>
          </a:bodyPr>
          <a:lstStyle/>
          <a:p>
            <a:pPr algn="ctr"/>
            <a:r>
              <a:rPr sz="1400" b="0" dirty="0">
                <a:solidFill>
                  <a:srgbClr val="1A53A0"/>
                </a:solidFill>
                <a:latin typeface="Calibri"/>
              </a:rPr>
              <a:t>The last column re-runs each prediction using activity measured on silicon instead of QEMU, which separates the model from the emulator. They agree on the edge mixes — so the error there is the model's, not QEMU's. They diverge only on the streaming control (6.5% vs 1.4%), where QEMU's DRAM proxy over-reports bandwidth. Edge workloads run at 0.4–0.7 GB/s and are barely exposed to it.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18872"/>
            <a:ext cx="11155680" cy="603504"/>
          </a:xfrm>
          <a:prstGeom prst="rect">
            <a:avLst/>
          </a:prstGeom>
          <a:noFill/>
        </p:spPr>
        <p:txBody>
          <a:bodyPr wrap="square">
            <a:spAutoFit/>
          </a:bodyPr>
          <a:lstStyle/>
          <a:p>
            <a:pPr algn="l"/>
            <a:r>
              <a:rPr sz="2600" b="1">
                <a:solidFill>
                  <a:srgbClr val="FFFFFF"/>
                </a:solidFill>
                <a:latin typeface="Calibri"/>
              </a:rPr>
              <a:t>What this licenses, and what it does not</a:t>
            </a: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969264"/>
            <a:ext cx="11155680" cy="369332"/>
          </a:xfrm>
          <a:prstGeom prst="rect">
            <a:avLst/>
          </a:prstGeom>
          <a:noFill/>
        </p:spPr>
        <p:txBody>
          <a:bodyPr wrap="square">
            <a:spAutoFit/>
          </a:bodyPr>
          <a:lstStyle/>
          <a:p>
            <a:pPr algn="l"/>
            <a:r>
              <a:rPr b="0" dirty="0">
                <a:solidFill>
                  <a:srgbClr val="5F6368"/>
                </a:solidFill>
                <a:latin typeface="Calibri"/>
              </a:rPr>
              <a:t>The trust statement, quantity by quantity.</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power · rails MEASURED on IMX95LPD5EVK-19 (NXP BCU) · A55 die 40–41 °C under load · activity DERIVED from QEMU TCG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11</a:t>
            </a:r>
          </a:p>
        </p:txBody>
      </p:sp>
      <p:graphicFrame>
        <p:nvGraphicFramePr>
          <p:cNvPr id="8" name="Table 7"/>
          <p:cNvGraphicFramePr>
            <a:graphicFrameLocks noGrp="1"/>
          </p:cNvGraphicFramePr>
          <p:nvPr>
            <p:extLst>
              <p:ext uri="{D42A27DB-BD31-4B8C-83A1-F6EECF244321}">
                <p14:modId xmlns:p14="http://schemas.microsoft.com/office/powerpoint/2010/main" val="3738585537"/>
              </p:ext>
            </p:extLst>
          </p:nvPr>
        </p:nvGraphicFramePr>
        <p:xfrm>
          <a:off x="548640" y="1444752"/>
          <a:ext cx="11064240" cy="3810000"/>
        </p:xfrm>
        <a:graphic>
          <a:graphicData uri="http://schemas.openxmlformats.org/drawingml/2006/table">
            <a:tbl>
              <a:tblPr firstRow="1" bandRow="1">
                <a:tableStyleId>{5C22544A-7EE6-4342-B048-85BDC9FD1C3A}</a:tableStyleId>
              </a:tblPr>
              <a:tblGrid>
                <a:gridCol w="429768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5715000">
                  <a:extLst>
                    <a:ext uri="{9D8B030D-6E8A-4147-A177-3AD203B41FA5}">
                      <a16:colId xmlns:a16="http://schemas.microsoft.com/office/drawing/2014/main" val="20002"/>
                    </a:ext>
                  </a:extLst>
                </a:gridCol>
              </a:tblGrid>
              <a:tr h="365760">
                <a:tc>
                  <a:txBody>
                    <a:bodyPr/>
                    <a:lstStyle/>
                    <a:p>
                      <a:r>
                        <a:rPr sz="1400" b="1" dirty="0">
                          <a:solidFill>
                            <a:srgbClr val="FFFFFF"/>
                          </a:solidFill>
                          <a:latin typeface="Calibri"/>
                        </a:rPr>
                        <a:t>claim</a:t>
                      </a:r>
                    </a:p>
                  </a:txBody>
                  <a:tcPr>
                    <a:solidFill>
                      <a:srgbClr val="202124"/>
                    </a:solidFill>
                  </a:tcPr>
                </a:tc>
                <a:tc>
                  <a:txBody>
                    <a:bodyPr/>
                    <a:lstStyle/>
                    <a:p>
                      <a:r>
                        <a:rPr sz="1400" b="1">
                          <a:solidFill>
                            <a:srgbClr val="FFFFFF"/>
                          </a:solidFill>
                          <a:latin typeface="Calibri"/>
                        </a:rPr>
                        <a:t>verdict</a:t>
                      </a:r>
                    </a:p>
                  </a:txBody>
                  <a:tcPr>
                    <a:solidFill>
                      <a:srgbClr val="202124"/>
                    </a:solidFill>
                  </a:tcPr>
                </a:tc>
                <a:tc>
                  <a:txBody>
                    <a:bodyPr/>
                    <a:lstStyle/>
                    <a:p>
                      <a:r>
                        <a:rPr sz="1400" b="1">
                          <a:solidFill>
                            <a:srgbClr val="FFFFFF"/>
                          </a:solidFill>
                          <a:latin typeface="Calibri"/>
                        </a:rPr>
                        <a:t>basis</a:t>
                      </a:r>
                    </a:p>
                  </a:txBody>
                  <a:tcPr>
                    <a:solidFill>
                      <a:srgbClr val="202124"/>
                    </a:solidFill>
                  </a:tcPr>
                </a:tc>
                <a:extLst>
                  <a:ext uri="{0D108BD9-81ED-4DB2-BD59-A6C34878D82A}">
                    <a16:rowId xmlns:a16="http://schemas.microsoft.com/office/drawing/2014/main" val="10000"/>
                  </a:ext>
                </a:extLst>
              </a:tr>
              <a:tr h="365760">
                <a:tc>
                  <a:txBody>
                    <a:bodyPr/>
                    <a:lstStyle/>
                    <a:p>
                      <a:r>
                        <a:rPr sz="1400" b="1" dirty="0">
                          <a:latin typeface="Calibri"/>
                        </a:rPr>
                        <a:t>predict the INSTRUCTION activity of an unseen app</a:t>
                      </a:r>
                    </a:p>
                  </a:txBody>
                  <a:tcPr>
                    <a:solidFill>
                      <a:srgbClr val="EFF3FA"/>
                    </a:solidFill>
                  </a:tcPr>
                </a:tc>
                <a:tc>
                  <a:txBody>
                    <a:bodyPr/>
                    <a:lstStyle/>
                    <a:p>
                      <a:r>
                        <a:rPr sz="1400" b="1">
                          <a:solidFill>
                            <a:srgbClr val="187A33"/>
                          </a:solidFill>
                          <a:latin typeface="Calibri"/>
                        </a:rPr>
                        <a:t>YES</a:t>
                      </a:r>
                    </a:p>
                  </a:txBody>
                  <a:tcPr>
                    <a:solidFill>
                      <a:srgbClr val="EFF3FA"/>
                    </a:solidFill>
                  </a:tcPr>
                </a:tc>
                <a:tc>
                  <a:txBody>
                    <a:bodyPr/>
                    <a:lstStyle/>
                    <a:p>
                      <a:r>
                        <a:rPr sz="1400" b="0">
                          <a:latin typeface="Calibri"/>
                        </a:rPr>
                        <a:t>1.75% mean, 41 of 50 within 2%</a:t>
                      </a:r>
                    </a:p>
                  </a:txBody>
                  <a:tcPr>
                    <a:solidFill>
                      <a:srgbClr val="EFF3FA"/>
                    </a:solidFill>
                  </a:tcPr>
                </a:tc>
                <a:extLst>
                  <a:ext uri="{0D108BD9-81ED-4DB2-BD59-A6C34878D82A}">
                    <a16:rowId xmlns:a16="http://schemas.microsoft.com/office/drawing/2014/main" val="10001"/>
                  </a:ext>
                </a:extLst>
              </a:tr>
              <a:tr h="365760">
                <a:tc>
                  <a:txBody>
                    <a:bodyPr/>
                    <a:lstStyle/>
                    <a:p>
                      <a:r>
                        <a:rPr sz="1400" b="1" dirty="0">
                          <a:latin typeface="Calibri"/>
                        </a:rPr>
                        <a:t>predict DRAM BANDWIDTH</a:t>
                      </a:r>
                    </a:p>
                  </a:txBody>
                  <a:tcPr>
                    <a:solidFill>
                      <a:srgbClr val="FFFFFF"/>
                    </a:solidFill>
                  </a:tcPr>
                </a:tc>
                <a:tc>
                  <a:txBody>
                    <a:bodyPr/>
                    <a:lstStyle/>
                    <a:p>
                      <a:r>
                        <a:rPr lang="en-US" sz="1400" b="1" dirty="0">
                          <a:solidFill>
                            <a:srgbClr val="FFC000"/>
                          </a:solidFill>
                          <a:latin typeface="Calibri"/>
                        </a:rPr>
                        <a:t>Not Yet</a:t>
                      </a:r>
                      <a:endParaRPr sz="1400" b="1" dirty="0">
                        <a:solidFill>
                          <a:srgbClr val="FFC000"/>
                        </a:solidFill>
                        <a:latin typeface="Calibri"/>
                      </a:endParaRPr>
                    </a:p>
                  </a:txBody>
                  <a:tcPr>
                    <a:solidFill>
                      <a:srgbClr val="FFFFFF"/>
                    </a:solidFill>
                  </a:tcPr>
                </a:tc>
                <a:tc>
                  <a:txBody>
                    <a:bodyPr/>
                    <a:lstStyle/>
                    <a:p>
                      <a:r>
                        <a:rPr sz="1400" b="0" dirty="0">
                          <a:latin typeface="Calibri"/>
                        </a:rPr>
                        <a:t>over-reports ~2x; write streaming is not modelled</a:t>
                      </a:r>
                      <a:r>
                        <a:rPr lang="en-US" sz="1400" b="0" dirty="0">
                          <a:latin typeface="Calibri"/>
                        </a:rPr>
                        <a:t> (next task)</a:t>
                      </a:r>
                      <a:endParaRPr sz="1400" b="0" dirty="0">
                        <a:latin typeface="Calibri"/>
                      </a:endParaRPr>
                    </a:p>
                  </a:txBody>
                  <a:tcPr>
                    <a:solidFill>
                      <a:srgbClr val="FFFFFF"/>
                    </a:solidFill>
                  </a:tcPr>
                </a:tc>
                <a:extLst>
                  <a:ext uri="{0D108BD9-81ED-4DB2-BD59-A6C34878D82A}">
                    <a16:rowId xmlns:a16="http://schemas.microsoft.com/office/drawing/2014/main" val="10002"/>
                  </a:ext>
                </a:extLst>
              </a:tr>
              <a:tr h="365760">
                <a:tc>
                  <a:txBody>
                    <a:bodyPr/>
                    <a:lstStyle/>
                    <a:p>
                      <a:r>
                        <a:rPr sz="1400" b="1">
                          <a:latin typeface="Calibri"/>
                        </a:rPr>
                        <a:t>predict total power of an unseen app</a:t>
                      </a:r>
                    </a:p>
                  </a:txBody>
                  <a:tcPr>
                    <a:solidFill>
                      <a:srgbClr val="EFF3FA"/>
                    </a:solidFill>
                  </a:tcPr>
                </a:tc>
                <a:tc>
                  <a:txBody>
                    <a:bodyPr/>
                    <a:lstStyle/>
                    <a:p>
                      <a:r>
                        <a:rPr sz="1400" b="1">
                          <a:solidFill>
                            <a:srgbClr val="187A33"/>
                          </a:solidFill>
                          <a:latin typeface="Calibri"/>
                        </a:rPr>
                        <a:t>YES</a:t>
                      </a:r>
                    </a:p>
                  </a:txBody>
                  <a:tcPr>
                    <a:solidFill>
                      <a:srgbClr val="EFF3FA"/>
                    </a:solidFill>
                  </a:tcPr>
                </a:tc>
                <a:tc>
                  <a:txBody>
                    <a:bodyPr/>
                    <a:lstStyle/>
                    <a:p>
                      <a:r>
                        <a:rPr sz="1400" b="0">
                          <a:latin typeface="Calibri"/>
                        </a:rPr>
                        <a:t>6.4% mean, 14.8% worst, 50 held-out applications</a:t>
                      </a:r>
                    </a:p>
                  </a:txBody>
                  <a:tcPr>
                    <a:solidFill>
                      <a:srgbClr val="EFF3FA"/>
                    </a:solidFill>
                  </a:tcPr>
                </a:tc>
                <a:extLst>
                  <a:ext uri="{0D108BD9-81ED-4DB2-BD59-A6C34878D82A}">
                    <a16:rowId xmlns:a16="http://schemas.microsoft.com/office/drawing/2014/main" val="10003"/>
                  </a:ext>
                </a:extLst>
              </a:tr>
              <a:tr h="365760">
                <a:tc>
                  <a:txBody>
                    <a:bodyPr/>
                    <a:lstStyle/>
                    <a:p>
                      <a:r>
                        <a:rPr sz="1400" b="1">
                          <a:latin typeface="Calibri"/>
                        </a:rPr>
                        <a:t>predict vdd_soc</a:t>
                      </a:r>
                    </a:p>
                  </a:txBody>
                  <a:tcPr>
                    <a:solidFill>
                      <a:srgbClr val="FFFFFF"/>
                    </a:solidFill>
                  </a:tcPr>
                </a:tc>
                <a:tc>
                  <a:txBody>
                    <a:bodyPr/>
                    <a:lstStyle/>
                    <a:p>
                      <a:r>
                        <a:rPr sz="1400" b="1" dirty="0">
                          <a:solidFill>
                            <a:srgbClr val="187A33"/>
                          </a:solidFill>
                          <a:latin typeface="Calibri"/>
                        </a:rPr>
                        <a:t>YES</a:t>
                      </a:r>
                    </a:p>
                  </a:txBody>
                  <a:tcPr>
                    <a:solidFill>
                      <a:srgbClr val="FFFFFF"/>
                    </a:solidFill>
                  </a:tcPr>
                </a:tc>
                <a:tc>
                  <a:txBody>
                    <a:bodyPr/>
                    <a:lstStyle/>
                    <a:p>
                      <a:r>
                        <a:rPr sz="1400" b="0">
                          <a:latin typeface="Calibri"/>
                        </a:rPr>
                        <a:t>4.1% mean, 7.1% worst — the strongest single result</a:t>
                      </a:r>
                    </a:p>
                  </a:txBody>
                  <a:tcPr>
                    <a:solidFill>
                      <a:srgbClr val="FFFFFF"/>
                    </a:solidFill>
                  </a:tcPr>
                </a:tc>
                <a:extLst>
                  <a:ext uri="{0D108BD9-81ED-4DB2-BD59-A6C34878D82A}">
                    <a16:rowId xmlns:a16="http://schemas.microsoft.com/office/drawing/2014/main" val="10004"/>
                  </a:ext>
                </a:extLst>
              </a:tr>
              <a:tr h="365760">
                <a:tc>
                  <a:txBody>
                    <a:bodyPr/>
                    <a:lstStyle/>
                    <a:p>
                      <a:r>
                        <a:rPr sz="1400" b="1">
                          <a:latin typeface="Calibri"/>
                        </a:rPr>
                        <a:t>predict a concurrent multi-app mix</a:t>
                      </a:r>
                    </a:p>
                  </a:txBody>
                  <a:tcPr>
                    <a:solidFill>
                      <a:srgbClr val="FFFFFF"/>
                    </a:solidFill>
                  </a:tcPr>
                </a:tc>
                <a:tc>
                  <a:txBody>
                    <a:bodyPr/>
                    <a:lstStyle/>
                    <a:p>
                      <a:r>
                        <a:rPr sz="1400" b="1">
                          <a:solidFill>
                            <a:srgbClr val="187A33"/>
                          </a:solidFill>
                          <a:latin typeface="Calibri"/>
                        </a:rPr>
                        <a:t>YES</a:t>
                      </a:r>
                    </a:p>
                  </a:txBody>
                  <a:tcPr>
                    <a:solidFill>
                      <a:srgbClr val="FFFFFF"/>
                    </a:solidFill>
                  </a:tcPr>
                </a:tc>
                <a:tc>
                  <a:txBody>
                    <a:bodyPr/>
                    <a:lstStyle/>
                    <a:p>
                      <a:r>
                        <a:rPr sz="1400" b="0" dirty="0">
                          <a:latin typeface="Calibri"/>
                        </a:rPr>
                        <a:t>3.6% mean, 5.8% worst, 2–6 apps</a:t>
                      </a:r>
                    </a:p>
                  </a:txBody>
                  <a:tcPr>
                    <a:solidFill>
                      <a:srgbClr val="FFFFFF"/>
                    </a:solidFill>
                  </a:tcPr>
                </a:tc>
                <a:extLst>
                  <a:ext uri="{0D108BD9-81ED-4DB2-BD59-A6C34878D82A}">
                    <a16:rowId xmlns:a16="http://schemas.microsoft.com/office/drawing/2014/main" val="10006"/>
                  </a:ext>
                </a:extLst>
              </a:tr>
              <a:tr h="365760">
                <a:tc>
                  <a:txBody>
                    <a:bodyPr/>
                    <a:lstStyle/>
                    <a:p>
                      <a:r>
                        <a:rPr sz="1400" b="1">
                          <a:latin typeface="Calibri"/>
                        </a:rPr>
                        <a:t>predict streaming or DMA-heavy code</a:t>
                      </a:r>
                    </a:p>
                  </a:txBody>
                  <a:tcPr>
                    <a:solidFill>
                      <a:srgbClr val="EFF3FA"/>
                    </a:solidFill>
                  </a:tcPr>
                </a:tc>
                <a:tc>
                  <a:txBody>
                    <a:bodyPr/>
                    <a:lstStyle/>
                    <a:p>
                      <a:r>
                        <a:rPr lang="en-US" sz="1400" b="1" dirty="0">
                          <a:solidFill>
                            <a:srgbClr val="FFC000"/>
                          </a:solidFill>
                          <a:latin typeface="Calibri"/>
                        </a:rPr>
                        <a:t>Not YET</a:t>
                      </a:r>
                      <a:endParaRPr sz="1400" b="1" dirty="0">
                        <a:solidFill>
                          <a:srgbClr val="FFC000"/>
                        </a:solidFill>
                        <a:latin typeface="Calibri"/>
                      </a:endParaRPr>
                    </a:p>
                  </a:txBody>
                  <a:tcPr>
                    <a:solidFill>
                      <a:srgbClr val="EFF3FA"/>
                    </a:solidFill>
                  </a:tcPr>
                </a:tc>
                <a:tc>
                  <a:txBody>
                    <a:bodyPr/>
                    <a:lstStyle/>
                    <a:p>
                      <a:r>
                        <a:rPr sz="1400" b="0" dirty="0">
                          <a:latin typeface="Calibri"/>
                        </a:rPr>
                        <a:t>the bandwidth gap lands directly on it</a:t>
                      </a:r>
                      <a:r>
                        <a:rPr lang="en-US" sz="1400" b="0" dirty="0">
                          <a:latin typeface="Calibri"/>
                        </a:rPr>
                        <a:t> (task 2 to fix)</a:t>
                      </a:r>
                      <a:endParaRPr sz="1400" b="0" dirty="0">
                        <a:latin typeface="Calibri"/>
                      </a:endParaRPr>
                    </a:p>
                  </a:txBody>
                  <a:tcPr>
                    <a:solidFill>
                      <a:srgbClr val="EFF3FA"/>
                    </a:solidFill>
                  </a:tcPr>
                </a:tc>
                <a:extLst>
                  <a:ext uri="{0D108BD9-81ED-4DB2-BD59-A6C34878D82A}">
                    <a16:rowId xmlns:a16="http://schemas.microsoft.com/office/drawing/2014/main" val="10007"/>
                  </a:ext>
                </a:extLst>
              </a:tr>
              <a:tr h="365760">
                <a:tc>
                  <a:txBody>
                    <a:bodyPr/>
                    <a:lstStyle/>
                    <a:p>
                      <a:r>
                        <a:rPr lang="en-US" sz="1400" b="1" dirty="0">
                          <a:latin typeface="Calibri"/>
                        </a:rPr>
                        <a:t>Use these coefficients only at a single product point</a:t>
                      </a:r>
                      <a:endParaRPr sz="1400" b="1" dirty="0">
                        <a:latin typeface="Calibri"/>
                      </a:endParaRPr>
                    </a:p>
                  </a:txBody>
                  <a:tcPr>
                    <a:solidFill>
                      <a:srgbClr val="FFFFFF"/>
                    </a:solidFill>
                  </a:tcPr>
                </a:tc>
                <a:tc>
                  <a:txBody>
                    <a:bodyPr/>
                    <a:lstStyle/>
                    <a:p>
                      <a:r>
                        <a:rPr lang="en-US" sz="1400" b="1" dirty="0">
                          <a:solidFill>
                            <a:srgbClr val="00B050"/>
                          </a:solidFill>
                          <a:latin typeface="Calibri"/>
                        </a:rPr>
                        <a:t>YES</a:t>
                      </a:r>
                      <a:endParaRPr sz="1400" b="1" dirty="0">
                        <a:solidFill>
                          <a:srgbClr val="00B050"/>
                        </a:solidFill>
                        <a:latin typeface="Calibri"/>
                      </a:endParaRPr>
                    </a:p>
                  </a:txBody>
                  <a:tcPr>
                    <a:solidFill>
                      <a:srgbClr val="FFFFFF"/>
                    </a:solidFill>
                  </a:tcPr>
                </a:tc>
                <a:tc>
                  <a:txBody>
                    <a:bodyPr/>
                    <a:lstStyle/>
                    <a:p>
                      <a:r>
                        <a:rPr sz="1400" b="0" dirty="0">
                          <a:latin typeface="Calibri"/>
                        </a:rPr>
                        <a:t>1800 MHz set; </a:t>
                      </a:r>
                      <a:r>
                        <a:rPr sz="1400" b="0" dirty="0" err="1">
                          <a:latin typeface="Calibri"/>
                        </a:rPr>
                        <a:t>vdd_soc</a:t>
                      </a:r>
                      <a:r>
                        <a:rPr sz="1400" b="0" dirty="0">
                          <a:latin typeface="Calibri"/>
                        </a:rPr>
                        <a:t> transfers, </a:t>
                      </a:r>
                      <a:r>
                        <a:rPr sz="1400" b="0" dirty="0" err="1">
                          <a:latin typeface="Calibri"/>
                        </a:rPr>
                        <a:t>vdd_arm</a:t>
                      </a:r>
                      <a:r>
                        <a:rPr sz="1400" b="0" dirty="0">
                          <a:latin typeface="Calibri"/>
                        </a:rPr>
                        <a:t> does not</a:t>
                      </a:r>
                      <a:r>
                        <a:rPr lang="en-US" sz="1400" b="0" dirty="0">
                          <a:latin typeface="Calibri"/>
                        </a:rPr>
                        <a:t>. </a:t>
                      </a:r>
                      <a:br>
                        <a:rPr lang="en-US" sz="1400" b="0" dirty="0">
                          <a:latin typeface="Calibri"/>
                        </a:rPr>
                      </a:br>
                      <a:r>
                        <a:rPr lang="en-US" sz="1400" b="0" dirty="0">
                          <a:latin typeface="Calibri"/>
                        </a:rPr>
                        <a:t>Easily can run at different set points and for power modeling, max and min are key</a:t>
                      </a:r>
                      <a:endParaRPr sz="1400" b="0" dirty="0">
                        <a:latin typeface="Calibri"/>
                      </a:endParaRPr>
                    </a:p>
                  </a:txBody>
                  <a:tcPr>
                    <a:solidFill>
                      <a:srgbClr val="FFFFFF"/>
                    </a:solidFill>
                  </a:tcPr>
                </a:tc>
                <a:extLst>
                  <a:ext uri="{0D108BD9-81ED-4DB2-BD59-A6C34878D82A}">
                    <a16:rowId xmlns:a16="http://schemas.microsoft.com/office/drawing/2014/main" val="10008"/>
                  </a:ext>
                </a:extLst>
              </a:tr>
              <a:tr h="365760">
                <a:tc>
                  <a:txBody>
                    <a:bodyPr/>
                    <a:lstStyle/>
                    <a:p>
                      <a:r>
                        <a:rPr sz="1400" b="1">
                          <a:latin typeface="Calibri"/>
                        </a:rPr>
                        <a:t>emit watts from QEMU alone</a:t>
                      </a:r>
                    </a:p>
                  </a:txBody>
                  <a:tcPr>
                    <a:solidFill>
                      <a:srgbClr val="FFFFFF"/>
                    </a:solidFill>
                  </a:tcPr>
                </a:tc>
                <a:tc>
                  <a:txBody>
                    <a:bodyPr/>
                    <a:lstStyle/>
                    <a:p>
                      <a:r>
                        <a:rPr sz="1400" b="1">
                          <a:solidFill>
                            <a:srgbClr val="B31412"/>
                          </a:solidFill>
                          <a:latin typeface="Calibri"/>
                        </a:rPr>
                        <a:t>NO</a:t>
                      </a:r>
                    </a:p>
                  </a:txBody>
                  <a:tcPr>
                    <a:solidFill>
                      <a:srgbClr val="FFFFFF"/>
                    </a:solidFill>
                  </a:tcPr>
                </a:tc>
                <a:tc>
                  <a:txBody>
                    <a:bodyPr/>
                    <a:lstStyle/>
                    <a:p>
                      <a:r>
                        <a:rPr sz="1400" b="0" dirty="0">
                          <a:latin typeface="Calibri"/>
                        </a:rPr>
                        <a:t>QEMU supplies ACTIVITY; energy coefficients come from silicon</a:t>
                      </a:r>
                      <a:r>
                        <a:rPr lang="en-US" sz="1400" b="0" dirty="0">
                          <a:latin typeface="Calibri"/>
                        </a:rPr>
                        <a:t> in separate model</a:t>
                      </a:r>
                      <a:endParaRPr sz="1400" b="0" dirty="0">
                        <a:latin typeface="Calibri"/>
                      </a:endParaRPr>
                    </a:p>
                  </a:txBody>
                  <a:tcPr>
                    <a:solidFill>
                      <a:srgbClr val="FFFFFF"/>
                    </a:solidFill>
                  </a:tcPr>
                </a:tc>
                <a:extLst>
                  <a:ext uri="{0D108BD9-81ED-4DB2-BD59-A6C34878D82A}">
                    <a16:rowId xmlns:a16="http://schemas.microsoft.com/office/drawing/2014/main" val="10010"/>
                  </a:ext>
                </a:extLst>
              </a:tr>
            </a:tbl>
          </a:graphicData>
        </a:graphic>
      </p:graphicFrame>
      <p:sp>
        <p:nvSpPr>
          <p:cNvPr id="9" name="TextBox 8"/>
          <p:cNvSpPr txBox="1"/>
          <p:nvPr/>
        </p:nvSpPr>
        <p:spPr>
          <a:xfrm>
            <a:off x="594360" y="5254752"/>
            <a:ext cx="11064240" cy="646331"/>
          </a:xfrm>
          <a:prstGeom prst="rect">
            <a:avLst/>
          </a:prstGeom>
          <a:noFill/>
        </p:spPr>
        <p:txBody>
          <a:bodyPr wrap="square">
            <a:spAutoFit/>
          </a:bodyPr>
          <a:lstStyle/>
          <a:p>
            <a:pPr algn="ctr"/>
            <a:r>
              <a:rPr b="1" dirty="0">
                <a:solidFill>
                  <a:srgbClr val="1A53A0"/>
                </a:solidFill>
                <a:latin typeface="Calibri"/>
              </a:rPr>
              <a:t>The standing rule survives the campaign unchanged: QEMU measures activity, engineers convert activity to energy. A board that reads real watts is exactly when that discipline matters most.</a:t>
            </a:r>
          </a:p>
        </p:txBody>
      </p:sp>
      <p:sp>
        <p:nvSpPr>
          <p:cNvPr id="10" name="TextBox 9"/>
          <p:cNvSpPr txBox="1"/>
          <p:nvPr/>
        </p:nvSpPr>
        <p:spPr>
          <a:xfrm>
            <a:off x="548640" y="6119707"/>
            <a:ext cx="11338560" cy="269304"/>
          </a:xfrm>
          <a:prstGeom prst="rect">
            <a:avLst/>
          </a:prstGeom>
          <a:noFill/>
        </p:spPr>
        <p:txBody>
          <a:bodyPr wrap="square">
            <a:spAutoFit/>
          </a:bodyPr>
          <a:lstStyle/>
          <a:p>
            <a:pPr algn="ctr"/>
            <a:r>
              <a:rPr sz="1150" b="0" dirty="0">
                <a:solidFill>
                  <a:srgbClr val="5F6368"/>
                </a:solidFill>
                <a:latin typeface="Calibri"/>
              </a:rPr>
              <a:t>Everything above is reproducible from the repo: frozen predictions in git before measurement, raw per-app pairs in RESULTS-50.csv, and every limit stated beside the number it qualifies.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18872"/>
            <a:ext cx="11155680" cy="603504"/>
          </a:xfrm>
          <a:prstGeom prst="rect">
            <a:avLst/>
          </a:prstGeom>
          <a:noFill/>
        </p:spPr>
        <p:txBody>
          <a:bodyPr wrap="square">
            <a:spAutoFit/>
          </a:bodyPr>
          <a:lstStyle/>
          <a:p>
            <a:pPr algn="l"/>
            <a:r>
              <a:rPr sz="2600" b="1">
                <a:solidFill>
                  <a:srgbClr val="FFFFFF"/>
                </a:solidFill>
                <a:latin typeface="Calibri"/>
              </a:rPr>
              <a:t>What this actually means</a:t>
            </a: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969264"/>
            <a:ext cx="11155680" cy="369332"/>
          </a:xfrm>
          <a:prstGeom prst="rect">
            <a:avLst/>
          </a:prstGeom>
          <a:noFill/>
        </p:spPr>
        <p:txBody>
          <a:bodyPr wrap="square">
            <a:spAutoFit/>
          </a:bodyPr>
          <a:lstStyle/>
          <a:p>
            <a:pPr algn="l"/>
            <a:r>
              <a:rPr b="0" dirty="0">
                <a:solidFill>
                  <a:srgbClr val="5F6368"/>
                </a:solidFill>
                <a:latin typeface="Calibri"/>
              </a:rPr>
              <a:t>The result is not the point. What it licenses us to do next is the point.</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power · rails MEASURED on IMX95LPD5EVK-19 (NXP BCU) · A55 die 40–41 °C under load · activity DERIVED from QEMU TCG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12</a:t>
            </a:r>
          </a:p>
        </p:txBody>
      </p:sp>
      <p:sp>
        <p:nvSpPr>
          <p:cNvPr id="8" name="Oval 7"/>
          <p:cNvSpPr/>
          <p:nvPr/>
        </p:nvSpPr>
        <p:spPr>
          <a:xfrm>
            <a:off x="566928" y="1481328"/>
            <a:ext cx="566928" cy="566928"/>
          </a:xfrm>
          <a:prstGeom prst="ellipse">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1554480"/>
            <a:ext cx="566928" cy="457200"/>
          </a:xfrm>
          <a:prstGeom prst="rect">
            <a:avLst/>
          </a:prstGeom>
          <a:noFill/>
        </p:spPr>
        <p:txBody>
          <a:bodyPr wrap="square">
            <a:spAutoFit/>
          </a:bodyPr>
          <a:lstStyle/>
          <a:p>
            <a:pPr algn="ctr"/>
            <a:r>
              <a:rPr sz="2000" b="1">
                <a:solidFill>
                  <a:srgbClr val="FFFFFF"/>
                </a:solidFill>
                <a:latin typeface="Calibri"/>
              </a:rPr>
              <a:t>1</a:t>
            </a:r>
          </a:p>
        </p:txBody>
      </p:sp>
      <p:sp>
        <p:nvSpPr>
          <p:cNvPr id="10" name="TextBox 9"/>
          <p:cNvSpPr txBox="1"/>
          <p:nvPr/>
        </p:nvSpPr>
        <p:spPr>
          <a:xfrm>
            <a:off x="1325880" y="1444752"/>
            <a:ext cx="10332720" cy="369332"/>
          </a:xfrm>
          <a:prstGeom prst="rect">
            <a:avLst/>
          </a:prstGeom>
          <a:noFill/>
        </p:spPr>
        <p:txBody>
          <a:bodyPr wrap="square">
            <a:spAutoFit/>
          </a:bodyPr>
          <a:lstStyle/>
          <a:p>
            <a:pPr algn="l"/>
            <a:r>
              <a:rPr b="1" dirty="0">
                <a:solidFill>
                  <a:srgbClr val="202124"/>
                </a:solidFill>
                <a:latin typeface="Calibri"/>
              </a:rPr>
              <a:t>Predicting power on working silicon is not, by itself, worth much.</a:t>
            </a:r>
          </a:p>
        </p:txBody>
      </p:sp>
      <p:sp>
        <p:nvSpPr>
          <p:cNvPr id="11" name="TextBox 10"/>
          <p:cNvSpPr txBox="1"/>
          <p:nvPr/>
        </p:nvSpPr>
        <p:spPr>
          <a:xfrm>
            <a:off x="1325880" y="1883664"/>
            <a:ext cx="10332720" cy="646331"/>
          </a:xfrm>
          <a:prstGeom prst="rect">
            <a:avLst/>
          </a:prstGeom>
          <a:noFill/>
        </p:spPr>
        <p:txBody>
          <a:bodyPr wrap="square">
            <a:spAutoFit/>
          </a:bodyPr>
          <a:lstStyle/>
          <a:p>
            <a:pPr algn="l"/>
            <a:r>
              <a:rPr b="0" dirty="0">
                <a:solidFill>
                  <a:srgbClr val="5F6368"/>
                </a:solidFill>
                <a:latin typeface="Calibri"/>
              </a:rPr>
              <a:t>If the part exists, you can put a meter on it. Everything in this deck was validated against a board we already had — that is what makes it evidence, not what makes it useful.</a:t>
            </a:r>
          </a:p>
        </p:txBody>
      </p:sp>
      <p:sp>
        <p:nvSpPr>
          <p:cNvPr id="12" name="Oval 11"/>
          <p:cNvSpPr/>
          <p:nvPr/>
        </p:nvSpPr>
        <p:spPr>
          <a:xfrm>
            <a:off x="566928" y="2962656"/>
            <a:ext cx="566928" cy="566928"/>
          </a:xfrm>
          <a:prstGeom prst="ellipse">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3035808"/>
            <a:ext cx="566928" cy="457200"/>
          </a:xfrm>
          <a:prstGeom prst="rect">
            <a:avLst/>
          </a:prstGeom>
          <a:noFill/>
        </p:spPr>
        <p:txBody>
          <a:bodyPr wrap="square">
            <a:spAutoFit/>
          </a:bodyPr>
          <a:lstStyle/>
          <a:p>
            <a:pPr algn="ctr"/>
            <a:r>
              <a:rPr sz="2000" b="1">
                <a:solidFill>
                  <a:srgbClr val="FFFFFF"/>
                </a:solidFill>
                <a:latin typeface="Calibri"/>
              </a:rPr>
              <a:t>2</a:t>
            </a:r>
          </a:p>
        </p:txBody>
      </p:sp>
      <p:sp>
        <p:nvSpPr>
          <p:cNvPr id="14" name="TextBox 13"/>
          <p:cNvSpPr txBox="1"/>
          <p:nvPr/>
        </p:nvSpPr>
        <p:spPr>
          <a:xfrm>
            <a:off x="1325880" y="2926080"/>
            <a:ext cx="10332720" cy="400110"/>
          </a:xfrm>
          <a:prstGeom prst="rect">
            <a:avLst/>
          </a:prstGeom>
          <a:noFill/>
        </p:spPr>
        <p:txBody>
          <a:bodyPr wrap="square">
            <a:spAutoFit/>
          </a:bodyPr>
          <a:lstStyle/>
          <a:p>
            <a:pPr algn="l"/>
            <a:r>
              <a:rPr sz="2000" b="1" dirty="0">
                <a:solidFill>
                  <a:srgbClr val="202124"/>
                </a:solidFill>
                <a:latin typeface="Calibri"/>
              </a:rPr>
              <a:t>So the value has to be collected BEFORE there is silicon.</a:t>
            </a:r>
          </a:p>
        </p:txBody>
      </p:sp>
      <p:sp>
        <p:nvSpPr>
          <p:cNvPr id="15" name="TextBox 14"/>
          <p:cNvSpPr txBox="1"/>
          <p:nvPr/>
        </p:nvSpPr>
        <p:spPr>
          <a:xfrm>
            <a:off x="1325880" y="3364992"/>
            <a:ext cx="10332720" cy="830997"/>
          </a:xfrm>
          <a:prstGeom prst="rect">
            <a:avLst/>
          </a:prstGeom>
          <a:noFill/>
        </p:spPr>
        <p:txBody>
          <a:bodyPr wrap="square">
            <a:spAutoFit/>
          </a:bodyPr>
          <a:lstStyle/>
          <a:p>
            <a:pPr algn="l"/>
            <a:r>
              <a:rPr sz="1600" b="0" dirty="0">
                <a:solidFill>
                  <a:srgbClr val="5F6368"/>
                </a:solidFill>
                <a:latin typeface="Calibri"/>
              </a:rPr>
              <a:t>Which sets a hard prerequisite on the program: a settled architecture and memory map, early, well ahead of </a:t>
            </a:r>
            <a:r>
              <a:rPr sz="1600" b="0" dirty="0" err="1">
                <a:solidFill>
                  <a:srgbClr val="5F6368"/>
                </a:solidFill>
                <a:latin typeface="Calibri"/>
              </a:rPr>
              <a:t>tapeout</a:t>
            </a:r>
            <a:r>
              <a:rPr sz="1600" b="0" dirty="0">
                <a:solidFill>
                  <a:srgbClr val="5F6368"/>
                </a:solidFill>
                <a:latin typeface="Calibri"/>
              </a:rPr>
              <a:t> — enough to stand up a QEMU model and boot a full Linux BSP on it. That is the gate. Not the power work; the model underneath it.</a:t>
            </a:r>
          </a:p>
        </p:txBody>
      </p:sp>
      <p:sp>
        <p:nvSpPr>
          <p:cNvPr id="16" name="Oval 15"/>
          <p:cNvSpPr/>
          <p:nvPr/>
        </p:nvSpPr>
        <p:spPr>
          <a:xfrm>
            <a:off x="566928" y="4443984"/>
            <a:ext cx="566928" cy="566928"/>
          </a:xfrm>
          <a:prstGeom prst="ellipse">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6928" y="4517136"/>
            <a:ext cx="566928" cy="457200"/>
          </a:xfrm>
          <a:prstGeom prst="rect">
            <a:avLst/>
          </a:prstGeom>
          <a:noFill/>
        </p:spPr>
        <p:txBody>
          <a:bodyPr wrap="square">
            <a:spAutoFit/>
          </a:bodyPr>
          <a:lstStyle/>
          <a:p>
            <a:pPr algn="ctr"/>
            <a:r>
              <a:rPr sz="2000" b="1">
                <a:solidFill>
                  <a:srgbClr val="FFFFFF"/>
                </a:solidFill>
                <a:latin typeface="Calibri"/>
              </a:rPr>
              <a:t>3</a:t>
            </a:r>
          </a:p>
        </p:txBody>
      </p:sp>
      <p:sp>
        <p:nvSpPr>
          <p:cNvPr id="18" name="TextBox 17"/>
          <p:cNvSpPr txBox="1"/>
          <p:nvPr/>
        </p:nvSpPr>
        <p:spPr>
          <a:xfrm>
            <a:off x="1325880" y="4407408"/>
            <a:ext cx="10332720" cy="400110"/>
          </a:xfrm>
          <a:prstGeom prst="rect">
            <a:avLst/>
          </a:prstGeom>
          <a:noFill/>
        </p:spPr>
        <p:txBody>
          <a:bodyPr wrap="square">
            <a:spAutoFit/>
          </a:bodyPr>
          <a:lstStyle/>
          <a:p>
            <a:pPr algn="l"/>
            <a:r>
              <a:rPr sz="2000" b="1" dirty="0">
                <a:solidFill>
                  <a:srgbClr val="202124"/>
                </a:solidFill>
                <a:latin typeface="Calibri"/>
              </a:rPr>
              <a:t>Once that exists, this campaign says both halves work.</a:t>
            </a:r>
          </a:p>
        </p:txBody>
      </p:sp>
      <p:sp>
        <p:nvSpPr>
          <p:cNvPr id="19" name="TextBox 18"/>
          <p:cNvSpPr txBox="1"/>
          <p:nvPr/>
        </p:nvSpPr>
        <p:spPr>
          <a:xfrm>
            <a:off x="1325880" y="4846320"/>
            <a:ext cx="10332720" cy="830997"/>
          </a:xfrm>
          <a:prstGeom prst="rect">
            <a:avLst/>
          </a:prstGeom>
          <a:noFill/>
        </p:spPr>
        <p:txBody>
          <a:bodyPr wrap="square">
            <a:spAutoFit/>
          </a:bodyPr>
          <a:lstStyle/>
          <a:p>
            <a:pPr algn="l"/>
            <a:r>
              <a:rPr sz="1600" b="0" dirty="0">
                <a:solidFill>
                  <a:srgbClr val="5F6368"/>
                </a:solidFill>
                <a:latin typeface="Calibri"/>
              </a:rPr>
              <a:t>QEMU predicts the activity factors — usable on their own for reading code flows, usage and where the work lands. And those activity factors, fed to a power model carrying estimated gate power, produce power estimates that held to single digits against real rails.</a:t>
            </a:r>
          </a:p>
        </p:txBody>
      </p:sp>
      <p:sp>
        <p:nvSpPr>
          <p:cNvPr id="20" name="Rectangle 19"/>
          <p:cNvSpPr/>
          <p:nvPr/>
        </p:nvSpPr>
        <p:spPr>
          <a:xfrm>
            <a:off x="548640" y="5779008"/>
            <a:ext cx="11064240" cy="731520"/>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5888736"/>
            <a:ext cx="10607040" cy="646331"/>
          </a:xfrm>
          <a:prstGeom prst="rect">
            <a:avLst/>
          </a:prstGeom>
          <a:noFill/>
        </p:spPr>
        <p:txBody>
          <a:bodyPr wrap="square">
            <a:spAutoFit/>
          </a:bodyPr>
          <a:lstStyle/>
          <a:p>
            <a:pPr algn="ctr"/>
            <a:r>
              <a:rPr b="1" dirty="0">
                <a:solidFill>
                  <a:srgbClr val="FFFFFF"/>
                </a:solidFill>
                <a:latin typeface="Calibri"/>
              </a:rPr>
              <a:t>The division of </a:t>
            </a:r>
            <a:r>
              <a:rPr b="1" dirty="0" err="1">
                <a:solidFill>
                  <a:srgbClr val="FFFFFF"/>
                </a:solidFill>
                <a:latin typeface="Calibri"/>
              </a:rPr>
              <a:t>labour</a:t>
            </a:r>
            <a:r>
              <a:rPr b="1" dirty="0">
                <a:solidFill>
                  <a:srgbClr val="FFFFFF"/>
                </a:solidFill>
                <a:latin typeface="Calibri"/>
              </a:rPr>
              <a:t>: QEMU supplies the activity. The power model supplies the energy. </a:t>
            </a:r>
            <a:endParaRPr lang="en-US" b="1" dirty="0">
              <a:solidFill>
                <a:srgbClr val="FFFFFF"/>
              </a:solidFill>
              <a:latin typeface="Calibri"/>
            </a:endParaRPr>
          </a:p>
          <a:p>
            <a:pPr algn="ctr"/>
            <a:r>
              <a:rPr b="1" dirty="0">
                <a:solidFill>
                  <a:srgbClr val="FFFFFF"/>
                </a:solidFill>
                <a:latin typeface="Calibri"/>
              </a:rPr>
              <a:t>Neither one is asked to do the other's job.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20</TotalTime>
  <Words>3016</Words>
  <Application>Microsoft Office PowerPoint</Application>
  <PresentationFormat>Widescreen</PresentationFormat>
  <Paragraphs>582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joseph fox</dc:creator>
  <cp:keywords/>
  <dc:description>generated using python-pptx</dc:description>
  <cp:lastModifiedBy>joseph fox</cp:lastModifiedBy>
  <cp:revision>2</cp:revision>
  <dcterms:created xsi:type="dcterms:W3CDTF">2013-01-27T09:14:16Z</dcterms:created>
  <dcterms:modified xsi:type="dcterms:W3CDTF">2026-09-10T06:10:34Z</dcterms:modified>
  <cp:category/>
</cp:coreProperties>
</file>