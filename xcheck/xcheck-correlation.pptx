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286000"/>
            <a:ext cx="12191695" cy="1554480"/>
          </a:xfrm>
          <a:prstGeom prst="rect">
            <a:avLst/>
          </a:prstGeom>
          <a:solidFill>
            <a:srgbClr val="2021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2395728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>
                <a:solidFill>
                  <a:srgbClr val="FFFFFF"/>
                </a:solidFill>
                <a:latin typeface="Calibri"/>
              </a:rPr>
              <a:t>Activity factors for power modelling, measured in QEMU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3127248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C9D4E4"/>
                </a:solidFill>
                <a:latin typeface="Calibri"/>
              </a:rPr>
              <a:t>Validated against i.MX95 silicon · 50 applications · wattson / xcheck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416052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F6368"/>
                </a:solidFill>
                <a:latin typeface="Calibri"/>
              </a:rPr>
              <a:t>Kyle Fox · 2026-08-31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2021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18872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Can we produce activity factors that match silicon?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841248"/>
            <a:ext cx="12191695" cy="38100"/>
          </a:xfrm>
          <a:prstGeom prst="rect">
            <a:avLst/>
          </a:prstGeom>
          <a:solidFill>
            <a:srgbClr val="1A53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528816"/>
            <a:ext cx="9601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5F6368"/>
                </a:solidFill>
                <a:latin typeface="Calibri"/>
              </a:rPr>
              <a:t>wattson xcheck · QEMU counts DERIVED, PMU/DDR counts MEASURED · 2026-08-31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6528816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50" b="0">
                <a:solidFill>
                  <a:srgbClr val="5F6368"/>
                </a:solidFill>
                <a:latin typeface="Calibri"/>
              </a:rPr>
              <a:t>2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097280"/>
            <a:ext cx="11064240" cy="658368"/>
          </a:xfrm>
          <a:prstGeom prst="rect">
            <a:avLst/>
          </a:prstGeom>
          <a:solidFill>
            <a:srgbClr val="0E5C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1188720"/>
            <a:ext cx="10607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Calibri"/>
              </a:rPr>
              <a:t>YES — for CPU and DRAM activity, within the bands below.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874519"/>
            <a:ext cx="5486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87A33"/>
                </a:solidFill>
                <a:latin typeface="Calibri"/>
              </a:rPr>
              <a:t>WHAT WE PRODUCE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548640" y="2157984"/>
          <a:ext cx="5486400" cy="252374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4560"/>
                <a:gridCol w="1188720"/>
                <a:gridCol w="1051560"/>
                <a:gridCol w="1051560"/>
              </a:tblGrid>
              <a:tr h="420624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quantity</a:t>
                      </a:r>
                    </a:p>
                  </a:txBody>
                  <a:tcPr>
                    <a:solidFill>
                      <a:srgbClr val="20212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apply</a:t>
                      </a:r>
                    </a:p>
                  </a:txBody>
                  <a:tcPr>
                    <a:solidFill>
                      <a:srgbClr val="20212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held-out</a:t>
                      </a:r>
                    </a:p>
                  </a:txBody>
                  <a:tcPr>
                    <a:solidFill>
                      <a:srgbClr val="20212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spread</a:t>
                      </a:r>
                    </a:p>
                  </a:txBody>
                  <a:tcPr>
                    <a:solidFill>
                      <a:srgbClr val="202124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r>
                        <a:rPr sz="1050" b="1">
                          <a:latin typeface="Calibri"/>
                        </a:rPr>
                        <a:t>Instructions, per core</a:t>
                      </a:r>
                    </a:p>
                  </a:txBody>
                  <a:tcPr>
                    <a:solidFill>
                      <a:srgbClr val="EFF3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latin typeface="Calibri"/>
                        </a:rPr>
                        <a:t>use raw</a:t>
                      </a:r>
                    </a:p>
                  </a:txBody>
                  <a:tcPr>
                    <a:solidFill>
                      <a:srgbClr val="EFF3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latin typeface="Calibri"/>
                        </a:rPr>
                        <a:t>0.979</a:t>
                      </a:r>
                    </a:p>
                  </a:txBody>
                  <a:tcPr>
                    <a:solidFill>
                      <a:srgbClr val="EFF3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latin typeface="Calibri"/>
                        </a:rPr>
                        <a:t>×/÷1.04</a:t>
                      </a:r>
                    </a:p>
                  </a:txBody>
                  <a:tcPr>
                    <a:solidFill>
                      <a:srgbClr val="EFF3FA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r>
                        <a:rPr sz="1050" b="1">
                          <a:latin typeface="Calibri"/>
                        </a:rPr>
                        <a:t>DRAM reads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latin typeface="Calibri"/>
                        </a:rPr>
                        <a:t>×1.02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latin typeface="Calibri"/>
                        </a:rPr>
                        <a:t>0.91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latin typeface="Calibri"/>
                        </a:rPr>
                        <a:t>×/÷1.21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r>
                        <a:rPr sz="1050" b="1">
                          <a:latin typeface="Calibri"/>
                        </a:rPr>
                        <a:t>DRAM writes</a:t>
                      </a:r>
                    </a:p>
                  </a:txBody>
                  <a:tcPr>
                    <a:solidFill>
                      <a:srgbClr val="EFF3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latin typeface="Calibri"/>
                        </a:rPr>
                        <a:t>×1.11</a:t>
                      </a:r>
                    </a:p>
                  </a:txBody>
                  <a:tcPr>
                    <a:solidFill>
                      <a:srgbClr val="EFF3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latin typeface="Calibri"/>
                        </a:rPr>
                        <a:t>0.83</a:t>
                      </a:r>
                    </a:p>
                  </a:txBody>
                  <a:tcPr>
                    <a:solidFill>
                      <a:srgbClr val="EFF3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latin typeface="Calibri"/>
                        </a:rPr>
                        <a:t>×/÷1.28</a:t>
                      </a:r>
                    </a:p>
                  </a:txBody>
                  <a:tcPr>
                    <a:solidFill>
                      <a:srgbClr val="EFF3FA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r>
                        <a:rPr sz="1050" b="1">
                          <a:latin typeface="Calibri"/>
                        </a:rPr>
                        <a:t>DRAM-quiet screening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latin typeface="Calibri"/>
                        </a:rPr>
                        <a:t>yes/no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latin typeface="Calibri"/>
                        </a:rPr>
                        <a:t>100%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latin typeface="Calibri"/>
                        </a:rP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r>
                        <a:rPr sz="1050" b="1">
                          <a:latin typeface="Calibri"/>
                        </a:rPr>
                        <a:t>User + kernel instructions</a:t>
                      </a:r>
                    </a:p>
                  </a:txBody>
                  <a:tcPr>
                    <a:solidFill>
                      <a:srgbClr val="EFF3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latin typeface="Calibri"/>
                        </a:rPr>
                        <a:t>system mode</a:t>
                      </a:r>
                    </a:p>
                  </a:txBody>
                  <a:tcPr>
                    <a:solidFill>
                      <a:srgbClr val="EFF3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latin typeface="Calibri"/>
                        </a:rPr>
                        <a:t>10.0% kernel</a:t>
                      </a:r>
                    </a:p>
                  </a:txBody>
                  <a:tcPr>
                    <a:solidFill>
                      <a:srgbClr val="EFF3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latin typeface="Calibri"/>
                        </a:rPr>
                        <a:t>measured</a:t>
                      </a:r>
                    </a:p>
                  </a:txBody>
                  <a:tcPr>
                    <a:solidFill>
                      <a:srgbClr val="EFF3FA"/>
                    </a:solidFill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6309360" y="1874519"/>
            <a:ext cx="5303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B31412"/>
                </a:solidFill>
                <a:latin typeface="Calibri"/>
              </a:rPr>
              <a:t>NOT TODAY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6309360" y="2157984"/>
          <a:ext cx="5303520" cy="168249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4560"/>
                <a:gridCol w="3108960"/>
              </a:tblGrid>
              <a:tr h="420624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boundary</a:t>
                      </a:r>
                    </a:p>
                  </a:txBody>
                  <a:tcPr>
                    <a:solidFill>
                      <a:srgbClr val="20212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status</a:t>
                      </a:r>
                    </a:p>
                  </a:txBody>
                  <a:tcPr>
                    <a:solidFill>
                      <a:srgbClr val="202124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r>
                        <a:rPr sz="1050" b="1">
                          <a:latin typeface="Calibri"/>
                        </a:rPr>
                        <a:t>Accelerator compute</a:t>
                      </a:r>
                    </a:p>
                  </a:txBody>
                  <a:tcPr>
                    <a:solidFill>
                      <a:srgbClr val="EFF3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latin typeface="Calibri"/>
                        </a:rPr>
                        <a:t>NPU model in build; GPU next</a:t>
                      </a:r>
                    </a:p>
                  </a:txBody>
                  <a:tcPr>
                    <a:solidFill>
                      <a:srgbClr val="EFF3FA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r>
                        <a:rPr sz="1050" b="1">
                          <a:latin typeface="Calibri"/>
                        </a:rPr>
                        <a:t>DMA payload bytes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latin typeface="Calibri"/>
                        </a:rPr>
                        <a:t>known to the device model, not yet counted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r>
                        <a:rPr sz="1050" b="1">
                          <a:latin typeface="Calibri"/>
                        </a:rPr>
                        <a:t>Core identity, DVFS point</a:t>
                      </a:r>
                    </a:p>
                  </a:txBody>
                  <a:tcPr>
                    <a:solidFill>
                      <a:srgbClr val="EFF3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latin typeface="Calibri"/>
                        </a:rPr>
                        <a:t>QEMU has no frequency notion</a:t>
                      </a:r>
                    </a:p>
                  </a:txBody>
                  <a:tcPr>
                    <a:solidFill>
                      <a:srgbClr val="EFF3FA"/>
                    </a:solidFill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548640" y="4773168"/>
            <a:ext cx="110642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A53A0"/>
                </a:solidFill>
                <a:latin typeface="Calibri"/>
              </a:rPr>
              <a:t>WHY THE NUMBERS TRANSFER TO AN APP NOBODY HAS MEASURED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5065776"/>
            <a:ext cx="11064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202124"/>
                </a:solidFill>
                <a:latin typeface="Calibri"/>
              </a:rPr>
              <a:t>Corrections were fitted on 14 applications, then applied cold to 36 the model had never seen. They landed in the same bands. That is the whole licence.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5669280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87A33"/>
                </a:solidFill>
                <a:latin typeface="Calibri"/>
              </a:rPr>
              <a:t>THE HANDOFF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5943600"/>
            <a:ext cx="11064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87A33"/>
                </a:solidFill>
                <a:latin typeface="Calibri"/>
              </a:rPr>
              <a:t>afgen/afgen.sh my-apps.manifest afs/   →   one JSON per application: counts per run, provenance-tagged.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6327648"/>
            <a:ext cx="110642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F6368"/>
                </a:solidFill>
                <a:latin typeface="Calibri"/>
              </a:rPr>
              <a:t>Fifty apps in, fifty activity factors out. wattson supplies the counts; energy coefficients stay yours.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2021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18872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Recommendation — the gate-activity bridge  (superseded by the next three slides)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841248"/>
            <a:ext cx="12191695" cy="38100"/>
          </a:xfrm>
          <a:prstGeom prst="rect">
            <a:avLst/>
          </a:prstGeom>
          <a:solidFill>
            <a:srgbClr val="1A53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528816"/>
            <a:ext cx="9601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5F6368"/>
                </a:solidFill>
                <a:latin typeface="Calibri"/>
              </a:rPr>
              <a:t>wattson xcheck · QEMU counts DERIVED, PMU/DDR counts MEASURED · 2026-08-31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6528816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50" b="0">
                <a:solidFill>
                  <a:srgbClr val="5F6368"/>
                </a:solidFill>
                <a:latin typeface="Calibri"/>
              </a:rPr>
              <a:t>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042415"/>
            <a:ext cx="111556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>
                <a:solidFill>
                  <a:srgbClr val="202124"/>
                </a:solidFill>
                <a:latin typeface="Calibri"/>
              </a:rPr>
              <a:t>Your spreadsheet wants a GATE activity factor. QEMU measures UTILIZATION. The bridge is a number you already have.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48640" y="1572768"/>
          <a:ext cx="11064240" cy="168249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9235440"/>
              </a:tblGrid>
              <a:tr h="420624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term</a:t>
                      </a:r>
                    </a:p>
                  </a:txBody>
                  <a:tcPr>
                    <a:solidFill>
                      <a:srgbClr val="20212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meaning</a:t>
                      </a:r>
                    </a:p>
                  </a:txBody>
                  <a:tcPr>
                    <a:solidFill>
                      <a:srgbClr val="202124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r>
                        <a:rPr sz="1100" b="1">
                          <a:latin typeface="Calibri"/>
                        </a:rPr>
                        <a:t>your model</a:t>
                      </a:r>
                    </a:p>
                  </a:txBody>
                  <a:tcPr>
                    <a:solidFill>
                      <a:srgbClr val="EFF3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latin typeface="Calibri"/>
                        </a:rPr>
                        <a:t>fraction of gates toggling per clock: 0% / 3% / 5% / 7%. 5% = block maxed out. Assumed per block.</a:t>
                      </a:r>
                    </a:p>
                  </a:txBody>
                  <a:tcPr>
                    <a:solidFill>
                      <a:srgbClr val="EFF3FA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r>
                        <a:rPr sz="1100" b="1">
                          <a:latin typeface="Calibri"/>
                        </a:rPr>
                        <a:t>what we measure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latin typeface="Calibri"/>
                        </a:rPr>
                        <a:t>events actually executed: instructions, DRAM transactions, cache accesses. Per application.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r>
                        <a:rPr sz="1100" b="1">
                          <a:latin typeface="Calibri"/>
                        </a:rPr>
                        <a:t>the gap</a:t>
                      </a:r>
                    </a:p>
                  </a:txBody>
                  <a:tcPr>
                    <a:solidFill>
                      <a:srgbClr val="EFF3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latin typeface="Calibri"/>
                        </a:rPr>
                        <a:t>utilization is not gate toggling — but your 5% anchor already contains the gates-per-event constant.</a:t>
                      </a:r>
                    </a:p>
                  </a:txBody>
                  <a:tcPr>
                    <a:solidFill>
                      <a:srgbClr val="EFF3FA"/>
                    </a:solidFill>
                  </a:tcPr>
                </a:tc>
              </a:tr>
            </a:tbl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548640" y="3127248"/>
            <a:ext cx="11064240" cy="1051560"/>
          </a:xfrm>
          <a:prstGeom prst="roundRect">
            <a:avLst/>
          </a:prstGeom>
          <a:solidFill>
            <a:srgbClr val="EFF3FA"/>
          </a:solidFill>
          <a:ln w="19050">
            <a:solidFill>
              <a:srgbClr val="1A53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324612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1A53A0"/>
                </a:solidFill>
                <a:latin typeface="Consolas"/>
              </a:rPr>
              <a:t>AF_app   =   AF_idle  +  ( AF_max − AF_idle ) × U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3675887"/>
            <a:ext cx="10515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02124"/>
                </a:solidFill>
                <a:latin typeface="Calibri"/>
              </a:rPr>
              <a:t>AF_max = your existing 5% anchor.   U = measured activity ÷ the same block saturated, both from QEMU.   No gate counts needed: your anchor already holds that constant.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548640" y="4297680"/>
          <a:ext cx="1106424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7200"/>
                <a:gridCol w="3931920"/>
                <a:gridCol w="6675120"/>
              </a:tblGrid>
              <a:tr h="365760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#</a:t>
                      </a:r>
                    </a:p>
                  </a:txBody>
                  <a:tcPr>
                    <a:solidFill>
                      <a:srgbClr val="20212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step</a:t>
                      </a:r>
                    </a:p>
                  </a:txBody>
                  <a:tcPr>
                    <a:solidFill>
                      <a:srgbClr val="20212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what it means</a:t>
                      </a:r>
                    </a:p>
                  </a:txBody>
                  <a:tcPr>
                    <a:solidFill>
                      <a:srgbClr val="20212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00" b="0">
                          <a:latin typeface="Calibri"/>
                        </a:rPr>
                        <a:t>1</a:t>
                      </a:r>
                    </a:p>
                  </a:txBody>
                  <a:tcPr>
                    <a:solidFill>
                      <a:srgbClr val="EFF3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latin typeface="Calibri"/>
                        </a:rPr>
                        <a:t>Pick the saturating reference per block</a:t>
                      </a:r>
                    </a:p>
                  </a:txBody>
                  <a:tcPr>
                    <a:solidFill>
                      <a:srgbClr val="EFF3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latin typeface="Calibri"/>
                        </a:rPr>
                        <a:t>we ship the microbenches: alu saturates the pipeline, mem the memory system</a:t>
                      </a:r>
                    </a:p>
                  </a:txBody>
                  <a:tcPr>
                    <a:solidFill>
                      <a:srgbClr val="EFF3F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00" b="0">
                          <a:latin typeface="Calibri"/>
                        </a:rP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latin typeface="Calibri"/>
                        </a:rPr>
                        <a:t>Measure the application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latin typeface="Calibri"/>
                        </a:rPr>
                        <a:t>afgen gives counts; U = app activity ÷ saturating activity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00" b="0">
                          <a:latin typeface="Calibri"/>
                        </a:rPr>
                        <a:t>3</a:t>
                      </a:r>
                    </a:p>
                  </a:txBody>
                  <a:tcPr>
                    <a:solidFill>
                      <a:srgbClr val="EFF3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latin typeface="Calibri"/>
                        </a:rPr>
                        <a:t>Scale your existing anchor</a:t>
                      </a:r>
                    </a:p>
                  </a:txBody>
                  <a:tcPr>
                    <a:solidFill>
                      <a:srgbClr val="EFF3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latin typeface="Calibri"/>
                        </a:rPr>
                        <a:t>AF = 5% × U. Spreadsheet unchanged, physics unchanged, one guess replaced</a:t>
                      </a:r>
                    </a:p>
                  </a:txBody>
                  <a:tcPr>
                    <a:solidFill>
                      <a:srgbClr val="EFF3F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00" b="0">
                          <a:latin typeface="Calibri"/>
                        </a:rPr>
                        <a:t>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latin typeface="Calibri"/>
                        </a:rPr>
                        <a:t>Validate once on silicon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latin typeface="Calibri"/>
                        </a:rPr>
                        <a:t>two rail measurements — idle and saturated — confirm the anchor is linear in U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548640" y="6163056"/>
            <a:ext cx="110642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87A33"/>
                </a:solidFill>
                <a:latin typeface="Calibri"/>
              </a:rPr>
              <a:t>THE TURN-AROUND: today you assume 3% and get the power of an abstraction. Name an application instead — "what does Pac-Man cost?" — and get the power of that application.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2021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18872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The bridge, now measured — per-rail models from QEMU activity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841248"/>
            <a:ext cx="12191695" cy="38100"/>
          </a:xfrm>
          <a:prstGeom prst="rect">
            <a:avLst/>
          </a:prstGeom>
          <a:solidFill>
            <a:srgbClr val="1A53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528816"/>
            <a:ext cx="9601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5F6368"/>
                </a:solidFill>
                <a:latin typeface="Calibri"/>
              </a:rPr>
              <a:t>wattson xcheck · QEMU counts DERIVED, PMU/DDR counts MEASURED · 2026-08-31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6528816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50" b="0">
                <a:solidFill>
                  <a:srgbClr val="5F6368"/>
                </a:solidFill>
                <a:latin typeface="Calibri"/>
              </a:rPr>
              <a:t>4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042415"/>
            <a:ext cx="11064240" cy="603504"/>
          </a:xfrm>
          <a:prstGeom prst="rect">
            <a:avLst/>
          </a:prstGeom>
          <a:solidFill>
            <a:srgbClr val="0E5C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1133856"/>
            <a:ext cx="106070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Calibri"/>
              </a:rPr>
              <a:t>No longer a recommendation. Measured on i.MX 95 silicon, driven from QEMU counts.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1847088"/>
            <a:ext cx="11064240" cy="1417320"/>
          </a:xfrm>
          <a:prstGeom prst="roundRect">
            <a:avLst/>
          </a:prstGeom>
          <a:solidFill>
            <a:srgbClr val="EFF3FA"/>
          </a:solidFill>
          <a:ln w="19050">
            <a:solidFill>
              <a:srgbClr val="1A53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1956816"/>
            <a:ext cx="105156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1A53A0"/>
                </a:solidFill>
                <a:latin typeface="Consolas"/>
              </a:rPr>
              <a:t>vdd_soc  =  851.0  +  20.4 × GB/s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2340864"/>
            <a:ext cx="105156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1A53A0"/>
                </a:solidFill>
                <a:latin typeface="Consolas"/>
              </a:rPr>
              <a:t>vdd_arm  =  243.8  +  0.1266 × ALU Mops/s  +  60.6 × GB/s  +  169.3 × active_cores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2779776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02124"/>
                </a:solidFill>
                <a:latin typeface="Calibri"/>
              </a:rPr>
              <a:t>mW.  vdd_soc holds at BOTH 900 and 1800 MHz unchanged.  vdd_arm is 1800 MHz; it scales 2.21× per 2× clock.</a:t>
            </a:r>
          </a:p>
        </p:txBody>
      </p:sp>
      <p:graphicFrame>
        <p:nvGraphicFramePr>
          <p:cNvPr id="13" name="Table 12"/>
          <p:cNvGraphicFramePr>
            <a:graphicFrameLocks noGrp="1"/>
          </p:cNvGraphicFramePr>
          <p:nvPr/>
        </p:nvGraphicFramePr>
        <p:xfrm>
          <a:off x="548640" y="3438144"/>
          <a:ext cx="11064240" cy="15361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37360"/>
                <a:gridCol w="2194560"/>
                <a:gridCol w="3566160"/>
                <a:gridCol w="3566160"/>
              </a:tblGrid>
              <a:tr h="384048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rail</a:t>
                      </a:r>
                    </a:p>
                  </a:txBody>
                  <a:tcPr>
                    <a:solidFill>
                      <a:srgbClr val="20212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accuracy</a:t>
                      </a:r>
                    </a:p>
                  </a:txBody>
                  <a:tcPr>
                    <a:solidFill>
                      <a:srgbClr val="20212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scope</a:t>
                      </a:r>
                    </a:p>
                  </a:txBody>
                  <a:tcPr>
                    <a:solidFill>
                      <a:srgbClr val="20212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what it needs</a:t>
                      </a:r>
                    </a:p>
                  </a:txBody>
                  <a:tcPr>
                    <a:solidFill>
                      <a:srgbClr val="202124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050" b="1">
                          <a:latin typeface="Calibri"/>
                        </a:rPr>
                        <a:t>vdd_soc</a:t>
                      </a:r>
                    </a:p>
                  </a:txBody>
                  <a:tcPr>
                    <a:solidFill>
                      <a:srgbClr val="EFF3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latin typeface="Calibri"/>
                        </a:rPr>
                        <a:t>2.5 – 7 %</a:t>
                      </a:r>
                    </a:p>
                  </a:txBody>
                  <a:tcPr>
                    <a:solidFill>
                      <a:srgbClr val="EFF3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latin typeface="Calibri"/>
                        </a:rPr>
                        <a:t>both OPPs, transfers unchanged</a:t>
                      </a:r>
                    </a:p>
                  </a:txBody>
                  <a:tcPr>
                    <a:solidFill>
                      <a:srgbClr val="EFF3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latin typeface="Calibri"/>
                        </a:rPr>
                        <a:t>bandwidth only — no clock term needed</a:t>
                      </a:r>
                    </a:p>
                  </a:txBody>
                  <a:tcPr>
                    <a:solidFill>
                      <a:srgbClr val="EFF3F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050" b="1">
                          <a:latin typeface="Calibri"/>
                        </a:rPr>
                        <a:t>vdd_arm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latin typeface="Calibri"/>
                        </a:rPr>
                        <a:t>4 – 5 %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latin typeface="Calibri"/>
                        </a:rPr>
                        <a:t>1800 MHz, out-of-sample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latin typeface="Calibri"/>
                        </a:rPr>
                        <a:t>needs ALU rate, bandwidth AND active cores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050" b="1">
                          <a:latin typeface="Calibri"/>
                        </a:rPr>
                        <a:t>AF_idle</a:t>
                      </a:r>
                    </a:p>
                  </a:txBody>
                  <a:tcPr>
                    <a:solidFill>
                      <a:srgbClr val="EFF3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latin typeface="Calibri"/>
                        </a:rPr>
                        <a:t>n = 5, spread ≤1.7 %</a:t>
                      </a:r>
                    </a:p>
                  </a:txBody>
                  <a:tcPr>
                    <a:solidFill>
                      <a:srgbClr val="EFF3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latin typeface="Calibri"/>
                        </a:rPr>
                        <a:t>1139.5 mW total</a:t>
                      </a:r>
                    </a:p>
                  </a:txBody>
                  <a:tcPr>
                    <a:solidFill>
                      <a:srgbClr val="EFF3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latin typeface="Calibri"/>
                        </a:rPr>
                        <a:t>vdd_soc 822.6 · vdd_arm 144.6</a:t>
                      </a:r>
                    </a:p>
                  </a:txBody>
                  <a:tcPr>
                    <a:solidFill>
                      <a:srgbClr val="EFF3FA"/>
                    </a:solidFill>
                  </a:tcPr>
                </a:tc>
              </a:tr>
            </a:tbl>
          </a:graphicData>
        </a:graphic>
      </p:graphicFrame>
      <p:sp>
        <p:nvSpPr>
          <p:cNvPr id="14" name="TextBox 13"/>
          <p:cNvSpPr txBox="1"/>
          <p:nvPr/>
        </p:nvSpPr>
        <p:spPr>
          <a:xfrm>
            <a:off x="548640" y="4956048"/>
            <a:ext cx="110642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87A33"/>
                </a:solidFill>
                <a:latin typeface="Calibri"/>
              </a:rPr>
              <a:t>Driven by QEMU's counters, not the board's: QEMU-fed and PMU-fed predictions agree to 0.1 % (644.1 vs 644.9 mW). QEMU supplies activity; the board supplies time.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5376672"/>
            <a:ext cx="110642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F6368"/>
                </a:solidFill>
                <a:latin typeface="Calibri"/>
              </a:rPr>
              <a:t>Published per-rail models land at single-digit error; under 3 % on unseen workloads is a reason to distrust your own validation set. These are inside that band.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2021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18872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The finding that changes the activity factor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841248"/>
            <a:ext cx="12191695" cy="38100"/>
          </a:xfrm>
          <a:prstGeom prst="rect">
            <a:avLst/>
          </a:prstGeom>
          <a:solidFill>
            <a:srgbClr val="1A53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528816"/>
            <a:ext cx="9601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5F6368"/>
                </a:solidFill>
                <a:latin typeface="Calibri"/>
              </a:rPr>
              <a:t>wattson xcheck · QEMU counts DERIVED, PMU/DDR counts MEASURED · 2026-08-31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6528816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50" b="0">
                <a:solidFill>
                  <a:srgbClr val="5F6368"/>
                </a:solidFill>
                <a:latin typeface="Calibri"/>
              </a:rPr>
              <a:t>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042415"/>
            <a:ext cx="111556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202124"/>
                </a:solidFill>
                <a:latin typeface="Calibri"/>
              </a:rPr>
              <a:t>We expected instruction count to drive core power. It does not.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517904"/>
            <a:ext cx="11064240" cy="1188720"/>
          </a:xfrm>
          <a:prstGeom prst="roundRect">
            <a:avLst/>
          </a:prstGeom>
          <a:solidFill>
            <a:srgbClr val="EFF3FA"/>
          </a:solidFill>
          <a:ln w="19050">
            <a:solidFill>
              <a:srgbClr val="B030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164592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>
                <a:solidFill>
                  <a:srgbClr val="B03020"/>
                </a:solidFill>
                <a:latin typeface="Consolas"/>
              </a:rPr>
              <a:t>instructions alone:  R² = 0.031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2048256"/>
            <a:ext cx="105156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A53A0"/>
                </a:solidFill>
                <a:latin typeface="Consolas"/>
              </a:rPr>
              <a:t>bandwidth alone:     R² = 0.784        both together:  R² = 0.990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2395728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202124"/>
                </a:solidFill>
                <a:latin typeface="Calibri"/>
              </a:rPr>
              <a:t>Instruction count explains 3 % of core-rail power on this part.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548640" y="2889504"/>
          <a:ext cx="11064240" cy="2377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3120"/>
                <a:gridCol w="8961120"/>
              </a:tblGrid>
              <a:tr h="475488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aspect</a:t>
                      </a:r>
                    </a:p>
                  </a:txBody>
                  <a:tcPr>
                    <a:solidFill>
                      <a:srgbClr val="20212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detail</a:t>
                      </a:r>
                    </a:p>
                  </a:txBody>
                  <a:tcPr>
                    <a:solidFill>
                      <a:srgbClr val="202124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r>
                        <a:rPr sz="1050" b="1">
                          <a:latin typeface="Calibri"/>
                        </a:rPr>
                        <a:t>the observation</a:t>
                      </a:r>
                    </a:p>
                  </a:txBody>
                  <a:tcPr>
                    <a:solidFill>
                      <a:srgbClr val="EFF3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latin typeface="Calibri"/>
                        </a:rPr>
                        <a:t>a memory-stalling workload drew 1.6× the core power of a compute workload retiring MORE instructions</a:t>
                      </a:r>
                    </a:p>
                  </a:txBody>
                  <a:tcPr>
                    <a:solidFill>
                      <a:srgbClr val="EFF3FA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r>
                        <a:rPr sz="1050" b="1">
                          <a:latin typeface="Calibri"/>
                        </a:rPr>
                        <a:t>why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latin typeface="Calibri"/>
                        </a:rPr>
                        <a:t>a stalled core still burns clock trees, speculation, replayed loads, prefetchers and the L2/bus interface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r>
                        <a:rPr sz="1050" b="1">
                          <a:latin typeface="Calibri"/>
                        </a:rPr>
                        <a:t>independent check</a:t>
                      </a:r>
                    </a:p>
                  </a:txBody>
                  <a:tcPr>
                    <a:solidFill>
                      <a:srgbClr val="EFF3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latin typeface="Calibri"/>
                        </a:rPr>
                        <a:t>Walker et al. (TCAD 2017) regressed PMCs against ODROID-XU3 per-cluster rails: retired instruction count is NOT in their model either, and their memory workloads top the cluster rail</a:t>
                      </a:r>
                    </a:p>
                  </a:txBody>
                  <a:tcPr>
                    <a:solidFill>
                      <a:srgbClr val="EFF3FA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r>
                        <a:rPr sz="1050" b="1">
                          <a:latin typeface="Calibri"/>
                        </a:rPr>
                        <a:t>consequence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latin typeface="Calibri"/>
                        </a:rPr>
                        <a:t>an AF built on instruction count alone MIS-RANKS exactly the workloads that matter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548640" y="5120640"/>
            <a:ext cx="110642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87A33"/>
                </a:solidFill>
                <a:latin typeface="Calibri"/>
              </a:rPr>
              <a:t>Active cores matter independently of throughput: 598 Mops/s across two cores drew 656 mW; 599 Mops/s on ONE core drew 465 mW. Same work, 40 % less power.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2021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18872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Does QEMU's activity match the silicon's own counters?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841248"/>
            <a:ext cx="12191695" cy="38100"/>
          </a:xfrm>
          <a:prstGeom prst="rect">
            <a:avLst/>
          </a:prstGeom>
          <a:solidFill>
            <a:srgbClr val="1A53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528816"/>
            <a:ext cx="9601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5F6368"/>
                </a:solidFill>
                <a:latin typeface="Calibri"/>
              </a:rPr>
              <a:t>wattson xcheck · QEMU counts DERIVED, PMU/DDR counts MEASURED · 2026-08-31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6528816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50" b="0">
                <a:solidFill>
                  <a:srgbClr val="5F6368"/>
                </a:solidFill>
                <a:latin typeface="Calibri"/>
              </a:rPr>
              <a:t>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042415"/>
            <a:ext cx="111556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>
                <a:solidFill>
                  <a:srgbClr val="202124"/>
                </a:solidFill>
                <a:latin typeface="Calibri"/>
              </a:rPr>
              <a:t>Same deterministic static binary, run under perf on the EVK and under qemu-aarch64 with TCG plugins.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48640" y="1572768"/>
          <a:ext cx="11064240" cy="201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00400"/>
                <a:gridCol w="2377440"/>
                <a:gridCol w="2377440"/>
                <a:gridCol w="1371600"/>
                <a:gridCol w="1737360"/>
              </a:tblGrid>
              <a:tr h="402336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counter</a:t>
                      </a:r>
                    </a:p>
                  </a:txBody>
                  <a:tcPr>
                    <a:solidFill>
                      <a:srgbClr val="20212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silicon PMU</a:t>
                      </a:r>
                    </a:p>
                  </a:txBody>
                  <a:tcPr>
                    <a:solidFill>
                      <a:srgbClr val="20212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QEMU</a:t>
                      </a:r>
                    </a:p>
                  </a:txBody>
                  <a:tcPr>
                    <a:solidFill>
                      <a:srgbClr val="20212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Δ</a:t>
                      </a:r>
                    </a:p>
                  </a:txBody>
                  <a:tcPr>
                    <a:solidFill>
                      <a:srgbClr val="20212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note</a:t>
                      </a:r>
                    </a:p>
                  </a:txBody>
                  <a:tcPr>
                    <a:solidFill>
                      <a:srgbClr val="202124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r>
                        <a:rPr sz="1000" b="1">
                          <a:latin typeface="Calibri"/>
                        </a:rPr>
                        <a:t>instructions retired</a:t>
                      </a:r>
                    </a:p>
                  </a:txBody>
                  <a:tcPr>
                    <a:solidFill>
                      <a:srgbClr val="EFF3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latin typeface="Calibri"/>
                        </a:rPr>
                        <a:t>1,201,601,070</a:t>
                      </a:r>
                    </a:p>
                  </a:txBody>
                  <a:tcPr>
                    <a:solidFill>
                      <a:srgbClr val="EFF3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latin typeface="Calibri"/>
                        </a:rPr>
                        <a:t>1,200,039,789</a:t>
                      </a:r>
                    </a:p>
                  </a:txBody>
                  <a:tcPr>
                    <a:solidFill>
                      <a:srgbClr val="EFF3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latin typeface="Calibri"/>
                        </a:rPr>
                        <a:t>0.1 %</a:t>
                      </a:r>
                    </a:p>
                  </a:txBody>
                  <a:tcPr>
                    <a:solidFill>
                      <a:srgbClr val="EFF3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latin typeface="Calibri"/>
                        </a:rPr>
                        <a:t>essentially exact</a:t>
                      </a:r>
                    </a:p>
                  </a:txBody>
                  <a:tcPr>
                    <a:solidFill>
                      <a:srgbClr val="EFF3FA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r>
                        <a:rPr sz="1000" b="1">
                          <a:latin typeface="Calibri"/>
                        </a:rPr>
                        <a:t>instructions (memory workload)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latin typeface="Calibri"/>
                        </a:rPr>
                        <a:t>213,267,051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latin typeface="Calibri"/>
                        </a:rPr>
                        <a:t>205,561,916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latin typeface="Calibri"/>
                        </a:rPr>
                        <a:t>3.6 %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latin typeface="Calibri"/>
                        </a:rPr>
                        <a:t>exact enough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r>
                        <a:rPr sz="1000" b="1">
                          <a:latin typeface="Calibri"/>
                        </a:rPr>
                        <a:t>cache misses, steady state</a:t>
                      </a:r>
                    </a:p>
                  </a:txBody>
                  <a:tcPr>
                    <a:solidFill>
                      <a:srgbClr val="EFF3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latin typeface="Calibri"/>
                        </a:rPr>
                        <a:t>4,283,525</a:t>
                      </a:r>
                    </a:p>
                  </a:txBody>
                  <a:tcPr>
                    <a:solidFill>
                      <a:srgbClr val="EFF3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latin typeface="Calibri"/>
                        </a:rPr>
                        <a:t>4,194,709</a:t>
                      </a:r>
                    </a:p>
                  </a:txBody>
                  <a:tcPr>
                    <a:solidFill>
                      <a:srgbClr val="EFF3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latin typeface="Calibri"/>
                        </a:rPr>
                        <a:t>0.01 %</a:t>
                      </a:r>
                    </a:p>
                  </a:txBody>
                  <a:tcPr>
                    <a:solidFill>
                      <a:srgbClr val="EFF3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latin typeface="Calibri"/>
                        </a:rPr>
                        <a:t>after write streaming</a:t>
                      </a:r>
                    </a:p>
                  </a:txBody>
                  <a:tcPr>
                    <a:solidFill>
                      <a:srgbClr val="EFF3FA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r>
                        <a:rPr sz="1000" b="1">
                          <a:latin typeface="Calibri"/>
                        </a:rPr>
                        <a:t>cache misses, incl. buffer init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latin typeface="Calibri"/>
                        </a:rPr>
                        <a:t>4,283,525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latin typeface="Calibri"/>
                        </a:rPr>
                        <a:t>5,243,303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latin typeface="Calibri"/>
                        </a:rPr>
                        <a:t>+22 %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latin typeface="Calibri"/>
                        </a:rPr>
                        <a:t>un-modelled write streaming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548640" y="3529584"/>
            <a:ext cx="110642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202124"/>
                </a:solidFill>
                <a:latin typeface="Calibri"/>
              </a:rPr>
              <a:t>The +22 % is not a bias. It is exactly one pass over the buffer (1,048,576 lines = 64 MiB / 64 B), CONSTANT to 6 counts while the workload quadruples.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3913632"/>
            <a:ext cx="110642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202124"/>
                </a:solidFill>
                <a:latin typeface="Calibri"/>
              </a:rPr>
              <a:t>The A55 detects full-cache-line writes and uses WRITE STREAMING, skipping the read-for-ownership. QEMU's cache plugin has no such notion, so it counts allocations the hardware never makes.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548640" y="4443984"/>
          <a:ext cx="11064240" cy="1920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3120"/>
                <a:gridCol w="8961120"/>
              </a:tblGrid>
              <a:tr h="384048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aspect</a:t>
                      </a:r>
                    </a:p>
                  </a:txBody>
                  <a:tcPr>
                    <a:solidFill>
                      <a:srgbClr val="20212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detail</a:t>
                      </a:r>
                    </a:p>
                  </a:txBody>
                  <a:tcPr>
                    <a:solidFill>
                      <a:srgbClr val="202124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050" b="1">
                          <a:latin typeface="Calibri"/>
                        </a:rPr>
                        <a:t>known sign</a:t>
                      </a:r>
                    </a:p>
                  </a:txBody>
                  <a:tcPr>
                    <a:solidFill>
                      <a:srgbClr val="EFF3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latin typeface="Calibri"/>
                        </a:rPr>
                        <a:t>QEMU always over-counts; a ceiling, not a mystery</a:t>
                      </a:r>
                    </a:p>
                  </a:txBody>
                  <a:tcPr>
                    <a:solidFill>
                      <a:srgbClr val="EFF3F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050" b="1">
                          <a:latin typeface="Calibri"/>
                        </a:rPr>
                        <a:t>scope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latin typeface="Calibri"/>
                        </a:rPr>
                        <a:t>affects full-line write patterns: memset, memcpy, page zeroing, buffer init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050" b="1">
                          <a:latin typeface="Calibri"/>
                        </a:rPr>
                        <a:t>today's fits</a:t>
                      </a:r>
                    </a:p>
                  </a:txBody>
                  <a:tcPr>
                    <a:solidFill>
                      <a:srgbClr val="EFF3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latin typeface="Calibri"/>
                        </a:rPr>
                        <a:t>unaffected — the measured workloads are steady-state streaming</a:t>
                      </a:r>
                    </a:p>
                  </a:txBody>
                  <a:tcPr>
                    <a:solidFill>
                      <a:srgbClr val="EFF3F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050" b="1">
                          <a:latin typeface="Calibri"/>
                        </a:rPr>
                        <a:t>fixable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latin typeface="Calibri"/>
                        </a:rPr>
                        <a:t>full-line writes are detectable in the plugin; a legitimate upstream contribution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548640" y="6163056"/>
            <a:ext cx="110642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87A33"/>
                </a:solidFill>
                <a:latin typeface="Calibri"/>
              </a:rPr>
              <a:t>So the emulator half is sound: instruction counts exact, miss counts exact in steady state, and one identified gap with a known sign.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2021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18872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Three levels of detail — all available today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841248"/>
            <a:ext cx="12191695" cy="38100"/>
          </a:xfrm>
          <a:prstGeom prst="rect">
            <a:avLst/>
          </a:prstGeom>
          <a:solidFill>
            <a:srgbClr val="1A53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528816"/>
            <a:ext cx="9601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5F6368"/>
                </a:solidFill>
                <a:latin typeface="Calibri"/>
              </a:rPr>
              <a:t>wattson xcheck · QEMU counts DERIVED, PMU/DDR counts MEASURED · 2026-08-31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6528816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50" b="0">
                <a:solidFill>
                  <a:srgbClr val="5F6368"/>
                </a:solidFill>
                <a:latin typeface="Calibri"/>
              </a:rPr>
              <a:t>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060704"/>
            <a:ext cx="111556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202124"/>
                </a:solidFill>
                <a:latin typeface="Calibri"/>
              </a:rPr>
              <a:t>Aggregate counts are the cheapest. A per-class histogram or a full instruction trace costs only run time.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48640" y="1481328"/>
          <a:ext cx="11064240" cy="190195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51760"/>
                <a:gridCol w="4572000"/>
                <a:gridCol w="1828800"/>
                <a:gridCol w="2011680"/>
              </a:tblGrid>
              <a:tr h="475488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what you get</a:t>
                      </a:r>
                    </a:p>
                  </a:txBody>
                  <a:tcPr>
                    <a:solidFill>
                      <a:srgbClr val="20212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content</a:t>
                      </a:r>
                    </a:p>
                  </a:txBody>
                  <a:tcPr>
                    <a:solidFill>
                      <a:srgbClr val="20212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what it buys you</a:t>
                      </a:r>
                    </a:p>
                  </a:txBody>
                  <a:tcPr>
                    <a:solidFill>
                      <a:srgbClr val="20212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status</a:t>
                      </a:r>
                    </a:p>
                  </a:txBody>
                  <a:tcPr>
                    <a:solidFill>
                      <a:srgbClr val="202124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r>
                        <a:rPr sz="1050" b="1">
                          <a:latin typeface="Calibri"/>
                        </a:rPr>
                        <a:t>1 · counts per run</a:t>
                      </a:r>
                    </a:p>
                  </a:txBody>
                  <a:tcPr>
                    <a:solidFill>
                      <a:srgbClr val="EFF3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latin typeface="Calibri"/>
                        </a:rPr>
                        <a:t>instructions, DRAM reads/writes, cache accesses per level</a:t>
                      </a:r>
                    </a:p>
                  </a:txBody>
                  <a:tcPr>
                    <a:solidFill>
                      <a:srgbClr val="EFF3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latin typeface="Calibri"/>
                        </a:rPr>
                        <a:t>one AF per block</a:t>
                      </a:r>
                    </a:p>
                  </a:txBody>
                  <a:tcPr>
                    <a:solidFill>
                      <a:srgbClr val="EFF3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latin typeface="Calibri"/>
                        </a:rPr>
                        <a:t>validated in this deck</a:t>
                      </a:r>
                    </a:p>
                  </a:txBody>
                  <a:tcPr>
                    <a:solidFill>
                      <a:srgbClr val="EFF3FA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r>
                        <a:rPr sz="1050" b="1">
                          <a:latin typeface="Calibri"/>
                        </a:rPr>
                        <a:t>2 · instruction-class histogram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latin typeface="Calibri"/>
                        </a:rPr>
                        <a:t>integer / load-store / branch / FP-SIMD / system split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latin typeface="Calibri"/>
                        </a:rPr>
                        <a:t>per-class AF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latin typeface="Calibri"/>
                        </a:rPr>
                        <a:t>upstream plugin, no new work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r>
                        <a:rPr sz="1050" b="1">
                          <a:latin typeface="Calibri"/>
                        </a:rPr>
                        <a:t>3 · full instruction trace</a:t>
                      </a:r>
                    </a:p>
                  </a:txBody>
                  <a:tcPr>
                    <a:solidFill>
                      <a:srgbClr val="EFF3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latin typeface="Calibri"/>
                        </a:rPr>
                        <a:t>every instruction in order, with its memory accesses</a:t>
                      </a:r>
                    </a:p>
                  </a:txBody>
                  <a:tcPr>
                    <a:solidFill>
                      <a:srgbClr val="EFF3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latin typeface="Calibri"/>
                        </a:rPr>
                        <a:t>AF as a time series</a:t>
                      </a:r>
                    </a:p>
                  </a:txBody>
                  <a:tcPr>
                    <a:solidFill>
                      <a:srgbClr val="EFF3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latin typeface="Calibri"/>
                        </a:rPr>
                        <a:t>upstream plugin, large output</a:t>
                      </a:r>
                    </a:p>
                  </a:txBody>
                  <a:tcPr>
                    <a:solidFill>
                      <a:srgbClr val="EFF3FA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548640" y="3474720"/>
            <a:ext cx="110642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A53A0"/>
                </a:solidFill>
                <a:latin typeface="Calibri"/>
              </a:rPr>
              <a:t>WHY LEVEL 2 MATTERS — MEASURED, TWO REAL APPLICATIONS ON THE SAME CORE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548640" y="3767328"/>
          <a:ext cx="6035040" cy="23042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7440"/>
                <a:gridCol w="1828800"/>
                <a:gridCol w="1828800"/>
              </a:tblGrid>
              <a:tr h="384048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instruction class</a:t>
                      </a:r>
                    </a:p>
                  </a:txBody>
                  <a:tcPr>
                    <a:solidFill>
                      <a:srgbClr val="20212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SQLite</a:t>
                      </a:r>
                    </a:p>
                  </a:txBody>
                  <a:tcPr>
                    <a:solidFill>
                      <a:srgbClr val="20212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Pac-Man</a:t>
                      </a:r>
                    </a:p>
                  </a:txBody>
                  <a:tcPr>
                    <a:solidFill>
                      <a:srgbClr val="202124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050" b="1">
                          <a:latin typeface="Calibri"/>
                        </a:rPr>
                        <a:t>integer ALU</a:t>
                      </a:r>
                    </a:p>
                  </a:txBody>
                  <a:tcPr>
                    <a:solidFill>
                      <a:srgbClr val="EFF3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latin typeface="Calibri"/>
                        </a:rPr>
                        <a:t>28.1%</a:t>
                      </a:r>
                    </a:p>
                  </a:txBody>
                  <a:tcPr>
                    <a:solidFill>
                      <a:srgbClr val="EFF3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latin typeface="Calibri"/>
                        </a:rPr>
                        <a:t>36.9%</a:t>
                      </a:r>
                    </a:p>
                  </a:txBody>
                  <a:tcPr>
                    <a:solidFill>
                      <a:srgbClr val="EFF3F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050" b="1">
                          <a:latin typeface="Calibri"/>
                        </a:rPr>
                        <a:t>load / store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latin typeface="Calibri"/>
                        </a:rPr>
                        <a:t>52.2%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latin typeface="Calibri"/>
                        </a:rPr>
                        <a:t>41.9%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050" b="1">
                          <a:latin typeface="Calibri"/>
                        </a:rPr>
                        <a:t>branch</a:t>
                      </a:r>
                    </a:p>
                  </a:txBody>
                  <a:tcPr>
                    <a:solidFill>
                      <a:srgbClr val="EFF3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latin typeface="Calibri"/>
                        </a:rPr>
                        <a:t>19.7%</a:t>
                      </a:r>
                    </a:p>
                  </a:txBody>
                  <a:tcPr>
                    <a:solidFill>
                      <a:srgbClr val="EFF3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latin typeface="Calibri"/>
                        </a:rPr>
                        <a:t>19.9%</a:t>
                      </a:r>
                    </a:p>
                  </a:txBody>
                  <a:tcPr>
                    <a:solidFill>
                      <a:srgbClr val="EFF3F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050" b="1">
                          <a:latin typeface="Calibri"/>
                        </a:rPr>
                        <a:t>FP / SIMD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latin typeface="Calibri"/>
                        </a:rPr>
                        <a:t>0.1%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latin typeface="Calibri"/>
                        </a:rPr>
                        <a:t>1.3%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050" b="1">
                          <a:latin typeface="Calibri"/>
                        </a:rPr>
                        <a:t>total instructions</a:t>
                      </a:r>
                    </a:p>
                  </a:txBody>
                  <a:tcPr>
                    <a:solidFill>
                      <a:srgbClr val="EFF3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latin typeface="Calibri"/>
                        </a:rPr>
                        <a:t>2.57 B</a:t>
                      </a:r>
                    </a:p>
                  </a:txBody>
                  <a:tcPr>
                    <a:solidFill>
                      <a:srgbClr val="EFF3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latin typeface="Calibri"/>
                        </a:rPr>
                        <a:t>25.7 B</a:t>
                      </a:r>
                    </a:p>
                  </a:txBody>
                  <a:tcPr>
                    <a:solidFill>
                      <a:srgbClr val="EFF3FA"/>
                    </a:solidFill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6858000" y="3767328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202124"/>
                </a:solidFill>
                <a:latin typeface="Calibri"/>
              </a:rPr>
              <a:t>Same CPU block. Same flat 5% anchor would give both the same answer.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0" y="4261104"/>
            <a:ext cx="47548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202124"/>
                </a:solidFill>
                <a:latin typeface="Calibri"/>
              </a:rPr>
              <a:t>SQLite spends over half its instructions in load/store; Pac-Man is a third more ALU-heavy and toggles 13× the FP/SIMD share. Those light up different gates. A per-class AF separates them; a single AF cannot.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6126480"/>
            <a:ext cx="11064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5F6368"/>
                </a:solidFill>
                <a:latin typeface="Calibri"/>
              </a:rPr>
              <a:t>Levels 2 and 3 are stock upstream QEMU plugins (howvec, execlog) — the numbers above were produced with them, unmodified, this evening. Nothing new has to be written to supply either.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2021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18872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The numbers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841248"/>
            <a:ext cx="12191695" cy="38100"/>
          </a:xfrm>
          <a:prstGeom prst="rect">
            <a:avLst/>
          </a:prstGeom>
          <a:solidFill>
            <a:srgbClr val="1A53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528816"/>
            <a:ext cx="9601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5F6368"/>
                </a:solidFill>
                <a:latin typeface="Calibri"/>
              </a:rPr>
              <a:t>wattson xcheck · QEMU counts DERIVED, PMU/DDR counts MEASURED · 2026-08-31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6528816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50" b="0">
                <a:solidFill>
                  <a:srgbClr val="5F6368"/>
                </a:solidFill>
                <a:latin typeface="Calibri"/>
              </a:rPr>
              <a:t>8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8640" y="1170432"/>
          <a:ext cx="11064240" cy="4526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7440"/>
                <a:gridCol w="6400800"/>
                <a:gridCol w="2286000"/>
              </a:tblGrid>
              <a:tr h="50292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quantity</a:t>
                      </a:r>
                    </a:p>
                  </a:txBody>
                  <a:tcPr>
                    <a:solidFill>
                      <a:srgbClr val="20212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result</a:t>
                      </a:r>
                    </a:p>
                  </a:txBody>
                  <a:tcPr>
                    <a:solidFill>
                      <a:srgbClr val="20212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apply</a:t>
                      </a:r>
                    </a:p>
                  </a:txBody>
                  <a:tcPr>
                    <a:solidFill>
                      <a:srgbClr val="202124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100" b="1">
                          <a:latin typeface="Calibri"/>
                        </a:rPr>
                        <a:t>Generalization</a:t>
                      </a:r>
                    </a:p>
                  </a:txBody>
                  <a:tcPr>
                    <a:solidFill>
                      <a:srgbClr val="EFF3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latin typeface="Calibri"/>
                        </a:rPr>
                        <a:t>fitted on 14 apps, held on 36 unseen: insns 0.979 ×/÷1.04, reads same ×/÷1.21 spread</a:t>
                      </a:r>
                    </a:p>
                  </a:txBody>
                  <a:tcPr>
                    <a:solidFill>
                      <a:srgbClr val="EFF3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87A33"/>
                          </a:solidFill>
                          <a:latin typeface="Calibri"/>
                        </a:rPr>
                        <a:t>VALIDATED</a:t>
                      </a:r>
                    </a:p>
                  </a:txBody>
                  <a:tcPr>
                    <a:solidFill>
                      <a:srgbClr val="EFF3FA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100" b="1">
                          <a:latin typeface="Calibri"/>
                        </a:rPr>
                        <a:t>Instructions, per core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latin typeface="Calibri"/>
                        </a:rPr>
                        <a:t>0.98 – 1.06 across all 14; 0.997 on a 10.2 B-instruction vision app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87A33"/>
                          </a:solidFill>
                          <a:latin typeface="Calibri"/>
                        </a:rPr>
                        <a:t>USE AS-IS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100" b="1">
                          <a:latin typeface="Calibri"/>
                        </a:rPr>
                        <a:t>DRAM reads</a:t>
                      </a:r>
                    </a:p>
                  </a:txBody>
                  <a:tcPr>
                    <a:solidFill>
                      <a:srgbClr val="EFF3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latin typeface="Calibri"/>
                        </a:rPr>
                        <a:t>0.98 × silicon, ×/÷1.14 fitted (was 0.81 ×/÷1.26 before the prefetch model)</a:t>
                      </a:r>
                    </a:p>
                  </a:txBody>
                  <a:tcPr>
                    <a:solidFill>
                      <a:srgbClr val="EFF3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53A0"/>
                          </a:solidFill>
                          <a:latin typeface="Calibri"/>
                        </a:rPr>
                        <a:t>×1.02</a:t>
                      </a:r>
                    </a:p>
                  </a:txBody>
                  <a:tcPr>
                    <a:solidFill>
                      <a:srgbClr val="EFF3FA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100" b="1">
                          <a:latin typeface="Calibri"/>
                        </a:rPr>
                        <a:t>DRAM writes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latin typeface="Calibri"/>
                        </a:rPr>
                        <a:t>0.90 × silicon, ×/÷1.09 fitted; 0.83 ×/÷1.28 held out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53A0"/>
                          </a:solidFill>
                          <a:latin typeface="Calibri"/>
                        </a:rPr>
                        <a:t>×1.11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100" b="1">
                          <a:latin typeface="Calibri"/>
                        </a:rPr>
                        <a:t>DRAM-quiet screening</a:t>
                      </a:r>
                    </a:p>
                  </a:txBody>
                  <a:tcPr>
                    <a:solidFill>
                      <a:srgbClr val="EFF3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latin typeface="Calibri"/>
                        </a:rPr>
                        <a:t>6 low-traffic apps predicted quiet; silicon agrees</a:t>
                      </a:r>
                    </a:p>
                  </a:txBody>
                  <a:tcPr>
                    <a:solidFill>
                      <a:srgbClr val="EFF3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87A33"/>
                          </a:solidFill>
                          <a:latin typeface="Calibri"/>
                        </a:rPr>
                        <a:t>VALIDATED</a:t>
                      </a:r>
                    </a:p>
                  </a:txBody>
                  <a:tcPr>
                    <a:solidFill>
                      <a:srgbClr val="EFF3FA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100" b="1">
                          <a:latin typeface="Calibri"/>
                        </a:rPr>
                        <a:t>Kernel share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latin typeface="Calibri"/>
                        </a:rPr>
                        <a:t>system-mode boot-differential: sha256 10.0%, networking 16.7%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87A33"/>
                          </a:solidFill>
                          <a:latin typeface="Calibri"/>
                        </a:rPr>
                        <a:t>MEASURED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100" b="1">
                          <a:latin typeface="Calibri"/>
                        </a:rPr>
                        <a:t>Multi-core</a:t>
                      </a:r>
                    </a:p>
                  </a:txBody>
                  <a:tcPr>
                    <a:solidFill>
                      <a:srgbClr val="EFF3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latin typeface="Calibri"/>
                        </a:rPr>
                        <a:t>DRAM ratios thread-invariant 1–6T; +23% instruction outlier was OpenMP spin</a:t>
                      </a:r>
                    </a:p>
                  </a:txBody>
                  <a:tcPr>
                    <a:solidFill>
                      <a:srgbClr val="EFF3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87A33"/>
                          </a:solidFill>
                          <a:latin typeface="Calibri"/>
                        </a:rPr>
                        <a:t>USE</a:t>
                      </a:r>
                    </a:p>
                  </a:txBody>
                  <a:tcPr>
                    <a:solidFill>
                      <a:srgbClr val="EFF3FA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100" b="1">
                          <a:latin typeface="Calibri"/>
                        </a:rPr>
                        <a:t>DMA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latin typeface="Calibri"/>
                        </a:rPr>
                        <a:t>device-model writes bypass TCG; payload bytes known exactly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B06000"/>
                          </a:solidFill>
                          <a:latin typeface="Calibri"/>
                        </a:rPr>
                        <a:t>GAP, NAMED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48640" y="5943600"/>
            <a:ext cx="11064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5F6368"/>
                </a:solidFill>
                <a:latin typeface="Calibri"/>
              </a:rPr>
              <a:t>Two instrument findings: the A55 PMU's l3d_cache_refill counts DEMAND refills only — prefetched lines bypass it, so ground truth belongs at the DDR controller. A55 write-streaming is a 2.0× error if unmodelled.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2021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18872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Method — one binary, two observatories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841248"/>
            <a:ext cx="12191695" cy="38100"/>
          </a:xfrm>
          <a:prstGeom prst="rect">
            <a:avLst/>
          </a:prstGeom>
          <a:solidFill>
            <a:srgbClr val="1A53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528816"/>
            <a:ext cx="9601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5F6368"/>
                </a:solidFill>
                <a:latin typeface="Calibri"/>
              </a:rPr>
              <a:t>wattson xcheck · QEMU counts DERIVED, PMU/DDR counts MEASURED · 2026-08-31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6528816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50" b="0">
                <a:solidFill>
                  <a:srgbClr val="5F6368"/>
                </a:solidFill>
                <a:latin typeface="Calibri"/>
              </a:rPr>
              <a:t>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060704"/>
            <a:ext cx="111556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202124"/>
                </a:solidFill>
                <a:latin typeface="Calibri"/>
              </a:rPr>
              <a:t>Identical static aarch64 binaries. Nothing recompiled between the two worlds.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444752"/>
            <a:ext cx="5394960" cy="2240280"/>
          </a:xfrm>
          <a:prstGeom prst="roundRect">
            <a:avLst/>
          </a:prstGeom>
          <a:solidFill>
            <a:srgbClr val="EFF3FA"/>
          </a:solidFill>
          <a:ln w="15240">
            <a:solidFill>
              <a:srgbClr val="1A53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1536192"/>
            <a:ext cx="49377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A53A0"/>
                </a:solidFill>
                <a:latin typeface="Calibri"/>
              </a:rPr>
              <a:t>QEMU  (derived)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1847088"/>
            <a:ext cx="49834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050" b="0">
                <a:solidFill>
                  <a:srgbClr val="202124"/>
                </a:solidFill>
                <a:latin typeface="Calibri"/>
              </a:rPr>
              <a:t>qemu-aarch64 + TCG plugins (libinsn, libcache)</a:t>
            </a:r>
          </a:p>
          <a:p>
            <a:pPr>
              <a:spcAft>
                <a:spcPts val="600"/>
              </a:spcAft>
            </a:pPr>
            <a:r>
              <a:rPr sz="1050">
                <a:solidFill>
                  <a:srgbClr val="202124"/>
                </a:solidFill>
                <a:latin typeface="Calibri"/>
              </a:rPr>
              <a:t>Cache model = the board's own hierarchy, read from its sysfs:</a:t>
            </a:r>
          </a:p>
          <a:p>
            <a:pPr>
              <a:spcAft>
                <a:spcPts val="600"/>
              </a:spcAft>
            </a:pPr>
            <a:r>
              <a:rPr sz="1050">
                <a:solidFill>
                  <a:srgbClr val="202124"/>
                </a:solidFill>
                <a:latin typeface="Calibri"/>
              </a:rPr>
              <a:t>L1 32K/4w · L2 64K/4w · shared L3 512K/16w, 64 B lines</a:t>
            </a:r>
          </a:p>
          <a:p>
            <a:pPr>
              <a:spcAft>
                <a:spcPts val="600"/>
              </a:spcAft>
            </a:pPr>
            <a:r>
              <a:rPr sz="1050">
                <a:solidFill>
                  <a:srgbClr val="202124"/>
                </a:solidFill>
                <a:latin typeface="Calibri"/>
              </a:rPr>
              <a:t>A55 write-streaming, writeback and a stride prefetcher modelled</a:t>
            </a:r>
          </a:p>
          <a:p>
            <a:pPr>
              <a:spcAft>
                <a:spcPts val="600"/>
              </a:spcAft>
            </a:pPr>
            <a:r>
              <a:rPr sz="1050">
                <a:solidFill>
                  <a:srgbClr val="202124"/>
                </a:solidFill>
                <a:latin typeface="Calibri"/>
              </a:rPr>
              <a:t>L3 misses → DRAM-read proxy · evictions → DRAM-write proxy</a:t>
            </a:r>
          </a:p>
          <a:p>
            <a:pPr>
              <a:spcAft>
                <a:spcPts val="600"/>
              </a:spcAft>
            </a:pPr>
            <a:r>
              <a:rPr sz="1050">
                <a:solidFill>
                  <a:srgbClr val="202124"/>
                </a:solidFill>
                <a:latin typeface="Calibri"/>
              </a:rPr>
              <a:t>Two passes per app: prefetch pass for reads, base pass for writes</a:t>
            </a:r>
          </a:p>
          <a:p>
            <a:pPr>
              <a:spcAft>
                <a:spcPts val="600"/>
              </a:spcAft>
            </a:pPr>
            <a:r>
              <a:rPr sz="1050">
                <a:solidFill>
                  <a:srgbClr val="202124"/>
                </a:solidFill>
                <a:latin typeface="Calibri"/>
              </a:rPr>
              <a:t>Counts are per-run and frequency-free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63640" y="1444752"/>
            <a:ext cx="5394960" cy="2240280"/>
          </a:xfrm>
          <a:prstGeom prst="roundRect">
            <a:avLst/>
          </a:prstGeom>
          <a:solidFill>
            <a:srgbClr val="EFF3FA"/>
          </a:solidFill>
          <a:ln w="15240">
            <a:solidFill>
              <a:srgbClr val="1A53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92240" y="1536192"/>
            <a:ext cx="49377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A53A0"/>
                </a:solidFill>
                <a:latin typeface="Calibri"/>
              </a:rPr>
              <a:t>Silicon  (measured)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92240" y="1847088"/>
            <a:ext cx="49834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050" b="0">
                <a:solidFill>
                  <a:srgbClr val="202124"/>
                </a:solidFill>
                <a:latin typeface="Calibri"/>
              </a:rPr>
              <a:t>FRDM-IMX95, perf stat, pinned to A55 core 0</a:t>
            </a:r>
          </a:p>
          <a:p>
            <a:pPr>
              <a:spcAft>
                <a:spcPts val="600"/>
              </a:spcAft>
            </a:pPr>
            <a:r>
              <a:rPr sz="1050">
                <a:solidFill>
                  <a:srgbClr val="202124"/>
                </a:solidFill>
                <a:latin typeface="Calibri"/>
              </a:rPr>
              <a:t>Core PMU: instructions, cycles, L1/L2/L3 refill events</a:t>
            </a:r>
          </a:p>
          <a:p>
            <a:pPr>
              <a:spcAft>
                <a:spcPts val="600"/>
              </a:spcAft>
            </a:pPr>
            <a:r>
              <a:rPr sz="1050">
                <a:solidFill>
                  <a:srgbClr val="202124"/>
                </a:solidFill>
                <a:latin typeface="Calibri"/>
              </a:rPr>
              <a:t>imx9_ddr0 DDR-controller PMU: read/write beats (32 B)</a:t>
            </a:r>
          </a:p>
          <a:p>
            <a:pPr>
              <a:spcAft>
                <a:spcPts val="600"/>
              </a:spcAft>
            </a:pPr>
            <a:r>
              <a:rPr sz="1050">
                <a:solidFill>
                  <a:srgbClr val="202124"/>
                </a:solidFill>
                <a:latin typeface="Calibri"/>
              </a:rPr>
              <a:t>System-wide, with an equal-duration idle window subtracted</a:t>
            </a:r>
          </a:p>
          <a:p>
            <a:pPr>
              <a:spcAft>
                <a:spcPts val="600"/>
              </a:spcAft>
            </a:pPr>
            <a:r>
              <a:rPr sz="1050">
                <a:solidFill>
                  <a:srgbClr val="202124"/>
                </a:solidFill>
                <a:latin typeface="Calibri"/>
              </a:rPr>
              <a:t>The DDR controller sees prefetch traffic the core PMU cannot</a:t>
            </a:r>
          </a:p>
          <a:p>
            <a:pPr>
              <a:spcAft>
                <a:spcPts val="600"/>
              </a:spcAft>
            </a:pPr>
            <a:r>
              <a:rPr sz="1050">
                <a:solidFill>
                  <a:srgbClr val="202124"/>
                </a:solidFill>
                <a:latin typeface="Calibri"/>
              </a:rPr>
              <a:t>Medians of repeated runs, spreads recorded</a:t>
            </a:r>
          </a:p>
          <a:p>
            <a:pPr>
              <a:spcAft>
                <a:spcPts val="600"/>
              </a:spcAft>
            </a:pPr>
            <a:r>
              <a:rPr sz="1050">
                <a:solidFill>
                  <a:srgbClr val="202124"/>
                </a:solidFill>
                <a:latin typeface="Calibri"/>
              </a:rPr>
              <a:t>The same static binary is copied over, never rebuilt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3858768"/>
            <a:ext cx="5394960" cy="226771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4CE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77240" y="3950208"/>
            <a:ext cx="4937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A53A0"/>
                </a:solidFill>
                <a:latin typeface="Calibri"/>
              </a:rPr>
              <a:t>THE 50 APPLICATIONS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4261104"/>
            <a:ext cx="4983480" cy="178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700"/>
              </a:spcAft>
            </a:pPr>
            <a:r>
              <a:rPr sz="1050" b="0">
                <a:solidFill>
                  <a:srgbClr val="202124"/>
                </a:solidFill>
                <a:latin typeface="Calibri"/>
              </a:rPr>
              <a:t>14 development apps — five microbench corners (ALU, streaming,</a:t>
            </a:r>
          </a:p>
          <a:p>
            <a:pPr>
              <a:spcAft>
                <a:spcPts val="700"/>
              </a:spcAft>
            </a:pPr>
            <a:r>
              <a:rPr sz="1050">
                <a:solidFill>
                  <a:srgbClr val="202124"/>
                </a:solidFill>
                <a:latin typeface="Calibri"/>
              </a:rPr>
              <a:t>pointer-chase, matmul, sort) plus stereo vision, two compressors,</a:t>
            </a:r>
          </a:p>
          <a:p>
            <a:pPr>
              <a:spcAft>
                <a:spcPts val="700"/>
              </a:spcAft>
            </a:pPr>
            <a:r>
              <a:rPr sz="1050">
                <a:solidFill>
                  <a:srgbClr val="202124"/>
                </a:solidFill>
                <a:latin typeface="Calibri"/>
              </a:rPr>
              <a:t>an interpreter, SHA-256, a JSON codec, SQLite, a game-AI trainer</a:t>
            </a:r>
          </a:p>
          <a:p>
            <a:pPr>
              <a:spcAft>
                <a:spcPts val="700"/>
              </a:spcAft>
            </a:pPr>
            <a:r>
              <a:rPr sz="1050">
                <a:solidFill>
                  <a:srgbClr val="202124"/>
                </a:solidFill>
                <a:latin typeface="Calibri"/>
              </a:rPr>
              <a:t>and an HTTP client.</a:t>
            </a:r>
          </a:p>
          <a:p>
            <a:pPr>
              <a:spcAft>
                <a:spcPts val="700"/>
              </a:spcAft>
            </a:pPr>
            <a:r>
              <a:rPr sz="1050">
                <a:solidFill>
                  <a:srgbClr val="202124"/>
                </a:solidFill>
                <a:latin typeface="Calibri"/>
              </a:rPr>
              <a:t>36 held-out apps, never seen by the model — busybox applets,</a:t>
            </a:r>
          </a:p>
          <a:p>
            <a:pPr>
              <a:spcAft>
                <a:spcPts val="700"/>
              </a:spcAft>
            </a:pPr>
            <a:r>
              <a:rPr sz="1050">
                <a:solidFill>
                  <a:srgbClr val="202124"/>
                </a:solidFill>
                <a:latin typeface="Calibri"/>
              </a:rPr>
              <a:t>crypto kernels, software renderers, bignum, hashing, parsers, sockets.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63640" y="3858768"/>
            <a:ext cx="5394960" cy="226771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4CE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92240" y="3950208"/>
            <a:ext cx="4937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A53A0"/>
                </a:solidFill>
                <a:latin typeface="Calibri"/>
              </a:rPr>
              <a:t>HOW A RUN IS ACCEPTED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92240" y="4261104"/>
            <a:ext cx="4983480" cy="178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700"/>
              </a:spcAft>
            </a:pPr>
            <a:r>
              <a:rPr sz="1050" b="0">
                <a:solidFill>
                  <a:srgbClr val="202124"/>
                </a:solidFill>
                <a:latin typeface="Calibri"/>
              </a:rPr>
              <a:t>Every app prints a checksum, so dead-code elimination cannot</a:t>
            </a:r>
          </a:p>
          <a:p>
            <a:pPr>
              <a:spcAft>
                <a:spcPts val="700"/>
              </a:spcAft>
            </a:pPr>
            <a:r>
              <a:rPr sz="1050">
                <a:solidFill>
                  <a:srgbClr val="202124"/>
                </a:solidFill>
                <a:latin typeface="Calibri"/>
              </a:rPr>
              <a:t>fake a result by optimising the work away.</a:t>
            </a:r>
          </a:p>
          <a:p>
            <a:pPr>
              <a:spcAft>
                <a:spcPts val="700"/>
              </a:spcAft>
            </a:pPr>
            <a:r>
              <a:rPr sz="1050">
                <a:solidFill>
                  <a:srgbClr val="202124"/>
                </a:solidFill>
                <a:latin typeface="Calibri"/>
              </a:rPr>
              <a:t>The vision app is hash-gated bit-exact against its published golden.</a:t>
            </a:r>
          </a:p>
          <a:p>
            <a:pPr>
              <a:spcAft>
                <a:spcPts val="700"/>
              </a:spcAft>
            </a:pPr>
            <a:r>
              <a:rPr sz="1050">
                <a:solidFill>
                  <a:srgbClr val="202124"/>
                </a:solidFill>
                <a:latin typeface="Calibri"/>
              </a:rPr>
              <a:t>Instruction agreement must pass before any cache-level number</a:t>
            </a:r>
          </a:p>
          <a:p>
            <a:pPr>
              <a:spcAft>
                <a:spcPts val="700"/>
              </a:spcAft>
            </a:pPr>
            <a:r>
              <a:rPr sz="1050">
                <a:solidFill>
                  <a:srgbClr val="202124"/>
                </a:solidFill>
                <a:latin typeface="Calibri"/>
              </a:rPr>
              <a:t>is read — a wrong instruction count invalidates everything downstream.</a:t>
            </a:r>
          </a:p>
          <a:p>
            <a:pPr>
              <a:spcAft>
                <a:spcPts val="700"/>
              </a:spcAft>
            </a:pPr>
            <a:r>
              <a:rPr sz="1050">
                <a:solidFill>
                  <a:srgbClr val="202124"/>
                </a:solidFill>
                <a:latin typeface="Calibri"/>
              </a:rPr>
              <a:t>DDR counts are idle-corrected over an equal-duration window.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2021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18872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Gate 1 — instructions agree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841248"/>
            <a:ext cx="12191695" cy="38100"/>
          </a:xfrm>
          <a:prstGeom prst="rect">
            <a:avLst/>
          </a:prstGeom>
          <a:solidFill>
            <a:srgbClr val="1A53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528816"/>
            <a:ext cx="9601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5F6368"/>
                </a:solidFill>
                <a:latin typeface="Calibri"/>
              </a:rPr>
              <a:t>wattson xcheck · QEMU counts DERIVED, PMU/DDR counts MEASURED · 2026-08-31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6528816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50" b="0">
                <a:solidFill>
                  <a:srgbClr val="5F6368"/>
                </a:solidFill>
                <a:latin typeface="Calibri"/>
              </a:rPr>
              <a:t>10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060704"/>
            <a:ext cx="111556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202124"/>
                </a:solidFill>
                <a:latin typeface="Calibri"/>
              </a:rPr>
              <a:t>Same binary ⇒ same retired instructions. This must pass before any cache-level number is read.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48640" y="1481328"/>
          <a:ext cx="5486400" cy="42793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51560"/>
                <a:gridCol w="2377440"/>
                <a:gridCol w="1417320"/>
                <a:gridCol w="640080"/>
              </a:tblGrid>
              <a:tr h="475488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app</a:t>
                      </a:r>
                    </a:p>
                  </a:txBody>
                  <a:tcPr>
                    <a:solidFill>
                      <a:srgbClr val="20212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workload</a:t>
                      </a:r>
                    </a:p>
                  </a:txBody>
                  <a:tcPr>
                    <a:solidFill>
                      <a:srgbClr val="20212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HW insns</a:t>
                      </a:r>
                    </a:p>
                  </a:txBody>
                  <a:tcPr>
                    <a:solidFill>
                      <a:srgbClr val="20212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ratio</a:t>
                      </a:r>
                    </a:p>
                  </a:txBody>
                  <a:tcPr>
                    <a:solidFill>
                      <a:srgbClr val="202124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r>
                        <a:rPr sz="1050" b="0">
                          <a:latin typeface="Calibri"/>
                        </a:rPr>
                        <a:t>alu</a:t>
                      </a:r>
                    </a:p>
                  </a:txBody>
                  <a:tcPr>
                    <a:solidFill>
                      <a:srgbClr val="EFF3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latin typeface="Calibri"/>
                        </a:rPr>
                        <a:t>integer ALU loop</a:t>
                      </a:r>
                    </a:p>
                  </a:txBody>
                  <a:tcPr>
                    <a:solidFill>
                      <a:srgbClr val="EFF3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latin typeface="Calibri"/>
                        </a:rPr>
                        <a:t>1,201,593,894</a:t>
                      </a:r>
                    </a:p>
                  </a:txBody>
                  <a:tcPr>
                    <a:solidFill>
                      <a:srgbClr val="EFF3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87A33"/>
                          </a:solidFill>
                          <a:latin typeface="Calibri"/>
                        </a:rPr>
                        <a:t>0.999</a:t>
                      </a:r>
                    </a:p>
                  </a:txBody>
                  <a:tcPr>
                    <a:solidFill>
                      <a:srgbClr val="EFF3FA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r>
                        <a:rPr sz="1050" b="0">
                          <a:latin typeface="Calibri"/>
                        </a:rPr>
                        <a:t>bzip2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latin typeface="Calibri"/>
                        </a:rPr>
                        <a:t>bzip2 -9, 4 MiB corpus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latin typeface="Calibri"/>
                        </a:rPr>
                        <a:t>8,497,127,363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87A33"/>
                          </a:solidFill>
                          <a:latin typeface="Calibri"/>
                        </a:rPr>
                        <a:t>0.985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r>
                        <a:rPr sz="1050" b="0">
                          <a:latin typeface="Calibri"/>
                        </a:rPr>
                        <a:t>chase</a:t>
                      </a:r>
                    </a:p>
                  </a:txBody>
                  <a:tcPr>
                    <a:solidFill>
                      <a:srgbClr val="EFF3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latin typeface="Calibri"/>
                        </a:rPr>
                        <a:t>random pointer chase</a:t>
                      </a:r>
                    </a:p>
                  </a:txBody>
                  <a:tcPr>
                    <a:solidFill>
                      <a:srgbClr val="EFF3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latin typeface="Calibri"/>
                        </a:rPr>
                        <a:t>202,456,536</a:t>
                      </a:r>
                    </a:p>
                  </a:txBody>
                  <a:tcPr>
                    <a:solidFill>
                      <a:srgbClr val="EFF3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87A33"/>
                          </a:solidFill>
                          <a:latin typeface="Calibri"/>
                        </a:rPr>
                        <a:t>1.058</a:t>
                      </a:r>
                    </a:p>
                  </a:txBody>
                  <a:tcPr>
                    <a:solidFill>
                      <a:srgbClr val="EFF3FA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r>
                        <a:rPr sz="1050" b="0">
                          <a:latin typeface="Calibri"/>
                        </a:rPr>
                        <a:t>cjson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latin typeface="Calibri"/>
                        </a:rPr>
                        <a:t>cJSON parse+serialize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latin typeface="Calibri"/>
                        </a:rPr>
                        <a:t>1,523,095,346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87A33"/>
                          </a:solidFill>
                          <a:latin typeface="Calibri"/>
                        </a:rPr>
                        <a:t>0.981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r>
                        <a:rPr sz="1050" b="0">
                          <a:latin typeface="Calibri"/>
                        </a:rPr>
                        <a:t>lua</a:t>
                      </a:r>
                    </a:p>
                  </a:txBody>
                  <a:tcPr>
                    <a:solidFill>
                      <a:srgbClr val="EFF3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latin typeface="Calibri"/>
                        </a:rPr>
                        <a:t>Lua 5.4 script</a:t>
                      </a:r>
                    </a:p>
                  </a:txBody>
                  <a:tcPr>
                    <a:solidFill>
                      <a:srgbClr val="EFF3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latin typeface="Calibri"/>
                        </a:rPr>
                        <a:t>1,072,641,534</a:t>
                      </a:r>
                    </a:p>
                  </a:txBody>
                  <a:tcPr>
                    <a:solidFill>
                      <a:srgbClr val="EFF3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87A33"/>
                          </a:solidFill>
                          <a:latin typeface="Calibri"/>
                        </a:rPr>
                        <a:t>0.994</a:t>
                      </a:r>
                    </a:p>
                  </a:txBody>
                  <a:tcPr>
                    <a:solidFill>
                      <a:srgbClr val="EFF3FA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r>
                        <a:rPr sz="1050" b="0">
                          <a:latin typeface="Calibri"/>
                        </a:rPr>
                        <a:t>lz4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latin typeface="Calibri"/>
                        </a:rPr>
                        <a:t>lz4 -9, same corpus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latin typeface="Calibri"/>
                        </a:rPr>
                        <a:t>721,250,952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87A33"/>
                          </a:solidFill>
                          <a:latin typeface="Calibri"/>
                        </a:rPr>
                        <a:t>0.988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r>
                        <a:rPr sz="1050" b="0">
                          <a:latin typeface="Calibri"/>
                        </a:rPr>
                        <a:t>mem</a:t>
                      </a:r>
                    </a:p>
                  </a:txBody>
                  <a:tcPr>
                    <a:solidFill>
                      <a:srgbClr val="EFF3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latin typeface="Calibri"/>
                        </a:rPr>
                        <a:t>streaming write+read sweep</a:t>
                      </a:r>
                    </a:p>
                  </a:txBody>
                  <a:tcPr>
                    <a:solidFill>
                      <a:srgbClr val="EFF3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latin typeface="Calibri"/>
                        </a:rPr>
                        <a:t>547,742,426</a:t>
                      </a:r>
                    </a:p>
                  </a:txBody>
                  <a:tcPr>
                    <a:solidFill>
                      <a:srgbClr val="EFF3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87A33"/>
                          </a:solidFill>
                          <a:latin typeface="Calibri"/>
                        </a:rPr>
                        <a:t>0.980</a:t>
                      </a:r>
                    </a:p>
                  </a:txBody>
                  <a:tcPr>
                    <a:solidFill>
                      <a:srgbClr val="EFF3FA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r>
                        <a:rPr sz="1050" b="0">
                          <a:latin typeface="Calibri"/>
                        </a:rPr>
                        <a:t>mm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latin typeface="Calibri"/>
                        </a:rPr>
                        <a:t>blocked f64 matmul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latin typeface="Calibri"/>
                        </a:rPr>
                        <a:t>1,081,871,120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87A33"/>
                          </a:solidFill>
                          <a:latin typeface="Calibri"/>
                        </a:rPr>
                        <a:t>0.997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263640" y="1481328"/>
          <a:ext cx="5486400" cy="38039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51560"/>
                <a:gridCol w="2377440"/>
                <a:gridCol w="1417320"/>
                <a:gridCol w="640080"/>
              </a:tblGrid>
              <a:tr h="475488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app</a:t>
                      </a:r>
                    </a:p>
                  </a:txBody>
                  <a:tcPr>
                    <a:solidFill>
                      <a:srgbClr val="20212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workload</a:t>
                      </a:r>
                    </a:p>
                  </a:txBody>
                  <a:tcPr>
                    <a:solidFill>
                      <a:srgbClr val="20212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HW insns</a:t>
                      </a:r>
                    </a:p>
                  </a:txBody>
                  <a:tcPr>
                    <a:solidFill>
                      <a:srgbClr val="20212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ratio</a:t>
                      </a:r>
                    </a:p>
                  </a:txBody>
                  <a:tcPr>
                    <a:solidFill>
                      <a:srgbClr val="202124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r>
                        <a:rPr sz="1050" b="0">
                          <a:latin typeface="Calibri"/>
                        </a:rPr>
                        <a:t>net</a:t>
                      </a:r>
                    </a:p>
                  </a:txBody>
                  <a:tcPr>
                    <a:solidFill>
                      <a:srgbClr val="EFF3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latin typeface="Calibri"/>
                        </a:rPr>
                        <a:t>HTTP GET 32 MiB + FNV hash</a:t>
                      </a:r>
                    </a:p>
                  </a:txBody>
                  <a:tcPr>
                    <a:solidFill>
                      <a:srgbClr val="EFF3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latin typeface="Calibri"/>
                        </a:rPr>
                        <a:t>430,719,038</a:t>
                      </a:r>
                    </a:p>
                  </a:txBody>
                  <a:tcPr>
                    <a:solidFill>
                      <a:srgbClr val="EFF3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B06000"/>
                          </a:solidFill>
                          <a:latin typeface="Calibri"/>
                        </a:rPr>
                        <a:t>0.798</a:t>
                      </a:r>
                    </a:p>
                  </a:txBody>
                  <a:tcPr>
                    <a:solidFill>
                      <a:srgbClr val="EFF3FA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r>
                        <a:rPr sz="1050" b="0">
                          <a:latin typeface="Calibri"/>
                        </a:rPr>
                        <a:t>net2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latin typeface="Calibri"/>
                        </a:rPr>
                        <a:t>241,898,307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B06000"/>
                          </a:solidFill>
                          <a:latin typeface="Calibri"/>
                        </a:rPr>
                        <a:t>0.833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r>
                        <a:rPr sz="1050" b="0">
                          <a:latin typeface="Calibri"/>
                        </a:rPr>
                        <a:t>pacman</a:t>
                      </a:r>
                    </a:p>
                  </a:txBody>
                  <a:tcPr>
                    <a:solidFill>
                      <a:srgbClr val="EFF3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latin typeface="Calibri"/>
                        </a:rPr>
                        <a:t>genetic-AI Pac-Man trainer</a:t>
                      </a:r>
                    </a:p>
                  </a:txBody>
                  <a:tcPr>
                    <a:solidFill>
                      <a:srgbClr val="EFF3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latin typeface="Calibri"/>
                        </a:rPr>
                        <a:t>25,711,718,364</a:t>
                      </a:r>
                    </a:p>
                  </a:txBody>
                  <a:tcPr>
                    <a:solidFill>
                      <a:srgbClr val="EFF3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87A33"/>
                          </a:solidFill>
                          <a:latin typeface="Calibri"/>
                        </a:rPr>
                        <a:t>0.999</a:t>
                      </a:r>
                    </a:p>
                  </a:txBody>
                  <a:tcPr>
                    <a:solidFill>
                      <a:srgbClr val="EFF3FA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r>
                        <a:rPr sz="1050" b="0">
                          <a:latin typeface="Calibri"/>
                        </a:rPr>
                        <a:t>sgm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latin typeface="Calibri"/>
                        </a:rPr>
                        <a:t>SGM stereo, real imagery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latin typeface="Calibri"/>
                        </a:rPr>
                        <a:t>10,154,191,781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87A33"/>
                          </a:solidFill>
                          <a:latin typeface="Calibri"/>
                        </a:rPr>
                        <a:t>0.997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r>
                        <a:rPr sz="1050" b="0">
                          <a:latin typeface="Calibri"/>
                        </a:rPr>
                        <a:t>sha256</a:t>
                      </a:r>
                    </a:p>
                  </a:txBody>
                  <a:tcPr>
                    <a:solidFill>
                      <a:srgbClr val="EFF3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latin typeface="Calibri"/>
                        </a:rPr>
                        <a:t>SHA-256, 128 MiB streamed</a:t>
                      </a:r>
                    </a:p>
                  </a:txBody>
                  <a:tcPr>
                    <a:solidFill>
                      <a:srgbClr val="EFF3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latin typeface="Calibri"/>
                        </a:rPr>
                        <a:t>8,453,218,121</a:t>
                      </a:r>
                    </a:p>
                  </a:txBody>
                  <a:tcPr>
                    <a:solidFill>
                      <a:srgbClr val="EFF3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87A33"/>
                          </a:solidFill>
                          <a:latin typeface="Calibri"/>
                        </a:rPr>
                        <a:t>0.999</a:t>
                      </a:r>
                    </a:p>
                  </a:txBody>
                  <a:tcPr>
                    <a:solidFill>
                      <a:srgbClr val="EFF3FA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r>
                        <a:rPr sz="1050" b="0">
                          <a:latin typeface="Calibri"/>
                        </a:rPr>
                        <a:t>sort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latin typeface="Calibri"/>
                        </a:rPr>
                        <a:t>qsort, 1M ints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latin typeface="Calibri"/>
                        </a:rPr>
                        <a:t>1,924,668,159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87A33"/>
                          </a:solidFill>
                          <a:latin typeface="Calibri"/>
                        </a:rPr>
                        <a:t>0.996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r>
                        <a:rPr sz="1050" b="0">
                          <a:latin typeface="Calibri"/>
                        </a:rPr>
                        <a:t>sqlite</a:t>
                      </a:r>
                    </a:p>
                  </a:txBody>
                  <a:tcPr>
                    <a:solidFill>
                      <a:srgbClr val="EFF3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latin typeface="Calibri"/>
                        </a:rPr>
                        <a:t>SQLite, in-memory OLTP mix</a:t>
                      </a:r>
                    </a:p>
                  </a:txBody>
                  <a:tcPr>
                    <a:solidFill>
                      <a:srgbClr val="EFF3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latin typeface="Calibri"/>
                        </a:rPr>
                        <a:t>2,580,290,752</a:t>
                      </a:r>
                    </a:p>
                  </a:txBody>
                  <a:tcPr>
                    <a:solidFill>
                      <a:srgbClr val="EFF3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87A33"/>
                          </a:solidFill>
                          <a:latin typeface="Calibri"/>
                        </a:rPr>
                        <a:t>0.998</a:t>
                      </a:r>
                    </a:p>
                  </a:txBody>
                  <a:tcPr>
                    <a:solidFill>
                      <a:srgbClr val="EFF3FA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548640" y="5806440"/>
            <a:ext cx="11064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202124"/>
                </a:solidFill>
                <a:latin typeface="Calibri"/>
              </a:rPr>
              <a:t>Thirteen of fourteen sit in 0.98 – 1.06. The amber value is itself a measurement: the HTTP client's 0.80 is the ~20% of its instructions the kernel's network stack retires on its behalf — visible in system mode, not in this one.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2021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18872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Gate 2 — DRAM reads vs the DDR controller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841248"/>
            <a:ext cx="12191695" cy="38100"/>
          </a:xfrm>
          <a:prstGeom prst="rect">
            <a:avLst/>
          </a:prstGeom>
          <a:solidFill>
            <a:srgbClr val="1A53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528816"/>
            <a:ext cx="9601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5F6368"/>
                </a:solidFill>
                <a:latin typeface="Calibri"/>
              </a:rPr>
              <a:t>wattson xcheck · QEMU counts DERIVED, PMU/DDR counts MEASURED · 2026-08-31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6528816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50" b="0">
                <a:solidFill>
                  <a:srgbClr val="5F6368"/>
                </a:solidFill>
                <a:latin typeface="Calibri"/>
              </a:rPr>
              <a:t>11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060704"/>
            <a:ext cx="111556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202124"/>
                </a:solidFill>
                <a:latin typeface="Calibri"/>
              </a:rPr>
              <a:t>One point per application above the noise floor. Fit: proxy = 0.98 × silicon, ×/÷ 1.14.</a:t>
            </a:r>
          </a:p>
        </p:txBody>
      </p:sp>
      <p:pic>
        <p:nvPicPr>
          <p:cNvPr id="8" name="Picture 7" descr="scatt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29000" y="1389888"/>
            <a:ext cx="5314278" cy="475488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48640" y="6217920"/>
            <a:ext cx="11064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5F6368"/>
                </a:solidFill>
                <a:latin typeface="Calibri"/>
              </a:rPr>
              <a:t>Under-prediction was systematic and single-signed — the silicon prefetcher fetches lines nothing consumes. Modelling the prefetcher moved the fit from 0.81 to 0.98.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2021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18872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The 50-application held-out validation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841248"/>
            <a:ext cx="12191695" cy="38100"/>
          </a:xfrm>
          <a:prstGeom prst="rect">
            <a:avLst/>
          </a:prstGeom>
          <a:solidFill>
            <a:srgbClr val="1A53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528816"/>
            <a:ext cx="9601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5F6368"/>
                </a:solidFill>
                <a:latin typeface="Calibri"/>
              </a:rPr>
              <a:t>wattson xcheck · QEMU counts DERIVED, PMU/DDR counts MEASURED · 2026-08-31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6528816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50" b="0">
                <a:solidFill>
                  <a:srgbClr val="5F6368"/>
                </a:solidFill>
                <a:latin typeface="Calibri"/>
              </a:rPr>
              <a:t>12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060704"/>
            <a:ext cx="111556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202124"/>
                </a:solidFill>
                <a:latin typeface="Calibri"/>
              </a:rPr>
              <a:t>Red = the 14 apps the corrections were fitted on. Blue = 36 applications measured cold.</a:t>
            </a:r>
          </a:p>
        </p:txBody>
      </p:sp>
      <p:pic>
        <p:nvPicPr>
          <p:cNvPr id="8" name="Picture 7" descr="scatter5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17320" y="1463040"/>
            <a:ext cx="9326880" cy="4304714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48640" y="5989320"/>
            <a:ext cx="11064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>
                <a:solidFill>
                  <a:srgbClr val="202124"/>
                </a:solidFill>
                <a:latin typeface="Calibri"/>
              </a:rPr>
              <a:t>Held-out instructions 0.979 ×/÷1.04 (n=37) · reads 0.91 ×/÷1.21, the SAME spread as the fitted set · writes 0.83 ×/÷1.28 · every DRAM-quiet app correctly classified.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2021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18872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Every outlier resolved to a mechanism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841248"/>
            <a:ext cx="12191695" cy="38100"/>
          </a:xfrm>
          <a:prstGeom prst="rect">
            <a:avLst/>
          </a:prstGeom>
          <a:solidFill>
            <a:srgbClr val="1A53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528816"/>
            <a:ext cx="9601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5F6368"/>
                </a:solidFill>
                <a:latin typeface="Calibri"/>
              </a:rPr>
              <a:t>wattson xcheck · QEMU counts DERIVED, PMU/DDR counts MEASURED · 2026-08-31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6528816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50" b="0">
                <a:solidFill>
                  <a:srgbClr val="5F6368"/>
                </a:solidFill>
                <a:latin typeface="Calibri"/>
              </a:rPr>
              <a:t>13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060704"/>
            <a:ext cx="111556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202124"/>
                </a:solidFill>
                <a:latin typeface="Calibri"/>
              </a:rPr>
              <a:t>The band tightened from ×/÷2.4 to ×/÷1.14. Each fix was falsifiable and predicted its own after-number.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48640" y="1463040"/>
          <a:ext cx="11064240" cy="453542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3120"/>
                <a:gridCol w="4023360"/>
                <a:gridCol w="3108960"/>
                <a:gridCol w="1828800"/>
              </a:tblGrid>
              <a:tr h="566928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observation</a:t>
                      </a:r>
                    </a:p>
                  </a:txBody>
                  <a:tcPr>
                    <a:solidFill>
                      <a:srgbClr val="20212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mechanism</a:t>
                      </a:r>
                    </a:p>
                  </a:txBody>
                  <a:tcPr>
                    <a:solidFill>
                      <a:srgbClr val="20212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fix</a:t>
                      </a:r>
                    </a:p>
                  </a:txBody>
                  <a:tcPr>
                    <a:solidFill>
                      <a:srgbClr val="20212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after</a:t>
                      </a:r>
                    </a:p>
                  </a:txBody>
                  <a:tcPr>
                    <a:solidFill>
                      <a:srgbClr val="202124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r>
                        <a:rPr sz="1100" b="1">
                          <a:latin typeface="Calibri"/>
                        </a:rPr>
                        <a:t>mm reads 0.44</a:t>
                      </a:r>
                    </a:p>
                  </a:txBody>
                  <a:tcPr>
                    <a:solidFill>
                      <a:srgbClr val="EFF3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latin typeface="Calibri"/>
                        </a:rPr>
                        <a:t>plugin cache ≫ real 64 KiB L2</a:t>
                      </a:r>
                    </a:p>
                  </a:txBody>
                  <a:tcPr>
                    <a:solidFill>
                      <a:srgbClr val="EFF3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latin typeface="Calibri"/>
                        </a:rPr>
                        <a:t>model the sysfs hierarchy</a:t>
                      </a:r>
                    </a:p>
                  </a:txBody>
                  <a:tcPr>
                    <a:solidFill>
                      <a:srgbClr val="EFF3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latin typeface="Calibri"/>
                        </a:rPr>
                        <a:t>0.65</a:t>
                      </a:r>
                    </a:p>
                  </a:txBody>
                  <a:tcPr>
                    <a:solidFill>
                      <a:srgbClr val="EFF3FA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r>
                        <a:rPr sz="1100" b="1">
                          <a:latin typeface="Calibri"/>
                        </a:rPr>
                        <a:t>mem reads 1.97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latin typeface="Calibri"/>
                        </a:rPr>
                        <a:t>A55 write-streaming: no-allocate store bursts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latin typeface="Calibri"/>
                        </a:rPr>
                        <a:t>streak detector, ≥4 lines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latin typeface="Calibri"/>
                        </a:rPr>
                        <a:t>0.98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r>
                        <a:rPr sz="1100" b="1">
                          <a:latin typeface="Calibri"/>
                        </a:rPr>
                        <a:t>sha256 'reads 15×'</a:t>
                      </a:r>
                    </a:p>
                  </a:txBody>
                  <a:tcPr>
                    <a:solidFill>
                      <a:srgbClr val="EFF3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latin typeface="Calibri"/>
                        </a:rPr>
                        <a:t>PMU counts demand refills only</a:t>
                      </a:r>
                    </a:p>
                  </a:txBody>
                  <a:tcPr>
                    <a:solidFill>
                      <a:srgbClr val="EFF3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latin typeface="Calibri"/>
                        </a:rPr>
                        <a:t>ground-truth at the DDR controller</a:t>
                      </a:r>
                    </a:p>
                  </a:txBody>
                  <a:tcPr>
                    <a:solidFill>
                      <a:srgbClr val="EFF3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latin typeface="Calibri"/>
                        </a:rPr>
                        <a:t>0.77</a:t>
                      </a:r>
                    </a:p>
                  </a:txBody>
                  <a:tcPr>
                    <a:solidFill>
                      <a:srgbClr val="EFF3FA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r>
                        <a:rPr sz="1100" b="1">
                          <a:latin typeface="Calibri"/>
                        </a:rPr>
                        <a:t>4 apps read ~0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latin typeface="Calibri"/>
                        </a:rPr>
                        <a:t>below the DDR counter's noise floor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latin typeface="Calibri"/>
                        </a:rPr>
                        <a:t>classify, don't fit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latin typeface="Calibri"/>
                        </a:rPr>
                        <a:t>predicted quiet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r>
                        <a:rPr sz="1100" b="1">
                          <a:latin typeface="Calibri"/>
                        </a:rPr>
                        <a:t>writes 0.02–0.09</a:t>
                      </a:r>
                    </a:p>
                  </a:txBody>
                  <a:tcPr>
                    <a:solidFill>
                      <a:srgbClr val="EFF3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latin typeface="Calibri"/>
                        </a:rPr>
                        <a:t>scattered stores exit as dirty EVICTIONS</a:t>
                      </a:r>
                    </a:p>
                  </a:txBody>
                  <a:tcPr>
                    <a:solidFill>
                      <a:srgbClr val="EFF3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latin typeface="Calibri"/>
                        </a:rPr>
                        <a:t>dirty-line set + eviction counting</a:t>
                      </a:r>
                    </a:p>
                  </a:txBody>
                  <a:tcPr>
                    <a:solidFill>
                      <a:srgbClr val="EFF3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latin typeface="Calibri"/>
                        </a:rPr>
                        <a:t>0.90 ×/÷1.09</a:t>
                      </a:r>
                    </a:p>
                  </a:txBody>
                  <a:tcPr>
                    <a:solidFill>
                      <a:srgbClr val="EFF3FA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r>
                        <a:rPr sz="1100" b="1">
                          <a:latin typeface="Calibri"/>
                        </a:rPr>
                        <a:t>sgm-mt insns 1.23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latin typeface="Calibri"/>
                        </a:rPr>
                        <a:t>OpenMP barrier spin, not work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latin typeface="Calibri"/>
                        </a:rPr>
                        <a:t>OMP_WAIT_POLICY=passive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latin typeface="Calibri"/>
                        </a:rPr>
                        <a:t>0.985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r>
                        <a:rPr sz="1100" b="1">
                          <a:latin typeface="Calibri"/>
                        </a:rPr>
                        <a:t>reads 0.49–0.77</a:t>
                      </a:r>
                    </a:p>
                  </a:txBody>
                  <a:tcPr>
                    <a:solidFill>
                      <a:srgbClr val="EFF3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latin typeface="Calibri"/>
                        </a:rPr>
                        <a:t>silicon prefetcher traffic never issued</a:t>
                      </a:r>
                    </a:p>
                  </a:txBody>
                  <a:tcPr>
                    <a:solidFill>
                      <a:srgbClr val="EFF3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latin typeface="Calibri"/>
                        </a:rPr>
                        <a:t>8-stream table, miss-trained, ramped</a:t>
                      </a:r>
                    </a:p>
                  </a:txBody>
                  <a:tcPr>
                    <a:solidFill>
                      <a:srgbClr val="EFF3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latin typeface="Calibri"/>
                        </a:rPr>
                        <a:t>0.98 ×/÷1.14</a:t>
                      </a:r>
                    </a:p>
                  </a:txBody>
                  <a:tcPr>
                    <a:solidFill>
                      <a:srgbClr val="EFF3FA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548640" y="5897880"/>
            <a:ext cx="11064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202124"/>
                </a:solidFill>
                <a:latin typeface="Calibri"/>
              </a:rPr>
              <a:t>Five further hypotheses were falsified and recorded rather than quietly dropped. Mechanism-first iteration converges; fudge-factor iteration does not.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2021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18872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What is closed, what is open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841248"/>
            <a:ext cx="12191695" cy="38100"/>
          </a:xfrm>
          <a:prstGeom prst="rect">
            <a:avLst/>
          </a:prstGeom>
          <a:solidFill>
            <a:srgbClr val="1A53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528816"/>
            <a:ext cx="9601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5F6368"/>
                </a:solidFill>
                <a:latin typeface="Calibri"/>
              </a:rPr>
              <a:t>wattson xcheck · QEMU counts DERIVED, PMU/DDR counts MEASURED · 2026-08-31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6528816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50" b="0">
                <a:solidFill>
                  <a:srgbClr val="5F6368"/>
                </a:solidFill>
                <a:latin typeface="Calibri"/>
              </a:rPr>
              <a:t>14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09728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87A33"/>
                </a:solidFill>
                <a:latin typeface="Calibri"/>
              </a:rPr>
              <a:t>CLOSED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48640" y="1389888"/>
          <a:ext cx="5486400" cy="3017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37360"/>
                <a:gridCol w="1737360"/>
                <a:gridCol w="2011680"/>
              </a:tblGrid>
              <a:tr h="603504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gap</a:t>
                      </a:r>
                    </a:p>
                  </a:txBody>
                  <a:tcPr>
                    <a:solidFill>
                      <a:srgbClr val="20212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result</a:t>
                      </a:r>
                    </a:p>
                  </a:txBody>
                  <a:tcPr>
                    <a:solidFill>
                      <a:srgbClr val="20212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how</a:t>
                      </a:r>
                    </a:p>
                  </a:txBody>
                  <a:tcPr>
                    <a:solidFill>
                      <a:srgbClr val="202124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r>
                        <a:rPr sz="1100" b="1">
                          <a:latin typeface="Calibri"/>
                        </a:rPr>
                        <a:t>Writes</a:t>
                      </a:r>
                    </a:p>
                  </a:txBody>
                  <a:tcPr>
                    <a:solidFill>
                      <a:srgbClr val="EFF3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latin typeface="Calibri"/>
                        </a:rPr>
                        <a:t>0.02 → 0.90</a:t>
                      </a:r>
                    </a:p>
                  </a:txBody>
                  <a:tcPr>
                    <a:solidFill>
                      <a:srgbClr val="EFF3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latin typeface="Calibri"/>
                        </a:rPr>
                        <a:t>writeback model</a:t>
                      </a:r>
                    </a:p>
                  </a:txBody>
                  <a:tcPr>
                    <a:solidFill>
                      <a:srgbClr val="EFF3FA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r>
                        <a:rPr sz="1100" b="1">
                          <a:latin typeface="Calibri"/>
                        </a:rPr>
                        <a:t>Kernel share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latin typeface="Calibri"/>
                        </a:rPr>
                        <a:t>MEASURED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latin typeface="Calibri"/>
                        </a:rPr>
                        <a:t>system-mode boot-differential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r>
                        <a:rPr sz="1100" b="1">
                          <a:latin typeface="Calibri"/>
                        </a:rPr>
                        <a:t>Multi-core</a:t>
                      </a:r>
                    </a:p>
                  </a:txBody>
                  <a:tcPr>
                    <a:solidFill>
                      <a:srgbClr val="EFF3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latin typeface="Calibri"/>
                        </a:rPr>
                        <a:t>thread-invariant</a:t>
                      </a:r>
                    </a:p>
                  </a:txBody>
                  <a:tcPr>
                    <a:solidFill>
                      <a:srgbClr val="EFF3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latin typeface="Calibri"/>
                        </a:rPr>
                        <a:t>13-point sweep, spin-wait proven</a:t>
                      </a:r>
                    </a:p>
                  </a:txBody>
                  <a:tcPr>
                    <a:solidFill>
                      <a:srgbClr val="EFF3FA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r>
                        <a:rPr sz="1100" b="1">
                          <a:latin typeface="Calibri"/>
                        </a:rPr>
                        <a:t>Reads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latin typeface="Calibri"/>
                        </a:rPr>
                        <a:t>0.81 → 0.98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latin typeface="Calibri"/>
                        </a:rPr>
                        <a:t>stride prefetcher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6309360" y="1097280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B06000"/>
                </a:solidFill>
                <a:latin typeface="Calibri"/>
              </a:rPr>
              <a:t>OPEN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6309360" y="1389888"/>
          <a:ext cx="5303520" cy="3017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3120"/>
                <a:gridCol w="3200400"/>
              </a:tblGrid>
              <a:tr h="603504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item</a:t>
                      </a:r>
                    </a:p>
                  </a:txBody>
                  <a:tcPr>
                    <a:solidFill>
                      <a:srgbClr val="20212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path</a:t>
                      </a:r>
                    </a:p>
                  </a:txBody>
                  <a:tcPr>
                    <a:solidFill>
                      <a:srgbClr val="202124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r>
                        <a:rPr sz="1100" b="1">
                          <a:latin typeface="Calibri"/>
                        </a:rPr>
                        <a:t>Energy coefficients</a:t>
                      </a:r>
                    </a:p>
                  </a:txBody>
                  <a:tcPr>
                    <a:solidFill>
                      <a:srgbClr val="EFF3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latin typeface="Calibri"/>
                        </a:rPr>
                        <a:t>yours — needs instrumented rails</a:t>
                      </a:r>
                    </a:p>
                  </a:txBody>
                  <a:tcPr>
                    <a:solidFill>
                      <a:srgbClr val="EFF3FA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r>
                        <a:rPr sz="1100" b="1">
                          <a:latin typeface="Calibri"/>
                        </a:rPr>
                        <a:t>NPU activity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latin typeface="Calibri"/>
                        </a:rPr>
                        <a:t>Neutron model in build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r>
                        <a:rPr sz="1100" b="1">
                          <a:latin typeface="Calibri"/>
                        </a:rPr>
                        <a:t>GPU activity</a:t>
                      </a:r>
                    </a:p>
                  </a:txBody>
                  <a:tcPr>
                    <a:solidFill>
                      <a:srgbClr val="EFF3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latin typeface="Calibri"/>
                        </a:rPr>
                        <a:t>GLES command-stream scope — next investigation</a:t>
                      </a:r>
                    </a:p>
                  </a:txBody>
                  <a:tcPr>
                    <a:solidFill>
                      <a:srgbClr val="EFF3FA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r>
                        <a:rPr sz="1100" b="1">
                          <a:latin typeface="Calibri"/>
                        </a:rPr>
                        <a:t>DMA payload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latin typeface="Calibri"/>
                        </a:rPr>
                        <a:t>count it in the device model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548640" y="4553712"/>
            <a:ext cx="110642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A53A0"/>
                </a:solidFill>
                <a:latin typeface="Calibri"/>
              </a:rPr>
              <a:t>REPRODUCIBILITY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4846320"/>
            <a:ext cx="11064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02124"/>
                </a:solidFill>
                <a:latin typeface="Calibri"/>
              </a:rPr>
              <a:t>One command per side: run-qemu.sh, run-perf.sh, run-ddr.sh. All 50 measurement vectors are committed. This deck regenerates from those vectors — no number in it is typed by hand. The QEMU cache-plugin patch ships in the repo.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5669280"/>
            <a:ext cx="110642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A53A0"/>
                </a:solidFill>
                <a:latin typeface="Calibri"/>
              </a:rPr>
              <a:t>SCOPE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5961888"/>
            <a:ext cx="11064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02124"/>
                </a:solidFill>
                <a:latin typeface="Calibri"/>
              </a:rPr>
              <a:t>These are ACTIVITY correlations. wattson never emits watts: it supplies N, you supply eᵢ, and E = Σ eᵢ×Nᵢ stays your calculation.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